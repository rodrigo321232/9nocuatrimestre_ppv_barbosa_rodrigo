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Poppins Ultra-Bold Italics" charset="1" panose="00000900000000000000"/>
      <p:regular r:id="rId20"/>
    </p:embeddedFont>
    <p:embeddedFont>
      <p:font typeface="Poppins Bold" charset="1" panose="00000800000000000000"/>
      <p:regular r:id="rId21"/>
    </p:embeddedFont>
    <p:embeddedFont>
      <p:font typeface="Poppins" charset="1" panose="00000500000000000000"/>
      <p:regular r:id="rId22"/>
    </p:embeddedFont>
    <p:embeddedFont>
      <p:font typeface="Neue Montreal Medium" charset="1" panose="00000400000000000000"/>
      <p:regular r:id="rId23"/>
    </p:embeddedFont>
    <p:embeddedFont>
      <p:font typeface="Neue Montreal Bold" charset="1" panose="00000400000000000000"/>
      <p:regular r:id="rId24"/>
    </p:embeddedFont>
    <p:embeddedFont>
      <p:font typeface="Neue Montreal" charset="1" panose="00000400000000000000"/>
      <p:regular r:id="rId25"/>
    </p:embeddedFont>
    <p:embeddedFont>
      <p:font typeface="Lato Bold" charset="1" panose="020F0502020204030203"/>
      <p:regular r:id="rId26"/>
    </p:embeddedFont>
    <p:embeddedFont>
      <p:font typeface="Lato" charset="1" panose="020F0502020204030203"/>
      <p:regular r:id="rId27"/>
    </p:embeddedFont>
    <p:embeddedFont>
      <p:font typeface="Inter Bold" charset="1" panose="02000503000000020004"/>
      <p:regular r:id="rId28"/>
    </p:embeddedFont>
    <p:embeddedFont>
      <p:font typeface="Inter" charset="1" panose="02000503000000020004"/>
      <p:regular r:id="rId29"/>
    </p:embeddedFont>
    <p:embeddedFont>
      <p:font typeface="Inter Bold Italics" charset="1" panose="02000503000000020004"/>
      <p:regular r:id="rId30"/>
    </p:embeddedFont>
    <p:embeddedFont>
      <p:font typeface="Inter Italics" charset="1" panose="020005030000000200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 Id="rId9"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svg" Type="http://schemas.openxmlformats.org/officeDocument/2006/relationships/image"/><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30.png" Type="http://schemas.openxmlformats.org/officeDocument/2006/relationships/image"/><Relationship Id="rId9" Target="../embeddings/oleObject1.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 Id="rId4" Target="../embeddings/oleObject2.bin" Type="http://schemas.openxmlformats.org/officeDocument/2006/relationships/oleObjec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4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278617" y="-797467"/>
            <a:ext cx="20642765" cy="11433816"/>
            <a:chOff x="0" y="0"/>
            <a:chExt cx="1100580" cy="609600"/>
          </a:xfrm>
        </p:grpSpPr>
        <p:sp>
          <p:nvSpPr>
            <p:cNvPr name="Freeform 3" id="3"/>
            <p:cNvSpPr/>
            <p:nvPr/>
          </p:nvSpPr>
          <p:spPr>
            <a:xfrm flipH="false" flipV="false" rot="0">
              <a:off x="0" y="0"/>
              <a:ext cx="1100580" cy="609600"/>
            </a:xfrm>
            <a:custGeom>
              <a:avLst/>
              <a:gdLst/>
              <a:ahLst/>
              <a:cxnLst/>
              <a:rect r="r" b="b" t="t" l="l"/>
              <a:pathLst>
                <a:path h="609600" w="1100580">
                  <a:moveTo>
                    <a:pt x="203200" y="0"/>
                  </a:moveTo>
                  <a:lnTo>
                    <a:pt x="1100580" y="0"/>
                  </a:lnTo>
                  <a:lnTo>
                    <a:pt x="897380" y="609600"/>
                  </a:lnTo>
                  <a:lnTo>
                    <a:pt x="0" y="609600"/>
                  </a:lnTo>
                  <a:lnTo>
                    <a:pt x="203200" y="0"/>
                  </a:lnTo>
                  <a:close/>
                </a:path>
              </a:pathLst>
            </a:custGeom>
            <a:gradFill rotWithShape="true">
              <a:gsLst>
                <a:gs pos="0">
                  <a:srgbClr val="324D9C">
                    <a:alpha val="100000"/>
                  </a:srgbClr>
                </a:gs>
                <a:gs pos="100000">
                  <a:srgbClr val="102564">
                    <a:alpha val="100000"/>
                  </a:srgbClr>
                </a:gs>
              </a:gsLst>
              <a:lin ang="2700000"/>
            </a:gradFill>
          </p:spPr>
        </p:sp>
        <p:sp>
          <p:nvSpPr>
            <p:cNvPr name="TextBox 4" id="4"/>
            <p:cNvSpPr txBox="true"/>
            <p:nvPr/>
          </p:nvSpPr>
          <p:spPr>
            <a:xfrm>
              <a:off x="101600" y="-57150"/>
              <a:ext cx="897380" cy="66675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3905133" y="-1374003"/>
            <a:ext cx="3859044" cy="5788567"/>
            <a:chOff x="0" y="0"/>
            <a:chExt cx="406400" cy="609600"/>
          </a:xfrm>
        </p:grpSpPr>
        <p:sp>
          <p:nvSpPr>
            <p:cNvPr name="Freeform 6" id="6"/>
            <p:cNvSpPr/>
            <p:nvPr/>
          </p:nvSpPr>
          <p:spPr>
            <a:xfrm flipH="false" flipV="false" rot="0">
              <a:off x="0" y="0"/>
              <a:ext cx="406400" cy="609600"/>
            </a:xfrm>
            <a:custGeom>
              <a:avLst/>
              <a:gdLst/>
              <a:ahLst/>
              <a:cxnLst/>
              <a:rect r="r" b="b" t="t" l="l"/>
              <a:pathLst>
                <a:path h="609600" w="406400">
                  <a:moveTo>
                    <a:pt x="203200" y="0"/>
                  </a:moveTo>
                  <a:lnTo>
                    <a:pt x="406400" y="0"/>
                  </a:lnTo>
                  <a:lnTo>
                    <a:pt x="203200" y="609600"/>
                  </a:lnTo>
                  <a:lnTo>
                    <a:pt x="0" y="609600"/>
                  </a:lnTo>
                  <a:lnTo>
                    <a:pt x="203200" y="0"/>
                  </a:lnTo>
                  <a:close/>
                </a:path>
              </a:pathLst>
            </a:custGeom>
            <a:gradFill rotWithShape="true">
              <a:gsLst>
                <a:gs pos="0">
                  <a:srgbClr val="324D9C">
                    <a:alpha val="100000"/>
                  </a:srgbClr>
                </a:gs>
                <a:gs pos="100000">
                  <a:srgbClr val="102564">
                    <a:alpha val="100000"/>
                  </a:srgbClr>
                </a:gs>
              </a:gsLst>
              <a:lin ang="2700000"/>
            </a:gradFill>
          </p:spPr>
        </p:sp>
        <p:sp>
          <p:nvSpPr>
            <p:cNvPr name="TextBox 7" id="7"/>
            <p:cNvSpPr txBox="true"/>
            <p:nvPr/>
          </p:nvSpPr>
          <p:spPr>
            <a:xfrm>
              <a:off x="101600" y="-57150"/>
              <a:ext cx="203200" cy="66675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028700" y="1104900"/>
            <a:ext cx="9289179" cy="2861420"/>
          </a:xfrm>
          <a:prstGeom prst="rect">
            <a:avLst/>
          </a:prstGeom>
        </p:spPr>
        <p:txBody>
          <a:bodyPr anchor="t" rtlCol="false" tIns="0" lIns="0" bIns="0" rIns="0">
            <a:spAutoFit/>
          </a:bodyPr>
          <a:lstStyle/>
          <a:p>
            <a:pPr algn="l">
              <a:lnSpc>
                <a:spcPts val="7216"/>
              </a:lnSpc>
            </a:pPr>
            <a:r>
              <a:rPr lang="en-US" b="true" sz="7289" i="true">
                <a:solidFill>
                  <a:srgbClr val="F5F5F5"/>
                </a:solidFill>
                <a:latin typeface="Poppins Ultra-Bold Italics"/>
                <a:ea typeface="Poppins Ultra-Bold Italics"/>
                <a:cs typeface="Poppins Ultra-Bold Italics"/>
                <a:sym typeface="Poppins Ultra-Bold Italics"/>
              </a:rPr>
              <a:t>SISTEMA DE INVENTARIO ESCOLAR CBTA 15</a:t>
            </a:r>
          </a:p>
        </p:txBody>
      </p:sp>
      <p:sp>
        <p:nvSpPr>
          <p:cNvPr name="TextBox 9" id="9"/>
          <p:cNvSpPr txBox="true"/>
          <p:nvPr/>
        </p:nvSpPr>
        <p:spPr>
          <a:xfrm rot="0">
            <a:off x="469329" y="4983393"/>
            <a:ext cx="7760801" cy="5315430"/>
          </a:xfrm>
          <a:prstGeom prst="rect">
            <a:avLst/>
          </a:prstGeom>
        </p:spPr>
        <p:txBody>
          <a:bodyPr anchor="t" rtlCol="false" tIns="0" lIns="0" bIns="0" rIns="0">
            <a:spAutoFit/>
          </a:bodyPr>
          <a:lstStyle/>
          <a:p>
            <a:pPr algn="just">
              <a:lnSpc>
                <a:spcPts val="3941"/>
              </a:lnSpc>
            </a:pPr>
            <a:r>
              <a:rPr lang="en-US" sz="2815" b="true">
                <a:solidFill>
                  <a:srgbClr val="FFFFFF"/>
                </a:solidFill>
                <a:latin typeface="Poppins Bold"/>
                <a:ea typeface="Poppins Bold"/>
                <a:cs typeface="Poppins Bold"/>
                <a:sym typeface="Poppins Bold"/>
              </a:rPr>
              <a:t>Docente: </a:t>
            </a:r>
          </a:p>
          <a:p>
            <a:pPr algn="just">
              <a:lnSpc>
                <a:spcPts val="3941"/>
              </a:lnSpc>
            </a:pPr>
            <a:r>
              <a:rPr lang="en-US" sz="2815">
                <a:solidFill>
                  <a:srgbClr val="FFFFFF"/>
                </a:solidFill>
                <a:latin typeface="Poppins"/>
                <a:ea typeface="Poppins"/>
                <a:cs typeface="Poppins"/>
                <a:sym typeface="Poppins"/>
              </a:rPr>
              <a:t>Mario Alonso Segovia Gutiérrez</a:t>
            </a:r>
          </a:p>
          <a:p>
            <a:pPr algn="just">
              <a:lnSpc>
                <a:spcPts val="3941"/>
              </a:lnSpc>
            </a:pPr>
            <a:r>
              <a:rPr lang="en-US" sz="2815" b="true">
                <a:solidFill>
                  <a:srgbClr val="FFFFFF"/>
                </a:solidFill>
                <a:latin typeface="Poppins Bold"/>
                <a:ea typeface="Poppins Bold"/>
                <a:cs typeface="Poppins Bold"/>
                <a:sym typeface="Poppins Bold"/>
              </a:rPr>
              <a:t>Materia:</a:t>
            </a:r>
          </a:p>
          <a:p>
            <a:pPr algn="just">
              <a:lnSpc>
                <a:spcPts val="3941"/>
              </a:lnSpc>
            </a:pPr>
            <a:r>
              <a:rPr lang="en-US" sz="2815">
                <a:solidFill>
                  <a:srgbClr val="FFFFFF"/>
                </a:solidFill>
                <a:latin typeface="Poppins"/>
                <a:ea typeface="Poppins"/>
                <a:cs typeface="Poppins"/>
                <a:sym typeface="Poppins"/>
              </a:rPr>
              <a:t>Proyecto de una Plataforma Virtual</a:t>
            </a:r>
          </a:p>
          <a:p>
            <a:pPr algn="just">
              <a:lnSpc>
                <a:spcPts val="3941"/>
              </a:lnSpc>
            </a:pPr>
            <a:r>
              <a:rPr lang="en-US" sz="2815" b="true">
                <a:solidFill>
                  <a:srgbClr val="FFFFFF"/>
                </a:solidFill>
                <a:latin typeface="Poppins Bold"/>
                <a:ea typeface="Poppins Bold"/>
                <a:cs typeface="Poppins Bold"/>
                <a:sym typeface="Poppins Bold"/>
              </a:rPr>
              <a:t>Alumno(s):</a:t>
            </a:r>
          </a:p>
          <a:p>
            <a:pPr algn="just">
              <a:lnSpc>
                <a:spcPts val="3941"/>
              </a:lnSpc>
            </a:pPr>
            <a:r>
              <a:rPr lang="en-US" sz="2815">
                <a:solidFill>
                  <a:srgbClr val="FFFFFF"/>
                </a:solidFill>
                <a:latin typeface="Poppins"/>
                <a:ea typeface="Poppins"/>
                <a:cs typeface="Poppins"/>
                <a:sym typeface="Poppins"/>
              </a:rPr>
              <a:t>Inurreta Brito Gustavo Enrique</a:t>
            </a:r>
          </a:p>
          <a:p>
            <a:pPr algn="just">
              <a:lnSpc>
                <a:spcPts val="3941"/>
              </a:lnSpc>
            </a:pPr>
            <a:r>
              <a:rPr lang="en-US" sz="2815">
                <a:solidFill>
                  <a:srgbClr val="FFFFFF"/>
                </a:solidFill>
                <a:latin typeface="Poppins"/>
                <a:ea typeface="Poppins"/>
                <a:cs typeface="Poppins"/>
                <a:sym typeface="Poppins"/>
              </a:rPr>
              <a:t>Carlos Alberto Castillo pinzon</a:t>
            </a:r>
          </a:p>
          <a:p>
            <a:pPr algn="just">
              <a:lnSpc>
                <a:spcPts val="3941"/>
              </a:lnSpc>
            </a:pPr>
            <a:r>
              <a:rPr lang="en-US" sz="2815">
                <a:solidFill>
                  <a:srgbClr val="FFFFFF"/>
                </a:solidFill>
                <a:latin typeface="Poppins"/>
                <a:ea typeface="Poppins"/>
                <a:cs typeface="Poppins"/>
                <a:sym typeface="Poppins"/>
              </a:rPr>
              <a:t>Rodrigo Alegandro Barbosa Vidal</a:t>
            </a:r>
          </a:p>
          <a:p>
            <a:pPr algn="just">
              <a:lnSpc>
                <a:spcPts val="3941"/>
              </a:lnSpc>
            </a:pPr>
            <a:r>
              <a:rPr lang="en-US" sz="2815">
                <a:solidFill>
                  <a:srgbClr val="FFFFFF"/>
                </a:solidFill>
                <a:latin typeface="Poppins"/>
                <a:ea typeface="Poppins"/>
                <a:cs typeface="Poppins"/>
                <a:sym typeface="Poppins"/>
              </a:rPr>
              <a:t>Michael Roman Alavez Colli</a:t>
            </a:r>
          </a:p>
          <a:p>
            <a:pPr algn="just">
              <a:lnSpc>
                <a:spcPts val="3305"/>
              </a:lnSpc>
            </a:pPr>
          </a:p>
          <a:p>
            <a:pPr algn="just">
              <a:lnSpc>
                <a:spcPts val="3305"/>
              </a:lnSpc>
            </a:pPr>
          </a:p>
        </p:txBody>
      </p:sp>
      <p:sp>
        <p:nvSpPr>
          <p:cNvPr name="Freeform 10" id="10"/>
          <p:cNvSpPr/>
          <p:nvPr/>
        </p:nvSpPr>
        <p:spPr>
          <a:xfrm flipH="false" flipV="false" rot="0">
            <a:off x="13982899" y="4919441"/>
            <a:ext cx="4762500" cy="4762500"/>
          </a:xfrm>
          <a:custGeom>
            <a:avLst/>
            <a:gdLst/>
            <a:ahLst/>
            <a:cxnLst/>
            <a:rect r="r" b="b" t="t" l="l"/>
            <a:pathLst>
              <a:path h="4762500" w="4762500">
                <a:moveTo>
                  <a:pt x="0" y="0"/>
                </a:moveTo>
                <a:lnTo>
                  <a:pt x="4762500" y="0"/>
                </a:lnTo>
                <a:lnTo>
                  <a:pt x="4762500" y="4762500"/>
                </a:lnTo>
                <a:lnTo>
                  <a:pt x="0" y="4762500"/>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grpSp>
        <p:nvGrpSpPr>
          <p:cNvPr name="Group 2" id="2"/>
          <p:cNvGrpSpPr/>
          <p:nvPr/>
        </p:nvGrpSpPr>
        <p:grpSpPr>
          <a:xfrm rot="0">
            <a:off x="10178872" y="2368625"/>
            <a:ext cx="6910695" cy="3393314"/>
            <a:chOff x="0" y="0"/>
            <a:chExt cx="855385" cy="420014"/>
          </a:xfrm>
        </p:grpSpPr>
        <p:sp>
          <p:nvSpPr>
            <p:cNvPr name="Freeform 3" id="3"/>
            <p:cNvSpPr/>
            <p:nvPr/>
          </p:nvSpPr>
          <p:spPr>
            <a:xfrm flipH="false" flipV="false" rot="0">
              <a:off x="0" y="0"/>
              <a:ext cx="855385" cy="420014"/>
            </a:xfrm>
            <a:custGeom>
              <a:avLst/>
              <a:gdLst/>
              <a:ahLst/>
              <a:cxnLst/>
              <a:rect r="r" b="b" t="t" l="l"/>
              <a:pathLst>
                <a:path h="420014" w="855385">
                  <a:moveTo>
                    <a:pt x="56014" y="0"/>
                  </a:moveTo>
                  <a:lnTo>
                    <a:pt x="799371" y="0"/>
                  </a:lnTo>
                  <a:cubicBezTo>
                    <a:pt x="830307" y="0"/>
                    <a:pt x="855385" y="25078"/>
                    <a:pt x="855385" y="56014"/>
                  </a:cubicBezTo>
                  <a:lnTo>
                    <a:pt x="855385" y="364000"/>
                  </a:lnTo>
                  <a:cubicBezTo>
                    <a:pt x="855385" y="394936"/>
                    <a:pt x="830307" y="420014"/>
                    <a:pt x="799371" y="420014"/>
                  </a:cubicBezTo>
                  <a:lnTo>
                    <a:pt x="56014" y="420014"/>
                  </a:lnTo>
                  <a:cubicBezTo>
                    <a:pt x="25078" y="420014"/>
                    <a:pt x="0" y="394936"/>
                    <a:pt x="0" y="364000"/>
                  </a:cubicBezTo>
                  <a:lnTo>
                    <a:pt x="0" y="56014"/>
                  </a:lnTo>
                  <a:cubicBezTo>
                    <a:pt x="0" y="25078"/>
                    <a:pt x="25078" y="0"/>
                    <a:pt x="56014" y="0"/>
                  </a:cubicBezTo>
                  <a:close/>
                </a:path>
              </a:pathLst>
            </a:custGeom>
            <a:blipFill>
              <a:blip r:embed="rId2"/>
              <a:stretch>
                <a:fillRect l="0" t="-17842" r="0" b="-17842"/>
              </a:stretch>
            </a:blipFill>
          </p:spPr>
        </p:sp>
      </p:grpSp>
      <p:sp>
        <p:nvSpPr>
          <p:cNvPr name="Freeform 4" id="4"/>
          <p:cNvSpPr/>
          <p:nvPr/>
        </p:nvSpPr>
        <p:spPr>
          <a:xfrm flipH="false" flipV="false" rot="0">
            <a:off x="1874739" y="6721332"/>
            <a:ext cx="4993191" cy="3331820"/>
          </a:xfrm>
          <a:custGeom>
            <a:avLst/>
            <a:gdLst/>
            <a:ahLst/>
            <a:cxnLst/>
            <a:rect r="r" b="b" t="t" l="l"/>
            <a:pathLst>
              <a:path h="3331820" w="4993191">
                <a:moveTo>
                  <a:pt x="0" y="0"/>
                </a:moveTo>
                <a:lnTo>
                  <a:pt x="4993191" y="0"/>
                </a:lnTo>
                <a:lnTo>
                  <a:pt x="4993191" y="3331820"/>
                </a:lnTo>
                <a:lnTo>
                  <a:pt x="0" y="3331820"/>
                </a:lnTo>
                <a:lnTo>
                  <a:pt x="0" y="0"/>
                </a:lnTo>
                <a:close/>
              </a:path>
            </a:pathLst>
          </a:custGeom>
          <a:blipFill>
            <a:blip r:embed="rId3"/>
            <a:stretch>
              <a:fillRect l="0" t="0" r="0" b="0"/>
            </a:stretch>
          </a:blipFill>
        </p:spPr>
      </p:sp>
      <p:sp>
        <p:nvSpPr>
          <p:cNvPr name="TextBox 5" id="5"/>
          <p:cNvSpPr txBox="true"/>
          <p:nvPr/>
        </p:nvSpPr>
        <p:spPr>
          <a:xfrm rot="0">
            <a:off x="754617" y="4007893"/>
            <a:ext cx="8389383" cy="2204540"/>
          </a:xfrm>
          <a:prstGeom prst="rect">
            <a:avLst/>
          </a:prstGeom>
        </p:spPr>
        <p:txBody>
          <a:bodyPr anchor="t" rtlCol="false" tIns="0" lIns="0" bIns="0" rIns="0">
            <a:spAutoFit/>
          </a:bodyPr>
          <a:lstStyle/>
          <a:p>
            <a:pPr algn="l">
              <a:lnSpc>
                <a:spcPts val="4405"/>
              </a:lnSpc>
            </a:pPr>
            <a:r>
              <a:rPr lang="en-US" sz="3146" spc="31" b="true">
                <a:solidFill>
                  <a:srgbClr val="FFFFFF"/>
                </a:solidFill>
                <a:latin typeface="Neue Montreal Medium"/>
                <a:ea typeface="Neue Montreal Medium"/>
                <a:cs typeface="Neue Montreal Medium"/>
                <a:sym typeface="Neue Montreal Medium"/>
              </a:rPr>
              <a:t>La institución necesita llevar un mejor control de los bienes escolares, como computadoras, proyectores, escritorios, mobiliario, herramientas y otros recursos. </a:t>
            </a:r>
          </a:p>
        </p:txBody>
      </p:sp>
      <p:sp>
        <p:nvSpPr>
          <p:cNvPr name="TextBox 6" id="6"/>
          <p:cNvSpPr txBox="true"/>
          <p:nvPr/>
        </p:nvSpPr>
        <p:spPr>
          <a:xfrm rot="0">
            <a:off x="630113" y="897315"/>
            <a:ext cx="8995692" cy="2980668"/>
          </a:xfrm>
          <a:prstGeom prst="rect">
            <a:avLst/>
          </a:prstGeom>
        </p:spPr>
        <p:txBody>
          <a:bodyPr anchor="t" rtlCol="false" tIns="0" lIns="0" bIns="0" rIns="0">
            <a:spAutoFit/>
          </a:bodyPr>
          <a:lstStyle/>
          <a:p>
            <a:pPr algn="ctr">
              <a:lnSpc>
                <a:spcPts val="11901"/>
              </a:lnSpc>
              <a:spcBef>
                <a:spcPct val="0"/>
              </a:spcBef>
            </a:pPr>
            <a:r>
              <a:rPr lang="en-US" b="true" sz="8500" spc="85">
                <a:solidFill>
                  <a:srgbClr val="FFFFFF"/>
                </a:solidFill>
                <a:latin typeface="Neue Montreal Bold"/>
                <a:ea typeface="Neue Montreal Bold"/>
                <a:cs typeface="Neue Montreal Bold"/>
                <a:sym typeface="Neue Montreal Bold"/>
              </a:rPr>
              <a:t>Problema que resuelve</a:t>
            </a:r>
          </a:p>
        </p:txBody>
      </p:sp>
      <p:sp>
        <p:nvSpPr>
          <p:cNvPr name="TextBox 7" id="7"/>
          <p:cNvSpPr txBox="true"/>
          <p:nvPr/>
        </p:nvSpPr>
        <p:spPr>
          <a:xfrm rot="0">
            <a:off x="9951377" y="6979849"/>
            <a:ext cx="7005454" cy="2748915"/>
          </a:xfrm>
          <a:prstGeom prst="rect">
            <a:avLst/>
          </a:prstGeom>
        </p:spPr>
        <p:txBody>
          <a:bodyPr anchor="t" rtlCol="false" tIns="0" lIns="0" bIns="0" rIns="0">
            <a:spAutoFit/>
          </a:bodyPr>
          <a:lstStyle/>
          <a:p>
            <a:pPr algn="ctr">
              <a:lnSpc>
                <a:spcPts val="4409"/>
              </a:lnSpc>
              <a:spcBef>
                <a:spcPct val="0"/>
              </a:spcBef>
            </a:pPr>
            <a:r>
              <a:rPr lang="en-US" b="true" sz="3149">
                <a:solidFill>
                  <a:srgbClr val="FFFFFF"/>
                </a:solidFill>
                <a:latin typeface="Neue Montreal Bold"/>
                <a:ea typeface="Neue Montreal Bold"/>
                <a:cs typeface="Neue Montreal Bold"/>
                <a:sym typeface="Neue Montreal Bold"/>
              </a:rPr>
              <a:t>Actualmente, el control manual puede provocar pérdida de información, duplicidad de registros, dificultad para saber quién tiene asignado un bien y falta de reportes actualizados.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10766280" y="3606898"/>
            <a:ext cx="6159401" cy="4111400"/>
          </a:xfrm>
          <a:custGeom>
            <a:avLst/>
            <a:gdLst/>
            <a:ahLst/>
            <a:cxnLst/>
            <a:rect r="r" b="b" t="t" l="l"/>
            <a:pathLst>
              <a:path h="4111400" w="6159401">
                <a:moveTo>
                  <a:pt x="0" y="0"/>
                </a:moveTo>
                <a:lnTo>
                  <a:pt x="6159400" y="0"/>
                </a:lnTo>
                <a:lnTo>
                  <a:pt x="6159400" y="4111400"/>
                </a:lnTo>
                <a:lnTo>
                  <a:pt x="0" y="4111400"/>
                </a:lnTo>
                <a:lnTo>
                  <a:pt x="0" y="0"/>
                </a:lnTo>
                <a:close/>
              </a:path>
            </a:pathLst>
          </a:custGeom>
          <a:blipFill>
            <a:blip r:embed="rId2"/>
            <a:stretch>
              <a:fillRect l="0" t="0" r="0" b="0"/>
            </a:stretch>
          </a:blipFill>
        </p:spPr>
      </p:sp>
      <p:sp>
        <p:nvSpPr>
          <p:cNvPr name="TextBox 3" id="3"/>
          <p:cNvSpPr txBox="true"/>
          <p:nvPr/>
        </p:nvSpPr>
        <p:spPr>
          <a:xfrm rot="0">
            <a:off x="916003" y="765783"/>
            <a:ext cx="8153162" cy="1468098"/>
          </a:xfrm>
          <a:prstGeom prst="rect">
            <a:avLst/>
          </a:prstGeom>
        </p:spPr>
        <p:txBody>
          <a:bodyPr anchor="t" rtlCol="false" tIns="0" lIns="0" bIns="0" rIns="0">
            <a:spAutoFit/>
          </a:bodyPr>
          <a:lstStyle/>
          <a:p>
            <a:pPr algn="ctr">
              <a:lnSpc>
                <a:spcPts val="11901"/>
              </a:lnSpc>
              <a:spcBef>
                <a:spcPct val="0"/>
              </a:spcBef>
            </a:pPr>
            <a:r>
              <a:rPr lang="en-US" b="true" sz="8500" spc="85">
                <a:solidFill>
                  <a:srgbClr val="FFFFFF"/>
                </a:solidFill>
                <a:latin typeface="Neue Montreal Bold"/>
                <a:ea typeface="Neue Montreal Bold"/>
                <a:cs typeface="Neue Montreal Bold"/>
                <a:sym typeface="Neue Montreal Bold"/>
              </a:rPr>
              <a:t>Objetivo general</a:t>
            </a:r>
          </a:p>
        </p:txBody>
      </p:sp>
      <p:sp>
        <p:nvSpPr>
          <p:cNvPr name="TextBox 4" id="4"/>
          <p:cNvSpPr txBox="true"/>
          <p:nvPr/>
        </p:nvSpPr>
        <p:spPr>
          <a:xfrm rot="0">
            <a:off x="476084" y="3530698"/>
            <a:ext cx="8786508" cy="3996015"/>
          </a:xfrm>
          <a:prstGeom prst="rect">
            <a:avLst/>
          </a:prstGeom>
        </p:spPr>
        <p:txBody>
          <a:bodyPr anchor="t" rtlCol="false" tIns="0" lIns="0" bIns="0" rIns="0">
            <a:spAutoFit/>
          </a:bodyPr>
          <a:lstStyle/>
          <a:p>
            <a:pPr algn="ctr">
              <a:lnSpc>
                <a:spcPts val="5292"/>
              </a:lnSpc>
              <a:spcBef>
                <a:spcPct val="0"/>
              </a:spcBef>
            </a:pPr>
            <a:r>
              <a:rPr lang="en-US" sz="3780" spc="37">
                <a:solidFill>
                  <a:srgbClr val="FFFFFF"/>
                </a:solidFill>
                <a:latin typeface="Neue Montreal"/>
                <a:ea typeface="Neue Montreal"/>
                <a:cs typeface="Neue Montreal"/>
                <a:sym typeface="Neue Montreal"/>
              </a:rPr>
              <a:t>Desarrollar un sistema web que permita registrar, consultar, asignar, importar, exportar y dar seguimiento a los bienes escolares de una institución, facilitando la administración del inventario y la toma de decisiones.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11383802" y="3183334"/>
            <a:ext cx="5861622" cy="4401545"/>
          </a:xfrm>
          <a:custGeom>
            <a:avLst/>
            <a:gdLst/>
            <a:ahLst/>
            <a:cxnLst/>
            <a:rect r="r" b="b" t="t" l="l"/>
            <a:pathLst>
              <a:path h="4401545" w="5861622">
                <a:moveTo>
                  <a:pt x="0" y="0"/>
                </a:moveTo>
                <a:lnTo>
                  <a:pt x="5861622" y="0"/>
                </a:lnTo>
                <a:lnTo>
                  <a:pt x="5861622" y="4401546"/>
                </a:lnTo>
                <a:lnTo>
                  <a:pt x="0" y="4401546"/>
                </a:lnTo>
                <a:lnTo>
                  <a:pt x="0" y="0"/>
                </a:lnTo>
                <a:close/>
              </a:path>
            </a:pathLst>
          </a:custGeom>
          <a:blipFill>
            <a:blip r:embed="rId2"/>
            <a:stretch>
              <a:fillRect l="0" t="0" r="0" b="0"/>
            </a:stretch>
          </a:blipFill>
        </p:spPr>
      </p:sp>
      <p:sp>
        <p:nvSpPr>
          <p:cNvPr name="TextBox 3" id="3"/>
          <p:cNvSpPr txBox="true"/>
          <p:nvPr/>
        </p:nvSpPr>
        <p:spPr>
          <a:xfrm rot="0">
            <a:off x="488438" y="266003"/>
            <a:ext cx="7109183" cy="2254996"/>
          </a:xfrm>
          <a:prstGeom prst="rect">
            <a:avLst/>
          </a:prstGeom>
        </p:spPr>
        <p:txBody>
          <a:bodyPr anchor="t" rtlCol="false" tIns="0" lIns="0" bIns="0" rIns="0">
            <a:spAutoFit/>
          </a:bodyPr>
          <a:lstStyle/>
          <a:p>
            <a:pPr algn="ctr">
              <a:lnSpc>
                <a:spcPts val="9058"/>
              </a:lnSpc>
              <a:spcBef>
                <a:spcPct val="0"/>
              </a:spcBef>
            </a:pPr>
            <a:r>
              <a:rPr lang="en-US" b="true" sz="6470">
                <a:solidFill>
                  <a:srgbClr val="FFFFFF"/>
                </a:solidFill>
                <a:latin typeface="Neue Montreal Bold"/>
                <a:ea typeface="Neue Montreal Bold"/>
                <a:cs typeface="Neue Montreal Bold"/>
                <a:sym typeface="Neue Montreal Bold"/>
              </a:rPr>
              <a:t>Estado actual del proyecto</a:t>
            </a:r>
          </a:p>
        </p:txBody>
      </p:sp>
      <p:sp>
        <p:nvSpPr>
          <p:cNvPr name="TextBox 4" id="4"/>
          <p:cNvSpPr txBox="true"/>
          <p:nvPr/>
        </p:nvSpPr>
        <p:spPr>
          <a:xfrm rot="0">
            <a:off x="377825" y="3605371"/>
            <a:ext cx="9952958" cy="4790598"/>
          </a:xfrm>
          <a:prstGeom prst="rect">
            <a:avLst/>
          </a:prstGeom>
        </p:spPr>
        <p:txBody>
          <a:bodyPr anchor="t" rtlCol="false" tIns="0" lIns="0" bIns="0" rIns="0">
            <a:spAutoFit/>
          </a:bodyPr>
          <a:lstStyle/>
          <a:p>
            <a:pPr algn="l">
              <a:lnSpc>
                <a:spcPts val="4226"/>
              </a:lnSpc>
              <a:spcBef>
                <a:spcPct val="0"/>
              </a:spcBef>
            </a:pPr>
            <a:r>
              <a:rPr lang="en-US" sz="3018">
                <a:solidFill>
                  <a:srgbClr val="FFFFFF"/>
                </a:solidFill>
                <a:latin typeface="Neue Montreal"/>
                <a:ea typeface="Neue Montreal"/>
                <a:cs typeface="Neue Montreal"/>
                <a:sym typeface="Neue Montreal"/>
              </a:rPr>
              <a:t>El sistema ya cuenta con una base funcional. Actualmente permite iniciar sesión, administrar bienes, áreas, personal, asignaciones, historial de movimientos, pendientes, usuarios, reportes y códigos de barras. </a:t>
            </a:r>
          </a:p>
          <a:p>
            <a:pPr algn="l">
              <a:lnSpc>
                <a:spcPts val="4226"/>
              </a:lnSpc>
              <a:spcBef>
                <a:spcPct val="0"/>
              </a:spcBef>
            </a:pPr>
          </a:p>
          <a:p>
            <a:pPr algn="l">
              <a:lnSpc>
                <a:spcPts val="4226"/>
              </a:lnSpc>
              <a:spcBef>
                <a:spcPct val="0"/>
              </a:spcBef>
            </a:pPr>
            <a:r>
              <a:rPr lang="en-US" sz="3018">
                <a:solidFill>
                  <a:srgbClr val="FFFFFF"/>
                </a:solidFill>
                <a:latin typeface="Neue Montreal"/>
                <a:ea typeface="Neue Montreal"/>
                <a:cs typeface="Neue Montreal"/>
                <a:sym typeface="Neue Montreal"/>
              </a:rPr>
              <a:t>También cuenta con importación de archivos CSV/Excel y exportación de reportes. Sin embargo, todavía existen mejoras pendientes relacionadas con validaciones, seguridad, reportes, pruebas, roles, usabilidad y control de duplicados.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grpSp>
        <p:nvGrpSpPr>
          <p:cNvPr name="Group 2" id="2"/>
          <p:cNvGrpSpPr/>
          <p:nvPr/>
        </p:nvGrpSpPr>
        <p:grpSpPr>
          <a:xfrm rot="0">
            <a:off x="1000125" y="1640157"/>
            <a:ext cx="16287750" cy="7897863"/>
            <a:chOff x="0" y="0"/>
            <a:chExt cx="21717000" cy="10530484"/>
          </a:xfrm>
        </p:grpSpPr>
        <p:sp>
          <p:nvSpPr>
            <p:cNvPr name="Freeform 3" id="3" descr="image.png"/>
            <p:cNvSpPr/>
            <p:nvPr/>
          </p:nvSpPr>
          <p:spPr>
            <a:xfrm flipH="false" flipV="false" rot="0">
              <a:off x="0" y="0"/>
              <a:ext cx="21717000" cy="10530459"/>
            </a:xfrm>
            <a:custGeom>
              <a:avLst/>
              <a:gdLst/>
              <a:ahLst/>
              <a:cxnLst/>
              <a:rect r="r" b="b" t="t" l="l"/>
              <a:pathLst>
                <a:path h="10530459" w="21717000">
                  <a:moveTo>
                    <a:pt x="0" y="0"/>
                  </a:moveTo>
                  <a:lnTo>
                    <a:pt x="21717000" y="0"/>
                  </a:lnTo>
                  <a:lnTo>
                    <a:pt x="21717000" y="10530459"/>
                  </a:lnTo>
                  <a:lnTo>
                    <a:pt x="0" y="10530459"/>
                  </a:lnTo>
                  <a:lnTo>
                    <a:pt x="0" y="0"/>
                  </a:lnTo>
                  <a:close/>
                </a:path>
              </a:pathLst>
            </a:custGeom>
            <a:blipFill>
              <a:blip r:embed="rId2"/>
              <a:stretch>
                <a:fillRect l="0" t="0" r="0" b="-220"/>
              </a:stretch>
            </a:blipFill>
          </p:spPr>
        </p:sp>
      </p:grpSp>
      <p:grpSp>
        <p:nvGrpSpPr>
          <p:cNvPr name="Group 4" id="4"/>
          <p:cNvGrpSpPr/>
          <p:nvPr/>
        </p:nvGrpSpPr>
        <p:grpSpPr>
          <a:xfrm rot="0">
            <a:off x="1007269" y="1647301"/>
            <a:ext cx="16273462" cy="7883576"/>
            <a:chOff x="0" y="0"/>
            <a:chExt cx="21697950" cy="10511434"/>
          </a:xfrm>
        </p:grpSpPr>
        <p:sp>
          <p:nvSpPr>
            <p:cNvPr name="Freeform 5" id="5"/>
            <p:cNvSpPr/>
            <p:nvPr/>
          </p:nvSpPr>
          <p:spPr>
            <a:xfrm flipH="false" flipV="false" rot="0">
              <a:off x="0" y="0"/>
              <a:ext cx="21697950" cy="10511409"/>
            </a:xfrm>
            <a:custGeom>
              <a:avLst/>
              <a:gdLst/>
              <a:ahLst/>
              <a:cxnLst/>
              <a:rect r="r" b="b" t="t" l="l"/>
              <a:pathLst>
                <a:path h="10511409" w="21697950">
                  <a:moveTo>
                    <a:pt x="0" y="0"/>
                  </a:moveTo>
                  <a:lnTo>
                    <a:pt x="21697950" y="0"/>
                  </a:lnTo>
                  <a:lnTo>
                    <a:pt x="21697950" y="10511409"/>
                  </a:lnTo>
                  <a:lnTo>
                    <a:pt x="0" y="10511409"/>
                  </a:lnTo>
                </a:path>
              </a:pathLst>
            </a:custGeom>
            <a:solidFill>
              <a:srgbClr val="FFFFFF"/>
            </a:solidFill>
            <a:ln w="14288" cap="sq">
              <a:solidFill>
                <a:srgbClr val="4A7DBA"/>
              </a:solidFill>
              <a:prstDash val="solid"/>
              <a:miter/>
            </a:ln>
          </p:spPr>
        </p:sp>
      </p:grpSp>
      <p:graphicFrame>
        <p:nvGraphicFramePr>
          <p:cNvPr name="Table 6" id="6"/>
          <p:cNvGraphicFramePr>
            <a:graphicFrameLocks noGrp="true"/>
          </p:cNvGraphicFramePr>
          <p:nvPr/>
        </p:nvGraphicFramePr>
        <p:xfrm>
          <a:off x="1014412" y="1654447"/>
          <a:ext cx="16230600" cy="7753350"/>
        </p:xfrm>
        <a:graphic>
          <a:graphicData uri="http://schemas.openxmlformats.org/drawingml/2006/table">
            <a:tbl>
              <a:tblPr/>
              <a:tblGrid>
                <a:gridCol w="1409183"/>
                <a:gridCol w="5156607"/>
                <a:gridCol w="7709671"/>
                <a:gridCol w="1955139"/>
              </a:tblGrid>
              <a:tr h="704850">
                <a:tc>
                  <a:txBody>
                    <a:bodyPr anchor="t" rtlCol="false"/>
                    <a:lstStyle/>
                    <a:p>
                      <a:pPr algn="ctr">
                        <a:lnSpc>
                          <a:spcPts val="1485"/>
                        </a:lnSpc>
                        <a:defRPr/>
                      </a:pPr>
                      <a:r>
                        <a:rPr lang="en-US" sz="1237">
                          <a:solidFill>
                            <a:srgbClr val="FFFFFF"/>
                          </a:solidFill>
                          <a:latin typeface="Poppins"/>
                          <a:ea typeface="Poppins"/>
                          <a:cs typeface="Poppins"/>
                          <a:sym typeface="Poppins"/>
                        </a:rPr>
                        <a:t>Prioridad</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0F172A"/>
                    </a:solidFill>
                  </a:tcPr>
                </a:tc>
                <a:tc>
                  <a:txBody>
                    <a:bodyPr anchor="t" rtlCol="false"/>
                    <a:lstStyle/>
                    <a:p>
                      <a:pPr algn="l">
                        <a:lnSpc>
                          <a:spcPts val="1485"/>
                        </a:lnSpc>
                        <a:defRPr/>
                      </a:pPr>
                      <a:r>
                        <a:rPr lang="en-US" sz="1237">
                          <a:solidFill>
                            <a:srgbClr val="FFFFFF"/>
                          </a:solidFill>
                          <a:latin typeface="Poppins"/>
                          <a:ea typeface="Poppins"/>
                          <a:cs typeface="Poppins"/>
                          <a:sym typeface="Poppins"/>
                        </a:rPr>
                        <a:t>Funcionalidad Pendiente</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0F172A"/>
                    </a:solidFill>
                  </a:tcPr>
                </a:tc>
                <a:tc>
                  <a:txBody>
                    <a:bodyPr anchor="t" rtlCol="false"/>
                    <a:lstStyle/>
                    <a:p>
                      <a:pPr algn="l">
                        <a:lnSpc>
                          <a:spcPts val="1485"/>
                        </a:lnSpc>
                        <a:defRPr/>
                      </a:pPr>
                      <a:r>
                        <a:rPr lang="en-US" sz="1237">
                          <a:solidFill>
                            <a:srgbClr val="FFFFFF"/>
                          </a:solidFill>
                          <a:latin typeface="Poppins"/>
                          <a:ea typeface="Poppins"/>
                          <a:cs typeface="Poppins"/>
                          <a:sym typeface="Poppins"/>
                        </a:rPr>
                        <a:t>Justificación Detallada del Requerimiento</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0F172A"/>
                    </a:solidFill>
                  </a:tcPr>
                </a:tc>
                <a:tc>
                  <a:txBody>
                    <a:bodyPr anchor="t" rtlCol="false"/>
                    <a:lstStyle/>
                    <a:p>
                      <a:pPr algn="ctr">
                        <a:lnSpc>
                          <a:spcPts val="1485"/>
                        </a:lnSpc>
                        <a:defRPr/>
                      </a:pPr>
                      <a:r>
                        <a:rPr lang="en-US" sz="1237">
                          <a:solidFill>
                            <a:srgbClr val="FFFFFF"/>
                          </a:solidFill>
                          <a:latin typeface="Poppins"/>
                          <a:ea typeface="Poppins"/>
                          <a:cs typeface="Poppins"/>
                          <a:sym typeface="Poppins"/>
                        </a:rPr>
                        <a:t>Nivel</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0F172A"/>
                    </a:solidFill>
                  </a:tcPr>
                </a:tc>
              </a:tr>
              <a:tr h="704850">
                <a:tc>
                  <a:txBody>
                    <a:bodyPr anchor="t" rtlCol="false"/>
                    <a:lstStyle/>
                    <a:p>
                      <a:pPr algn="ctr">
                        <a:lnSpc>
                          <a:spcPts val="1755"/>
                        </a:lnSpc>
                        <a:defRPr/>
                      </a:pPr>
                      <a:r>
                        <a:rPr lang="en-US" b="true" sz="1462">
                          <a:solidFill>
                            <a:srgbClr val="334155"/>
                          </a:solidFill>
                          <a:latin typeface="Lato Bold"/>
                          <a:ea typeface="Lato Bold"/>
                          <a:cs typeface="Lato Bold"/>
                          <a:sym typeface="Lato Bold"/>
                        </a:rPr>
                        <a:t>1</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1755"/>
                        </a:lnSpc>
                        <a:defRPr/>
                      </a:pPr>
                      <a:r>
                        <a:rPr lang="en-US" sz="1462">
                          <a:solidFill>
                            <a:srgbClr val="334155"/>
                          </a:solidFill>
                          <a:latin typeface="Lato"/>
                          <a:ea typeface="Lato"/>
                          <a:cs typeface="Lato"/>
                          <a:sym typeface="Lato"/>
                        </a:rPr>
                        <a:t>Evitar duplicados en inventario / barras</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1755"/>
                        </a:lnSpc>
                        <a:defRPr/>
                      </a:pPr>
                      <a:r>
                        <a:rPr lang="en-US" sz="1462">
                          <a:solidFill>
                            <a:srgbClr val="334155"/>
                          </a:solidFill>
                          <a:latin typeface="Lato"/>
                          <a:ea typeface="Lato"/>
                          <a:cs typeface="Lato"/>
                          <a:sym typeface="Lato"/>
                        </a:rPr>
                        <a:t>Indispensable para garantizar la integridad. Si hay duplicados, el control deja de ser confiable.</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ctr">
                        <a:lnSpc>
                          <a:spcPts val="1755"/>
                        </a:lnSpc>
                        <a:defRPr/>
                      </a:pP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r h="704850">
                <a:tc>
                  <a:txBody>
                    <a:bodyPr anchor="t" rtlCol="false"/>
                    <a:lstStyle/>
                    <a:p>
                      <a:pPr algn="ctr">
                        <a:lnSpc>
                          <a:spcPts val="1755"/>
                        </a:lnSpc>
                        <a:defRPr/>
                      </a:pPr>
                      <a:r>
                        <a:rPr lang="en-US" b="true" sz="1462">
                          <a:solidFill>
                            <a:srgbClr val="334155"/>
                          </a:solidFill>
                          <a:latin typeface="Lato Bold"/>
                          <a:ea typeface="Lato Bold"/>
                          <a:cs typeface="Lato Bold"/>
                          <a:sym typeface="Lato Bold"/>
                        </a:rPr>
                        <a:t>2</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c>
                  <a:txBody>
                    <a:bodyPr anchor="t" rtlCol="false"/>
                    <a:lstStyle/>
                    <a:p>
                      <a:pPr algn="l">
                        <a:lnSpc>
                          <a:spcPts val="1755"/>
                        </a:lnSpc>
                        <a:defRPr/>
                      </a:pPr>
                      <a:r>
                        <a:rPr lang="en-US" sz="1462">
                          <a:solidFill>
                            <a:srgbClr val="334155"/>
                          </a:solidFill>
                          <a:latin typeface="Lato"/>
                          <a:ea typeface="Lato"/>
                          <a:cs typeface="Lato"/>
                          <a:sym typeface="Lato"/>
                        </a:rPr>
                        <a:t>Respaldo y restauración de base de datos</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c>
                  <a:txBody>
                    <a:bodyPr anchor="t" rtlCol="false"/>
                    <a:lstStyle/>
                    <a:p>
                      <a:pPr algn="l">
                        <a:lnSpc>
                          <a:spcPts val="1755"/>
                        </a:lnSpc>
                        <a:defRPr/>
                      </a:pPr>
                      <a:r>
                        <a:rPr lang="en-US" sz="1462">
                          <a:solidFill>
                            <a:srgbClr val="334155"/>
                          </a:solidFill>
                          <a:latin typeface="Lato"/>
                          <a:ea typeface="Lato"/>
                          <a:cs typeface="Lato"/>
                          <a:sym typeface="Lato"/>
                        </a:rPr>
                        <a:t>La información es crítica. Un respaldo evita pérdidas totales por fallas o errores del sistema.</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c>
                  <a:txBody>
                    <a:bodyPr anchor="t" rtlCol="false"/>
                    <a:lstStyle/>
                    <a:p>
                      <a:pPr algn="ctr">
                        <a:lnSpc>
                          <a:spcPts val="1755"/>
                        </a:lnSpc>
                        <a:defRPr/>
                      </a:pP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r>
              <a:tr h="704850">
                <a:tc>
                  <a:txBody>
                    <a:bodyPr anchor="t" rtlCol="false"/>
                    <a:lstStyle/>
                    <a:p>
                      <a:pPr algn="ctr">
                        <a:lnSpc>
                          <a:spcPts val="1755"/>
                        </a:lnSpc>
                        <a:defRPr/>
                      </a:pPr>
                      <a:r>
                        <a:rPr lang="en-US" b="true" sz="1462">
                          <a:solidFill>
                            <a:srgbClr val="334155"/>
                          </a:solidFill>
                          <a:latin typeface="Lato Bold"/>
                          <a:ea typeface="Lato Bold"/>
                          <a:cs typeface="Lato Bold"/>
                          <a:sym typeface="Lato Bold"/>
                        </a:rPr>
                        <a:t>3</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1755"/>
                        </a:lnSpc>
                        <a:defRPr/>
                      </a:pPr>
                      <a:r>
                        <a:rPr lang="en-US" sz="1462">
                          <a:solidFill>
                            <a:srgbClr val="334155"/>
                          </a:solidFill>
                          <a:latin typeface="Lato"/>
                          <a:ea typeface="Lato"/>
                          <a:cs typeface="Lato"/>
                          <a:sym typeface="Lato"/>
                        </a:rPr>
                        <a:t>Mejorar validación de importación masiva</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1755"/>
                        </a:lnSpc>
                        <a:defRPr/>
                      </a:pPr>
                      <a:r>
                        <a:rPr lang="en-US" sz="1462">
                          <a:solidFill>
                            <a:srgbClr val="334155"/>
                          </a:solidFill>
                          <a:latin typeface="Lato"/>
                          <a:ea typeface="Lato"/>
                          <a:cs typeface="Lato"/>
                          <a:sym typeface="Lato"/>
                        </a:rPr>
                        <a:t>Permite importar masivamente datos desde Excel/CSV indicando con precisión los registros fallidos.</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ctr">
                        <a:lnSpc>
                          <a:spcPts val="1755"/>
                        </a:lnSpc>
                        <a:defRPr/>
                      </a:pP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r h="704850">
                <a:tc>
                  <a:txBody>
                    <a:bodyPr anchor="t" rtlCol="false"/>
                    <a:lstStyle/>
                    <a:p>
                      <a:pPr algn="ctr">
                        <a:lnSpc>
                          <a:spcPts val="1755"/>
                        </a:lnSpc>
                        <a:defRPr/>
                      </a:pPr>
                      <a:r>
                        <a:rPr lang="en-US" b="true" sz="1462">
                          <a:solidFill>
                            <a:srgbClr val="334155"/>
                          </a:solidFill>
                          <a:latin typeface="Lato Bold"/>
                          <a:ea typeface="Lato Bold"/>
                          <a:cs typeface="Lato Bold"/>
                          <a:sym typeface="Lato Bold"/>
                        </a:rPr>
                        <a:t>4</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c>
                  <a:txBody>
                    <a:bodyPr anchor="t" rtlCol="false"/>
                    <a:lstStyle/>
                    <a:p>
                      <a:pPr algn="l">
                        <a:lnSpc>
                          <a:spcPts val="1755"/>
                        </a:lnSpc>
                        <a:defRPr/>
                      </a:pPr>
                      <a:r>
                        <a:rPr lang="en-US" sz="1462">
                          <a:solidFill>
                            <a:srgbClr val="334155"/>
                          </a:solidFill>
                          <a:latin typeface="Lato"/>
                          <a:ea typeface="Lato"/>
                          <a:cs typeface="Lato"/>
                          <a:sym typeface="Lato"/>
                        </a:rPr>
                        <a:t>Centralizar lógica de asignación/historial</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c>
                  <a:txBody>
                    <a:bodyPr anchor="t" rtlCol="false"/>
                    <a:lstStyle/>
                    <a:p>
                      <a:pPr algn="l">
                        <a:lnSpc>
                          <a:spcPts val="1755"/>
                        </a:lnSpc>
                        <a:defRPr/>
                      </a:pPr>
                      <a:r>
                        <a:rPr lang="en-US" sz="1462">
                          <a:solidFill>
                            <a:srgbClr val="334155"/>
                          </a:solidFill>
                          <a:latin typeface="Lato"/>
                          <a:ea typeface="Lato"/>
                          <a:cs typeface="Lato"/>
                          <a:sym typeface="Lato"/>
                        </a:rPr>
                        <a:t>Optimiza la arquitectura de software, reduce la duplicidad de código y mitiga errores lógicos futuros.</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c>
                  <a:txBody>
                    <a:bodyPr anchor="t" rtlCol="false"/>
                    <a:lstStyle/>
                    <a:p>
                      <a:pPr algn="ctr">
                        <a:lnSpc>
                          <a:spcPts val="1755"/>
                        </a:lnSpc>
                        <a:defRPr/>
                      </a:pP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r>
              <a:tr h="704850">
                <a:tc>
                  <a:txBody>
                    <a:bodyPr anchor="t" rtlCol="false"/>
                    <a:lstStyle/>
                    <a:p>
                      <a:pPr algn="ctr">
                        <a:lnSpc>
                          <a:spcPts val="1755"/>
                        </a:lnSpc>
                        <a:defRPr/>
                      </a:pPr>
                      <a:r>
                        <a:rPr lang="en-US" b="true" sz="1462">
                          <a:solidFill>
                            <a:srgbClr val="334155"/>
                          </a:solidFill>
                          <a:latin typeface="Lato Bold"/>
                          <a:ea typeface="Lato Bold"/>
                          <a:cs typeface="Lato Bold"/>
                          <a:sym typeface="Lato Bold"/>
                        </a:rPr>
                        <a:t>5</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1755"/>
                        </a:lnSpc>
                        <a:defRPr/>
                      </a:pPr>
                      <a:r>
                        <a:rPr lang="en-US" sz="1462">
                          <a:solidFill>
                            <a:srgbClr val="334155"/>
                          </a:solidFill>
                          <a:latin typeface="Lato"/>
                          <a:ea typeface="Lato"/>
                          <a:cs typeface="Lato"/>
                          <a:sym typeface="Lato"/>
                        </a:rPr>
                        <a:t>Filtros avanzados en reportes</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1755"/>
                        </a:lnSpc>
                        <a:defRPr/>
                      </a:pPr>
                      <a:r>
                        <a:rPr lang="en-US" sz="1462">
                          <a:solidFill>
                            <a:srgbClr val="334155"/>
                          </a:solidFill>
                          <a:latin typeface="Lato"/>
                          <a:ea typeface="Lato"/>
                          <a:cs typeface="Lato"/>
                          <a:sym typeface="Lato"/>
                        </a:rPr>
                        <a:t>Facilita consultas dinámicas por área, responsable, estado o rangos de fecha para tomar decisiones.</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ctr">
                        <a:lnSpc>
                          <a:spcPts val="1755"/>
                        </a:lnSpc>
                        <a:defRPr/>
                      </a:pP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r h="704850">
                <a:tc>
                  <a:txBody>
                    <a:bodyPr anchor="t" rtlCol="false"/>
                    <a:lstStyle/>
                    <a:p>
                      <a:pPr algn="ctr">
                        <a:lnSpc>
                          <a:spcPts val="1755"/>
                        </a:lnSpc>
                        <a:defRPr/>
                      </a:pPr>
                      <a:r>
                        <a:rPr lang="en-US" b="true" sz="1462">
                          <a:solidFill>
                            <a:srgbClr val="334155"/>
                          </a:solidFill>
                          <a:latin typeface="Lato Bold"/>
                          <a:ea typeface="Lato Bold"/>
                          <a:cs typeface="Lato Bold"/>
                          <a:sym typeface="Lato Bold"/>
                        </a:rPr>
                        <a:t>6</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c>
                  <a:txBody>
                    <a:bodyPr anchor="t" rtlCol="false"/>
                    <a:lstStyle/>
                    <a:p>
                      <a:pPr algn="l">
                        <a:lnSpc>
                          <a:spcPts val="1755"/>
                        </a:lnSpc>
                        <a:defRPr/>
                      </a:pPr>
                      <a:r>
                        <a:rPr lang="en-US" sz="1462">
                          <a:solidFill>
                            <a:srgbClr val="334155"/>
                          </a:solidFill>
                          <a:latin typeface="Lato"/>
                          <a:ea typeface="Lato"/>
                          <a:cs typeface="Lato"/>
                          <a:sym typeface="Lato"/>
                        </a:rPr>
                        <a:t>Optimizar reportes en PDF y Excel</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c>
                  <a:txBody>
                    <a:bodyPr anchor="t" rtlCol="false"/>
                    <a:lstStyle/>
                    <a:p>
                      <a:pPr algn="l">
                        <a:lnSpc>
                          <a:spcPts val="1755"/>
                        </a:lnSpc>
                        <a:defRPr/>
                      </a:pPr>
                      <a:r>
                        <a:rPr lang="en-US" sz="1462">
                          <a:solidFill>
                            <a:srgbClr val="334155"/>
                          </a:solidFill>
                          <a:latin typeface="Lato"/>
                          <a:ea typeface="Lato"/>
                          <a:cs typeface="Lato"/>
                          <a:sym typeface="Lato"/>
                        </a:rPr>
                        <a:t>Genera entregables limpios, completos y legibles bajo estándares profesionales para uso administrativo.</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c>
                  <a:txBody>
                    <a:bodyPr anchor="t" rtlCol="false"/>
                    <a:lstStyle/>
                    <a:p>
                      <a:pPr algn="ctr">
                        <a:lnSpc>
                          <a:spcPts val="1755"/>
                        </a:lnSpc>
                        <a:defRPr/>
                      </a:pPr>
                      <a:r>
                        <a:rPr lang="en-US" sz="1462">
                          <a:solidFill>
                            <a:srgbClr val="334155"/>
                          </a:solidFill>
                          <a:latin typeface="Lato"/>
                          <a:ea typeface="Lato"/>
                          <a:cs typeface="Lato"/>
                          <a:sym typeface="Lato"/>
                        </a:rPr>
                        <a:t>Media</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r>
              <a:tr h="704850">
                <a:tc>
                  <a:txBody>
                    <a:bodyPr anchor="t" rtlCol="false"/>
                    <a:lstStyle/>
                    <a:p>
                      <a:pPr algn="ctr">
                        <a:lnSpc>
                          <a:spcPts val="1755"/>
                        </a:lnSpc>
                        <a:defRPr/>
                      </a:pPr>
                      <a:r>
                        <a:rPr lang="en-US" b="true" sz="1462">
                          <a:solidFill>
                            <a:srgbClr val="334155"/>
                          </a:solidFill>
                          <a:latin typeface="Lato Bold"/>
                          <a:ea typeface="Lato Bold"/>
                          <a:cs typeface="Lato Bold"/>
                          <a:sym typeface="Lato Bold"/>
                        </a:rPr>
                        <a:t>7</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1755"/>
                        </a:lnSpc>
                        <a:defRPr/>
                      </a:pPr>
                      <a:r>
                        <a:rPr lang="en-US" sz="1462">
                          <a:solidFill>
                            <a:srgbClr val="334155"/>
                          </a:solidFill>
                          <a:latin typeface="Lato"/>
                          <a:ea typeface="Lato"/>
                          <a:cs typeface="Lato"/>
                          <a:sym typeface="Lato"/>
                        </a:rPr>
                        <a:t>Mejorar mensajes de error/validaciones</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1755"/>
                        </a:lnSpc>
                        <a:defRPr/>
                      </a:pPr>
                      <a:r>
                        <a:rPr lang="en-US" sz="1462">
                          <a:solidFill>
                            <a:srgbClr val="334155"/>
                          </a:solidFill>
                          <a:latin typeface="Lato"/>
                          <a:ea typeface="Lato"/>
                          <a:cs typeface="Lato"/>
                          <a:sym typeface="Lato"/>
                        </a:rPr>
                        <a:t>Potencia la experiencia del operador indicando con precisión cómo corregir problemas de captura.</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ctr">
                        <a:lnSpc>
                          <a:spcPts val="1755"/>
                        </a:lnSpc>
                        <a:defRPr/>
                      </a:pP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r h="704850">
                <a:tc>
                  <a:txBody>
                    <a:bodyPr anchor="t" rtlCol="false"/>
                    <a:lstStyle/>
                    <a:p>
                      <a:pPr algn="ctr">
                        <a:lnSpc>
                          <a:spcPts val="1755"/>
                        </a:lnSpc>
                        <a:defRPr/>
                      </a:pPr>
                      <a:r>
                        <a:rPr lang="en-US" b="true" sz="1462">
                          <a:solidFill>
                            <a:srgbClr val="334155"/>
                          </a:solidFill>
                          <a:latin typeface="Lato Bold"/>
                          <a:ea typeface="Lato Bold"/>
                          <a:cs typeface="Lato Bold"/>
                          <a:sym typeface="Lato Bold"/>
                        </a:rPr>
                        <a:t>8</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c>
                  <a:txBody>
                    <a:bodyPr anchor="t" rtlCol="false"/>
                    <a:lstStyle/>
                    <a:p>
                      <a:pPr algn="l">
                        <a:lnSpc>
                          <a:spcPts val="1755"/>
                        </a:lnSpc>
                        <a:defRPr/>
                      </a:pPr>
                      <a:r>
                        <a:rPr lang="en-US" sz="1462">
                          <a:solidFill>
                            <a:srgbClr val="334155"/>
                          </a:solidFill>
                          <a:latin typeface="Lato"/>
                          <a:ea typeface="Lato"/>
                          <a:cs typeface="Lato"/>
                          <a:sym typeface="Lato"/>
                        </a:rPr>
                        <a:t>Crear batería de pruebas automatizadas</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c>
                  <a:txBody>
                    <a:bodyPr anchor="t" rtlCol="false"/>
                    <a:lstStyle/>
                    <a:p>
                      <a:pPr algn="l">
                        <a:lnSpc>
                          <a:spcPts val="1755"/>
                        </a:lnSpc>
                        <a:defRPr/>
                      </a:pPr>
                      <a:r>
                        <a:rPr lang="en-US" sz="1462">
                          <a:solidFill>
                            <a:srgbClr val="334155"/>
                          </a:solidFill>
                          <a:latin typeface="Lato"/>
                          <a:ea typeface="Lato"/>
                          <a:cs typeface="Lato"/>
                          <a:sym typeface="Lato"/>
                        </a:rPr>
                        <a:t>Asegura la estabilidad previniendo fallos de regresión antes de liberar actualizaciones del software.</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c>
                  <a:txBody>
                    <a:bodyPr anchor="t" rtlCol="false"/>
                    <a:lstStyle/>
                    <a:p>
                      <a:pPr algn="ctr">
                        <a:lnSpc>
                          <a:spcPts val="1755"/>
                        </a:lnSpc>
                        <a:defRPr/>
                      </a:pPr>
                      <a:r>
                        <a:rPr lang="en-US" sz="1462">
                          <a:solidFill>
                            <a:srgbClr val="334155"/>
                          </a:solidFill>
                          <a:latin typeface="Lato"/>
                          <a:ea typeface="Lato"/>
                          <a:cs typeface="Lato"/>
                          <a:sym typeface="Lato"/>
                        </a:rPr>
                        <a:t>Baja</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r>
              <a:tr h="704850">
                <a:tc>
                  <a:txBody>
                    <a:bodyPr anchor="t" rtlCol="false"/>
                    <a:lstStyle/>
                    <a:p>
                      <a:pPr algn="ctr">
                        <a:lnSpc>
                          <a:spcPts val="1755"/>
                        </a:lnSpc>
                        <a:defRPr/>
                      </a:pPr>
                      <a:r>
                        <a:rPr lang="en-US" b="true" sz="1462">
                          <a:solidFill>
                            <a:srgbClr val="334155"/>
                          </a:solidFill>
                          <a:latin typeface="Lato Bold"/>
                          <a:ea typeface="Lato Bold"/>
                          <a:cs typeface="Lato Bold"/>
                          <a:sym typeface="Lato Bold"/>
                        </a:rPr>
                        <a:t>9</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1755"/>
                        </a:lnSpc>
                        <a:defRPr/>
                      </a:pPr>
                      <a:r>
                        <a:rPr lang="en-US" sz="1462">
                          <a:solidFill>
                            <a:srgbClr val="334155"/>
                          </a:solidFill>
                          <a:latin typeface="Lato"/>
                          <a:ea typeface="Lato"/>
                          <a:cs typeface="Lato"/>
                          <a:sym typeface="Lato"/>
                        </a:rPr>
                        <a:t>Búsqueda por código mediante cámara</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1755"/>
                        </a:lnSpc>
                        <a:defRPr/>
                      </a:pPr>
                      <a:r>
                        <a:rPr lang="en-US" sz="1462">
                          <a:solidFill>
                            <a:srgbClr val="334155"/>
                          </a:solidFill>
                          <a:latin typeface="Lato"/>
                          <a:ea typeface="Lato"/>
                          <a:cs typeface="Lato"/>
                          <a:sym typeface="Lato"/>
                        </a:rPr>
                        <a:t>Agiliza el levantamiento físico localizando activos con el sensor de teléfonos o lectores externos.</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ctr">
                        <a:lnSpc>
                          <a:spcPts val="1755"/>
                        </a:lnSpc>
                        <a:defRPr/>
                      </a:pP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r h="704850">
                <a:tc>
                  <a:txBody>
                    <a:bodyPr anchor="t" rtlCol="false"/>
                    <a:lstStyle/>
                    <a:p>
                      <a:pPr algn="ctr">
                        <a:lnSpc>
                          <a:spcPts val="1755"/>
                        </a:lnSpc>
                        <a:defRPr/>
                      </a:pPr>
                      <a:r>
                        <a:rPr lang="en-US" b="true" sz="1462">
                          <a:solidFill>
                            <a:srgbClr val="334155"/>
                          </a:solidFill>
                          <a:latin typeface="Lato Bold"/>
                          <a:ea typeface="Lato Bold"/>
                          <a:cs typeface="Lato Bold"/>
                          <a:sym typeface="Lato Bold"/>
                        </a:rPr>
                        <a:t>10</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c>
                  <a:txBody>
                    <a:bodyPr anchor="t" rtlCol="false"/>
                    <a:lstStyle/>
                    <a:p>
                      <a:pPr algn="l">
                        <a:lnSpc>
                          <a:spcPts val="1755"/>
                        </a:lnSpc>
                        <a:defRPr/>
                      </a:pPr>
                      <a:r>
                        <a:rPr lang="en-US" sz="1462">
                          <a:solidFill>
                            <a:srgbClr val="334155"/>
                          </a:solidFill>
                          <a:latin typeface="Lato"/>
                          <a:ea typeface="Lato"/>
                          <a:cs typeface="Lato"/>
                          <a:sym typeface="Lato"/>
                        </a:rPr>
                        <a:t>Optimizar interfaz para móviles</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c>
                  <a:txBody>
                    <a:bodyPr anchor="t" rtlCol="false"/>
                    <a:lstStyle/>
                    <a:p>
                      <a:pPr algn="l">
                        <a:lnSpc>
                          <a:spcPts val="1755"/>
                        </a:lnSpc>
                        <a:defRPr/>
                      </a:pPr>
                      <a:r>
                        <a:rPr lang="en-US" sz="1462">
                          <a:solidFill>
                            <a:srgbClr val="334155"/>
                          </a:solidFill>
                          <a:latin typeface="Lato"/>
                          <a:ea typeface="Lato"/>
                          <a:cs typeface="Lato"/>
                          <a:sym typeface="Lato"/>
                        </a:rPr>
                        <a:t>Garantiza la portabilidad para técnicos de campo, facilitando el uso cómodo en tabletas o smartphones.</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c>
                  <a:txBody>
                    <a:bodyPr anchor="t" rtlCol="false"/>
                    <a:lstStyle/>
                    <a:p>
                      <a:pPr algn="ctr">
                        <a:lnSpc>
                          <a:spcPts val="1755"/>
                        </a:lnSpc>
                        <a:defRPr/>
                      </a:pP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r>
            </a:tbl>
          </a:graphicData>
        </a:graphic>
      </p:graphicFrame>
      <p:grpSp>
        <p:nvGrpSpPr>
          <p:cNvPr name="Group 7" id="7"/>
          <p:cNvGrpSpPr/>
          <p:nvPr/>
        </p:nvGrpSpPr>
        <p:grpSpPr>
          <a:xfrm rot="0">
            <a:off x="16030127" y="2564545"/>
            <a:ext cx="514350" cy="250031"/>
            <a:chOff x="0" y="0"/>
            <a:chExt cx="685800" cy="333375"/>
          </a:xfrm>
        </p:grpSpPr>
        <p:sp>
          <p:nvSpPr>
            <p:cNvPr name="Freeform 8" id="8" descr="image.png"/>
            <p:cNvSpPr/>
            <p:nvPr/>
          </p:nvSpPr>
          <p:spPr>
            <a:xfrm flipH="false" flipV="false" rot="0">
              <a:off x="0" y="0"/>
              <a:ext cx="685800" cy="333375"/>
            </a:xfrm>
            <a:custGeom>
              <a:avLst/>
              <a:gdLst/>
              <a:ahLst/>
              <a:cxnLst/>
              <a:rect r="r" b="b" t="t" l="l"/>
              <a:pathLst>
                <a:path h="333375" w="685800">
                  <a:moveTo>
                    <a:pt x="0" y="0"/>
                  </a:moveTo>
                  <a:lnTo>
                    <a:pt x="685800" y="0"/>
                  </a:lnTo>
                  <a:lnTo>
                    <a:pt x="685800" y="333375"/>
                  </a:lnTo>
                  <a:lnTo>
                    <a:pt x="0" y="333375"/>
                  </a:lnTo>
                  <a:lnTo>
                    <a:pt x="0" y="0"/>
                  </a:lnTo>
                  <a:close/>
                </a:path>
              </a:pathLst>
            </a:custGeom>
            <a:blipFill>
              <a:blip r:embed="rId3"/>
              <a:stretch>
                <a:fillRect l="0" t="0" r="0" b="-5638"/>
              </a:stretch>
            </a:blipFill>
          </p:spPr>
        </p:sp>
      </p:grpSp>
      <p:grpSp>
        <p:nvGrpSpPr>
          <p:cNvPr name="Group 9" id="9"/>
          <p:cNvGrpSpPr/>
          <p:nvPr/>
        </p:nvGrpSpPr>
        <p:grpSpPr>
          <a:xfrm rot="0">
            <a:off x="16044415" y="3264380"/>
            <a:ext cx="514350" cy="250031"/>
            <a:chOff x="0" y="0"/>
            <a:chExt cx="685800" cy="333375"/>
          </a:xfrm>
        </p:grpSpPr>
        <p:sp>
          <p:nvSpPr>
            <p:cNvPr name="Freeform 10" id="10" descr="image.png"/>
            <p:cNvSpPr/>
            <p:nvPr/>
          </p:nvSpPr>
          <p:spPr>
            <a:xfrm flipH="false" flipV="false" rot="0">
              <a:off x="0" y="0"/>
              <a:ext cx="685800" cy="333375"/>
            </a:xfrm>
            <a:custGeom>
              <a:avLst/>
              <a:gdLst/>
              <a:ahLst/>
              <a:cxnLst/>
              <a:rect r="r" b="b" t="t" l="l"/>
              <a:pathLst>
                <a:path h="333375" w="685800">
                  <a:moveTo>
                    <a:pt x="0" y="0"/>
                  </a:moveTo>
                  <a:lnTo>
                    <a:pt x="685800" y="0"/>
                  </a:lnTo>
                  <a:lnTo>
                    <a:pt x="685800" y="333375"/>
                  </a:lnTo>
                  <a:lnTo>
                    <a:pt x="0" y="333375"/>
                  </a:lnTo>
                  <a:lnTo>
                    <a:pt x="0" y="0"/>
                  </a:lnTo>
                  <a:close/>
                </a:path>
              </a:pathLst>
            </a:custGeom>
            <a:blipFill>
              <a:blip r:embed="rId4"/>
              <a:stretch>
                <a:fillRect l="0" t="0" r="0" b="-76"/>
              </a:stretch>
            </a:blipFill>
          </p:spPr>
        </p:sp>
      </p:grpSp>
      <p:grpSp>
        <p:nvGrpSpPr>
          <p:cNvPr name="Group 11" id="11"/>
          <p:cNvGrpSpPr/>
          <p:nvPr/>
        </p:nvGrpSpPr>
        <p:grpSpPr>
          <a:xfrm rot="0">
            <a:off x="16030127" y="3969768"/>
            <a:ext cx="514350" cy="194459"/>
            <a:chOff x="0" y="0"/>
            <a:chExt cx="685800" cy="259278"/>
          </a:xfrm>
        </p:grpSpPr>
        <p:sp>
          <p:nvSpPr>
            <p:cNvPr name="Freeform 12" id="12" descr="image.png"/>
            <p:cNvSpPr/>
            <p:nvPr/>
          </p:nvSpPr>
          <p:spPr>
            <a:xfrm flipH="false" flipV="false" rot="0">
              <a:off x="0" y="0"/>
              <a:ext cx="685800" cy="259278"/>
            </a:xfrm>
            <a:custGeom>
              <a:avLst/>
              <a:gdLst/>
              <a:ahLst/>
              <a:cxnLst/>
              <a:rect r="r" b="b" t="t" l="l"/>
              <a:pathLst>
                <a:path h="259278" w="685800">
                  <a:moveTo>
                    <a:pt x="0" y="0"/>
                  </a:moveTo>
                  <a:lnTo>
                    <a:pt x="685800" y="0"/>
                  </a:lnTo>
                  <a:lnTo>
                    <a:pt x="685800" y="259278"/>
                  </a:lnTo>
                  <a:lnTo>
                    <a:pt x="0" y="259278"/>
                  </a:lnTo>
                  <a:lnTo>
                    <a:pt x="0" y="0"/>
                  </a:lnTo>
                  <a:close/>
                </a:path>
              </a:pathLst>
            </a:custGeom>
            <a:blipFill>
              <a:blip r:embed="rId5"/>
              <a:stretch>
                <a:fillRect l="0" t="-14289" r="0" b="-14387"/>
              </a:stretch>
            </a:blipFill>
          </p:spPr>
        </p:sp>
      </p:grpSp>
      <p:grpSp>
        <p:nvGrpSpPr>
          <p:cNvPr name="Group 13" id="13"/>
          <p:cNvGrpSpPr/>
          <p:nvPr/>
        </p:nvGrpSpPr>
        <p:grpSpPr>
          <a:xfrm rot="0">
            <a:off x="15958690" y="4664041"/>
            <a:ext cx="685800" cy="250031"/>
            <a:chOff x="0" y="0"/>
            <a:chExt cx="914400" cy="333375"/>
          </a:xfrm>
        </p:grpSpPr>
        <p:sp>
          <p:nvSpPr>
            <p:cNvPr name="Freeform 14" id="14" descr="image.png"/>
            <p:cNvSpPr/>
            <p:nvPr/>
          </p:nvSpPr>
          <p:spPr>
            <a:xfrm flipH="false" flipV="false" rot="0">
              <a:off x="0" y="0"/>
              <a:ext cx="914400" cy="333375"/>
            </a:xfrm>
            <a:custGeom>
              <a:avLst/>
              <a:gdLst/>
              <a:ahLst/>
              <a:cxnLst/>
              <a:rect r="r" b="b" t="t" l="l"/>
              <a:pathLst>
                <a:path h="333375" w="914400">
                  <a:moveTo>
                    <a:pt x="0" y="0"/>
                  </a:moveTo>
                  <a:lnTo>
                    <a:pt x="914400" y="0"/>
                  </a:lnTo>
                  <a:lnTo>
                    <a:pt x="914400" y="333375"/>
                  </a:lnTo>
                  <a:lnTo>
                    <a:pt x="0" y="333375"/>
                  </a:lnTo>
                  <a:lnTo>
                    <a:pt x="0" y="0"/>
                  </a:lnTo>
                  <a:close/>
                </a:path>
              </a:pathLst>
            </a:custGeom>
            <a:blipFill>
              <a:blip r:embed="rId6"/>
              <a:stretch>
                <a:fillRect l="0" t="0" r="0" b="-758"/>
              </a:stretch>
            </a:blipFill>
          </p:spPr>
        </p:sp>
      </p:grpSp>
      <p:grpSp>
        <p:nvGrpSpPr>
          <p:cNvPr name="Group 15" id="15"/>
          <p:cNvGrpSpPr/>
          <p:nvPr/>
        </p:nvGrpSpPr>
        <p:grpSpPr>
          <a:xfrm rot="0">
            <a:off x="15958690" y="5319417"/>
            <a:ext cx="685800" cy="250031"/>
            <a:chOff x="0" y="0"/>
            <a:chExt cx="914400" cy="333375"/>
          </a:xfrm>
        </p:grpSpPr>
        <p:sp>
          <p:nvSpPr>
            <p:cNvPr name="Freeform 16" id="16" descr="image.png"/>
            <p:cNvSpPr/>
            <p:nvPr/>
          </p:nvSpPr>
          <p:spPr>
            <a:xfrm flipH="false" flipV="false" rot="0">
              <a:off x="0" y="0"/>
              <a:ext cx="914400" cy="333375"/>
            </a:xfrm>
            <a:custGeom>
              <a:avLst/>
              <a:gdLst/>
              <a:ahLst/>
              <a:cxnLst/>
              <a:rect r="r" b="b" t="t" l="l"/>
              <a:pathLst>
                <a:path h="333375" w="914400">
                  <a:moveTo>
                    <a:pt x="0" y="0"/>
                  </a:moveTo>
                  <a:lnTo>
                    <a:pt x="914400" y="0"/>
                  </a:lnTo>
                  <a:lnTo>
                    <a:pt x="914400" y="333375"/>
                  </a:lnTo>
                  <a:lnTo>
                    <a:pt x="0" y="333375"/>
                  </a:lnTo>
                  <a:lnTo>
                    <a:pt x="0" y="0"/>
                  </a:lnTo>
                  <a:close/>
                </a:path>
              </a:pathLst>
            </a:custGeom>
            <a:blipFill>
              <a:blip r:embed="rId7"/>
              <a:stretch>
                <a:fillRect l="0" t="0" r="0" b="-758"/>
              </a:stretch>
            </a:blipFill>
          </p:spPr>
        </p:sp>
      </p:grpSp>
      <p:grpSp>
        <p:nvGrpSpPr>
          <p:cNvPr name="Group 17" id="17"/>
          <p:cNvGrpSpPr/>
          <p:nvPr/>
        </p:nvGrpSpPr>
        <p:grpSpPr>
          <a:xfrm rot="0">
            <a:off x="15958690" y="6063701"/>
            <a:ext cx="685800" cy="250031"/>
            <a:chOff x="0" y="0"/>
            <a:chExt cx="914400" cy="333375"/>
          </a:xfrm>
        </p:grpSpPr>
        <p:sp>
          <p:nvSpPr>
            <p:cNvPr name="Freeform 18" id="18" descr="image.png"/>
            <p:cNvSpPr/>
            <p:nvPr/>
          </p:nvSpPr>
          <p:spPr>
            <a:xfrm flipH="false" flipV="false" rot="0">
              <a:off x="0" y="0"/>
              <a:ext cx="914400" cy="333375"/>
            </a:xfrm>
            <a:custGeom>
              <a:avLst/>
              <a:gdLst/>
              <a:ahLst/>
              <a:cxnLst/>
              <a:rect r="r" b="b" t="t" l="l"/>
              <a:pathLst>
                <a:path h="333375" w="914400">
                  <a:moveTo>
                    <a:pt x="0" y="0"/>
                  </a:moveTo>
                  <a:lnTo>
                    <a:pt x="914400" y="0"/>
                  </a:lnTo>
                  <a:lnTo>
                    <a:pt x="914400" y="333375"/>
                  </a:lnTo>
                  <a:lnTo>
                    <a:pt x="0" y="333375"/>
                  </a:lnTo>
                  <a:lnTo>
                    <a:pt x="0" y="0"/>
                  </a:lnTo>
                  <a:close/>
                </a:path>
              </a:pathLst>
            </a:custGeom>
            <a:blipFill>
              <a:blip r:embed="rId6"/>
              <a:stretch>
                <a:fillRect l="0" t="0" r="0" b="-758"/>
              </a:stretch>
            </a:blipFill>
          </p:spPr>
        </p:sp>
      </p:grpSp>
      <p:grpSp>
        <p:nvGrpSpPr>
          <p:cNvPr name="Group 19" id="19"/>
          <p:cNvGrpSpPr/>
          <p:nvPr/>
        </p:nvGrpSpPr>
        <p:grpSpPr>
          <a:xfrm rot="0">
            <a:off x="16044415" y="6809032"/>
            <a:ext cx="542925" cy="250031"/>
            <a:chOff x="0" y="0"/>
            <a:chExt cx="723900" cy="333375"/>
          </a:xfrm>
        </p:grpSpPr>
        <p:sp>
          <p:nvSpPr>
            <p:cNvPr name="Freeform 20" id="20" descr="image.png"/>
            <p:cNvSpPr/>
            <p:nvPr/>
          </p:nvSpPr>
          <p:spPr>
            <a:xfrm flipH="false" flipV="false" rot="0">
              <a:off x="0" y="0"/>
              <a:ext cx="723900" cy="333375"/>
            </a:xfrm>
            <a:custGeom>
              <a:avLst/>
              <a:gdLst/>
              <a:ahLst/>
              <a:cxnLst/>
              <a:rect r="r" b="b" t="t" l="l"/>
              <a:pathLst>
                <a:path h="333375" w="723900">
                  <a:moveTo>
                    <a:pt x="0" y="0"/>
                  </a:moveTo>
                  <a:lnTo>
                    <a:pt x="723900" y="0"/>
                  </a:lnTo>
                  <a:lnTo>
                    <a:pt x="723900" y="333375"/>
                  </a:lnTo>
                  <a:lnTo>
                    <a:pt x="0" y="333375"/>
                  </a:lnTo>
                  <a:lnTo>
                    <a:pt x="0" y="0"/>
                  </a:lnTo>
                  <a:close/>
                </a:path>
              </a:pathLst>
            </a:custGeom>
            <a:blipFill>
              <a:blip r:embed="rId8"/>
              <a:stretch>
                <a:fillRect l="0" t="0" r="0" b="-220"/>
              </a:stretch>
            </a:blipFill>
          </p:spPr>
        </p:sp>
      </p:grpSp>
      <p:grpSp>
        <p:nvGrpSpPr>
          <p:cNvPr name="Group 21" id="21"/>
          <p:cNvGrpSpPr/>
          <p:nvPr/>
        </p:nvGrpSpPr>
        <p:grpSpPr>
          <a:xfrm rot="0">
            <a:off x="16030127" y="7552287"/>
            <a:ext cx="542925" cy="250031"/>
            <a:chOff x="0" y="0"/>
            <a:chExt cx="723900" cy="333375"/>
          </a:xfrm>
        </p:grpSpPr>
        <p:sp>
          <p:nvSpPr>
            <p:cNvPr name="Freeform 22" id="22" descr="image.png"/>
            <p:cNvSpPr/>
            <p:nvPr/>
          </p:nvSpPr>
          <p:spPr>
            <a:xfrm flipH="false" flipV="false" rot="0">
              <a:off x="0" y="0"/>
              <a:ext cx="723900" cy="333375"/>
            </a:xfrm>
            <a:custGeom>
              <a:avLst/>
              <a:gdLst/>
              <a:ahLst/>
              <a:cxnLst/>
              <a:rect r="r" b="b" t="t" l="l"/>
              <a:pathLst>
                <a:path h="333375" w="723900">
                  <a:moveTo>
                    <a:pt x="0" y="0"/>
                  </a:moveTo>
                  <a:lnTo>
                    <a:pt x="723900" y="0"/>
                  </a:lnTo>
                  <a:lnTo>
                    <a:pt x="723900" y="333375"/>
                  </a:lnTo>
                  <a:lnTo>
                    <a:pt x="0" y="333375"/>
                  </a:lnTo>
                  <a:lnTo>
                    <a:pt x="0" y="0"/>
                  </a:lnTo>
                  <a:close/>
                </a:path>
              </a:pathLst>
            </a:custGeom>
            <a:blipFill>
              <a:blip r:embed="rId9"/>
              <a:stretch>
                <a:fillRect l="0" t="0" r="0" b="-5786"/>
              </a:stretch>
            </a:blipFill>
          </p:spPr>
        </p:sp>
      </p:grpSp>
      <p:grpSp>
        <p:nvGrpSpPr>
          <p:cNvPr name="Group 23" id="23"/>
          <p:cNvGrpSpPr/>
          <p:nvPr/>
        </p:nvGrpSpPr>
        <p:grpSpPr>
          <a:xfrm rot="0">
            <a:off x="16030127" y="8296570"/>
            <a:ext cx="542925" cy="250031"/>
            <a:chOff x="0" y="0"/>
            <a:chExt cx="723900" cy="333375"/>
          </a:xfrm>
        </p:grpSpPr>
        <p:sp>
          <p:nvSpPr>
            <p:cNvPr name="Freeform 24" id="24" descr="image.png"/>
            <p:cNvSpPr/>
            <p:nvPr/>
          </p:nvSpPr>
          <p:spPr>
            <a:xfrm flipH="false" flipV="false" rot="0">
              <a:off x="0" y="0"/>
              <a:ext cx="723900" cy="333375"/>
            </a:xfrm>
            <a:custGeom>
              <a:avLst/>
              <a:gdLst/>
              <a:ahLst/>
              <a:cxnLst/>
              <a:rect r="r" b="b" t="t" l="l"/>
              <a:pathLst>
                <a:path h="333375" w="723900">
                  <a:moveTo>
                    <a:pt x="0" y="0"/>
                  </a:moveTo>
                  <a:lnTo>
                    <a:pt x="723900" y="0"/>
                  </a:lnTo>
                  <a:lnTo>
                    <a:pt x="723900" y="333375"/>
                  </a:lnTo>
                  <a:lnTo>
                    <a:pt x="0" y="333375"/>
                  </a:lnTo>
                  <a:lnTo>
                    <a:pt x="0" y="0"/>
                  </a:lnTo>
                  <a:close/>
                </a:path>
              </a:pathLst>
            </a:custGeom>
            <a:blipFill>
              <a:blip r:embed="rId10"/>
              <a:stretch>
                <a:fillRect l="0" t="0" r="0" b="-5786"/>
              </a:stretch>
            </a:blipFill>
          </p:spPr>
        </p:sp>
      </p:grpSp>
      <p:grpSp>
        <p:nvGrpSpPr>
          <p:cNvPr name="Group 25" id="25"/>
          <p:cNvGrpSpPr/>
          <p:nvPr/>
        </p:nvGrpSpPr>
        <p:grpSpPr>
          <a:xfrm rot="0">
            <a:off x="16030127" y="9040863"/>
            <a:ext cx="542925" cy="250031"/>
            <a:chOff x="0" y="0"/>
            <a:chExt cx="723900" cy="333375"/>
          </a:xfrm>
        </p:grpSpPr>
        <p:sp>
          <p:nvSpPr>
            <p:cNvPr name="Freeform 26" id="26" descr="image.png"/>
            <p:cNvSpPr/>
            <p:nvPr/>
          </p:nvSpPr>
          <p:spPr>
            <a:xfrm flipH="false" flipV="false" rot="0">
              <a:off x="0" y="0"/>
              <a:ext cx="723900" cy="333375"/>
            </a:xfrm>
            <a:custGeom>
              <a:avLst/>
              <a:gdLst/>
              <a:ahLst/>
              <a:cxnLst/>
              <a:rect r="r" b="b" t="t" l="l"/>
              <a:pathLst>
                <a:path h="333375" w="723900">
                  <a:moveTo>
                    <a:pt x="0" y="0"/>
                  </a:moveTo>
                  <a:lnTo>
                    <a:pt x="723900" y="0"/>
                  </a:lnTo>
                  <a:lnTo>
                    <a:pt x="723900" y="333375"/>
                  </a:lnTo>
                  <a:lnTo>
                    <a:pt x="0" y="333375"/>
                  </a:lnTo>
                  <a:lnTo>
                    <a:pt x="0" y="0"/>
                  </a:lnTo>
                  <a:close/>
                </a:path>
              </a:pathLst>
            </a:custGeom>
            <a:blipFill>
              <a:blip r:embed="rId9"/>
              <a:stretch>
                <a:fillRect l="0" t="0" r="0" b="-5786"/>
              </a:stretch>
            </a:blipFill>
          </p:spPr>
        </p:sp>
      </p:grpSp>
      <p:sp>
        <p:nvSpPr>
          <p:cNvPr name="TextBox 27" id="27"/>
          <p:cNvSpPr txBox="true"/>
          <p:nvPr/>
        </p:nvSpPr>
        <p:spPr>
          <a:xfrm rot="0">
            <a:off x="1257300" y="638175"/>
            <a:ext cx="9023866" cy="656315"/>
          </a:xfrm>
          <a:prstGeom prst="rect">
            <a:avLst/>
          </a:prstGeom>
        </p:spPr>
        <p:txBody>
          <a:bodyPr anchor="t" rtlCol="false" tIns="0" lIns="0" bIns="0" rIns="0">
            <a:spAutoFit/>
          </a:bodyPr>
          <a:lstStyle/>
          <a:p>
            <a:pPr algn="l">
              <a:lnSpc>
                <a:spcPts val="5047"/>
              </a:lnSpc>
            </a:pPr>
            <a:r>
              <a:rPr lang="en-US" b="true" sz="3825">
                <a:solidFill>
                  <a:srgbClr val="FFFFFF"/>
                </a:solidFill>
                <a:latin typeface="Poppins Bold"/>
                <a:ea typeface="Poppins Bold"/>
                <a:cs typeface="Poppins Bold"/>
                <a:sym typeface="Poppins Bold"/>
              </a:rPr>
              <a:t>Matriz de Prioridades y Justificación</a:t>
            </a:r>
          </a:p>
        </p:txBody>
      </p:sp>
      <p:grpSp>
        <p:nvGrpSpPr>
          <p:cNvPr name="Group 28" id="28"/>
          <p:cNvGrpSpPr/>
          <p:nvPr/>
        </p:nvGrpSpPr>
        <p:grpSpPr>
          <a:xfrm rot="0">
            <a:off x="1000125" y="714375"/>
            <a:ext cx="85725" cy="534219"/>
            <a:chOff x="0" y="0"/>
            <a:chExt cx="114300" cy="712292"/>
          </a:xfrm>
        </p:grpSpPr>
        <p:sp>
          <p:nvSpPr>
            <p:cNvPr name="Freeform 29" id="29"/>
            <p:cNvSpPr/>
            <p:nvPr/>
          </p:nvSpPr>
          <p:spPr>
            <a:xfrm flipH="false" flipV="false" rot="0">
              <a:off x="0" y="0"/>
              <a:ext cx="114300" cy="712343"/>
            </a:xfrm>
            <a:custGeom>
              <a:avLst/>
              <a:gdLst/>
              <a:ahLst/>
              <a:cxnLst/>
              <a:rect r="r" b="b" t="t" l="l"/>
              <a:pathLst>
                <a:path h="712343" w="114300">
                  <a:moveTo>
                    <a:pt x="0" y="0"/>
                  </a:moveTo>
                  <a:lnTo>
                    <a:pt x="114300" y="0"/>
                  </a:lnTo>
                  <a:lnTo>
                    <a:pt x="114300" y="712343"/>
                  </a:lnTo>
                  <a:lnTo>
                    <a:pt x="0" y="712343"/>
                  </a:lnTo>
                  <a:close/>
                </a:path>
              </a:pathLst>
            </a:custGeom>
            <a:solidFill>
              <a:srgbClr val="F8FAFC"/>
            </a:solid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grpSp>
        <p:nvGrpSpPr>
          <p:cNvPr name="Group 2" id="2"/>
          <p:cNvGrpSpPr/>
          <p:nvPr/>
        </p:nvGrpSpPr>
        <p:grpSpPr>
          <a:xfrm rot="0">
            <a:off x="1143000" y="6628733"/>
            <a:ext cx="3679031" cy="1171575"/>
            <a:chOff x="0" y="0"/>
            <a:chExt cx="4905375" cy="1562100"/>
          </a:xfrm>
        </p:grpSpPr>
        <p:sp>
          <p:nvSpPr>
            <p:cNvPr name="Freeform 3" id="3" descr="image.png"/>
            <p:cNvSpPr/>
            <p:nvPr/>
          </p:nvSpPr>
          <p:spPr>
            <a:xfrm flipH="false" flipV="false" rot="0">
              <a:off x="0" y="0"/>
              <a:ext cx="4905375" cy="1562100"/>
            </a:xfrm>
            <a:custGeom>
              <a:avLst/>
              <a:gdLst/>
              <a:ahLst/>
              <a:cxnLst/>
              <a:rect r="r" b="b" t="t" l="l"/>
              <a:pathLst>
                <a:path h="1562100" w="4905375">
                  <a:moveTo>
                    <a:pt x="355600" y="0"/>
                  </a:moveTo>
                  <a:lnTo>
                    <a:pt x="4549775" y="0"/>
                  </a:lnTo>
                  <a:cubicBezTo>
                    <a:pt x="4746168" y="0"/>
                    <a:pt x="4905375" y="159208"/>
                    <a:pt x="4905375" y="355600"/>
                  </a:cubicBezTo>
                  <a:lnTo>
                    <a:pt x="4905375" y="1206500"/>
                  </a:lnTo>
                  <a:cubicBezTo>
                    <a:pt x="4905375" y="1402892"/>
                    <a:pt x="4746168" y="1562100"/>
                    <a:pt x="4549775" y="1562100"/>
                  </a:cubicBezTo>
                  <a:lnTo>
                    <a:pt x="355600" y="1562100"/>
                  </a:lnTo>
                  <a:cubicBezTo>
                    <a:pt x="159208" y="1562100"/>
                    <a:pt x="0" y="1402892"/>
                    <a:pt x="0" y="1206500"/>
                  </a:cubicBezTo>
                  <a:lnTo>
                    <a:pt x="0" y="355600"/>
                  </a:lnTo>
                  <a:cubicBezTo>
                    <a:pt x="0" y="159208"/>
                    <a:pt x="159208" y="0"/>
                    <a:pt x="355600" y="0"/>
                  </a:cubicBezTo>
                  <a:close/>
                </a:path>
              </a:pathLst>
            </a:custGeom>
            <a:solidFill>
              <a:srgbClr val="FFFFFF"/>
            </a:solidFill>
          </p:spPr>
        </p:sp>
      </p:grpSp>
      <p:grpSp>
        <p:nvGrpSpPr>
          <p:cNvPr name="Group 4" id="4"/>
          <p:cNvGrpSpPr/>
          <p:nvPr/>
        </p:nvGrpSpPr>
        <p:grpSpPr>
          <a:xfrm rot="0">
            <a:off x="5107781" y="6628733"/>
            <a:ext cx="3679031" cy="1171575"/>
            <a:chOff x="0" y="0"/>
            <a:chExt cx="4905375" cy="1562100"/>
          </a:xfrm>
        </p:grpSpPr>
        <p:sp>
          <p:nvSpPr>
            <p:cNvPr name="Freeform 5" id="5" descr="image.png"/>
            <p:cNvSpPr/>
            <p:nvPr/>
          </p:nvSpPr>
          <p:spPr>
            <a:xfrm flipH="false" flipV="false" rot="0">
              <a:off x="0" y="0"/>
              <a:ext cx="4905375" cy="1562100"/>
            </a:xfrm>
            <a:custGeom>
              <a:avLst/>
              <a:gdLst/>
              <a:ahLst/>
              <a:cxnLst/>
              <a:rect r="r" b="b" t="t" l="l"/>
              <a:pathLst>
                <a:path h="1562100" w="4905375">
                  <a:moveTo>
                    <a:pt x="469900" y="0"/>
                  </a:moveTo>
                  <a:lnTo>
                    <a:pt x="4435475" y="0"/>
                  </a:lnTo>
                  <a:cubicBezTo>
                    <a:pt x="4694994" y="0"/>
                    <a:pt x="4905375" y="210381"/>
                    <a:pt x="4905375" y="469900"/>
                  </a:cubicBezTo>
                  <a:lnTo>
                    <a:pt x="4905375" y="1092200"/>
                  </a:lnTo>
                  <a:cubicBezTo>
                    <a:pt x="4905375" y="1351719"/>
                    <a:pt x="4694994" y="1562100"/>
                    <a:pt x="4435475" y="1562100"/>
                  </a:cubicBezTo>
                  <a:lnTo>
                    <a:pt x="469900" y="1562100"/>
                  </a:lnTo>
                  <a:cubicBezTo>
                    <a:pt x="210381" y="1562100"/>
                    <a:pt x="0" y="1351719"/>
                    <a:pt x="0" y="1092200"/>
                  </a:cubicBezTo>
                  <a:lnTo>
                    <a:pt x="0" y="469900"/>
                  </a:lnTo>
                  <a:cubicBezTo>
                    <a:pt x="0" y="210381"/>
                    <a:pt x="210381" y="0"/>
                    <a:pt x="469900" y="0"/>
                  </a:cubicBezTo>
                  <a:close/>
                </a:path>
              </a:pathLst>
            </a:custGeom>
            <a:solidFill>
              <a:srgbClr val="F5F5F5"/>
            </a:solidFill>
          </p:spPr>
        </p:sp>
      </p:grpSp>
      <p:grpSp>
        <p:nvGrpSpPr>
          <p:cNvPr name="Group 6" id="6"/>
          <p:cNvGrpSpPr/>
          <p:nvPr/>
        </p:nvGrpSpPr>
        <p:grpSpPr>
          <a:xfrm rot="0">
            <a:off x="9501188" y="0"/>
            <a:ext cx="8786812" cy="10287000"/>
            <a:chOff x="0" y="0"/>
            <a:chExt cx="11715750" cy="13716000"/>
          </a:xfrm>
        </p:grpSpPr>
        <p:sp>
          <p:nvSpPr>
            <p:cNvPr name="Freeform 7" id="7" descr="image.png"/>
            <p:cNvSpPr/>
            <p:nvPr/>
          </p:nvSpPr>
          <p:spPr>
            <a:xfrm flipH="false" flipV="false" rot="0">
              <a:off x="0" y="0"/>
              <a:ext cx="11715750" cy="13716000"/>
            </a:xfrm>
            <a:custGeom>
              <a:avLst/>
              <a:gdLst/>
              <a:ahLst/>
              <a:cxnLst/>
              <a:rect r="r" b="b" t="t" l="l"/>
              <a:pathLst>
                <a:path h="13716000" w="11715750">
                  <a:moveTo>
                    <a:pt x="0" y="0"/>
                  </a:moveTo>
                  <a:lnTo>
                    <a:pt x="11715750" y="0"/>
                  </a:lnTo>
                  <a:lnTo>
                    <a:pt x="11715750" y="13716000"/>
                  </a:lnTo>
                  <a:lnTo>
                    <a:pt x="0" y="13716000"/>
                  </a:lnTo>
                  <a:lnTo>
                    <a:pt x="0" y="0"/>
                  </a:lnTo>
                  <a:close/>
                </a:path>
              </a:pathLst>
            </a:custGeom>
            <a:blipFill>
              <a:blip r:embed="rId2"/>
              <a:stretch>
                <a:fillRect l="0" t="0" r="0" b="0"/>
              </a:stretch>
            </a:blipFill>
          </p:spPr>
        </p:sp>
      </p:grpSp>
      <p:sp>
        <p:nvSpPr>
          <p:cNvPr name="TextBox 8" id="8"/>
          <p:cNvSpPr txBox="true"/>
          <p:nvPr/>
        </p:nvSpPr>
        <p:spPr>
          <a:xfrm rot="0">
            <a:off x="1143000" y="2467642"/>
            <a:ext cx="8026003" cy="319088"/>
          </a:xfrm>
          <a:prstGeom prst="rect">
            <a:avLst/>
          </a:prstGeom>
        </p:spPr>
        <p:txBody>
          <a:bodyPr anchor="t" rtlCol="false" tIns="0" lIns="0" bIns="0" rIns="0">
            <a:spAutoFit/>
          </a:bodyPr>
          <a:lstStyle/>
          <a:p>
            <a:pPr algn="l">
              <a:lnSpc>
                <a:spcPts val="2430"/>
              </a:lnSpc>
            </a:pPr>
            <a:r>
              <a:rPr lang="en-US" b="true" sz="2025">
                <a:solidFill>
                  <a:srgbClr val="FFFFFF"/>
                </a:solidFill>
                <a:latin typeface="Poppins Bold"/>
                <a:ea typeface="Poppins Bold"/>
                <a:cs typeface="Poppins Bold"/>
                <a:sym typeface="Poppins Bold"/>
              </a:rPr>
              <a:t>PARTE 3. PLANIFICACIÓN DEL SPRINT</a:t>
            </a:r>
          </a:p>
        </p:txBody>
      </p:sp>
      <p:sp>
        <p:nvSpPr>
          <p:cNvPr name="TextBox 9" id="9"/>
          <p:cNvSpPr txBox="true"/>
          <p:nvPr/>
        </p:nvSpPr>
        <p:spPr>
          <a:xfrm rot="0">
            <a:off x="1143000" y="2748629"/>
            <a:ext cx="8026003" cy="1826714"/>
          </a:xfrm>
          <a:prstGeom prst="rect">
            <a:avLst/>
          </a:prstGeom>
        </p:spPr>
        <p:txBody>
          <a:bodyPr anchor="t" rtlCol="false" tIns="0" lIns="0" bIns="0" rIns="0">
            <a:spAutoFit/>
          </a:bodyPr>
          <a:lstStyle/>
          <a:p>
            <a:pPr algn="l">
              <a:lnSpc>
                <a:spcPts val="7775"/>
              </a:lnSpc>
            </a:pPr>
            <a:r>
              <a:rPr lang="en-US" b="true" sz="5400">
                <a:solidFill>
                  <a:srgbClr val="FFFFFF"/>
                </a:solidFill>
                <a:latin typeface="Poppins Bold"/>
                <a:ea typeface="Poppins Bold"/>
                <a:cs typeface="Poppins Bold"/>
                <a:sym typeface="Poppins Bold"/>
              </a:rPr>
              <a:t>Control de Inventario Escolar</a:t>
            </a:r>
          </a:p>
        </p:txBody>
      </p:sp>
      <p:sp>
        <p:nvSpPr>
          <p:cNvPr name="TextBox 10" id="10"/>
          <p:cNvSpPr txBox="true"/>
          <p:nvPr/>
        </p:nvSpPr>
        <p:spPr>
          <a:xfrm rot="0">
            <a:off x="1143000" y="4901432"/>
            <a:ext cx="7643812" cy="1330301"/>
          </a:xfrm>
          <a:prstGeom prst="rect">
            <a:avLst/>
          </a:prstGeom>
        </p:spPr>
        <p:txBody>
          <a:bodyPr anchor="t" rtlCol="false" tIns="0" lIns="0" bIns="0" rIns="0">
            <a:spAutoFit/>
          </a:bodyPr>
          <a:lstStyle/>
          <a:p>
            <a:pPr algn="l">
              <a:lnSpc>
                <a:spcPts val="3670"/>
              </a:lnSpc>
            </a:pPr>
            <a:r>
              <a:rPr lang="en-US" b="true" sz="1912">
                <a:solidFill>
                  <a:srgbClr val="94A3B8"/>
                </a:solidFill>
                <a:latin typeface="Inter Bold"/>
                <a:ea typeface="Inter Bold"/>
                <a:cs typeface="Inter Bold"/>
                <a:sym typeface="Inter Bold"/>
              </a:rPr>
              <a:t>Objetivo del Sprint:</a:t>
            </a:r>
            <a:r>
              <a:rPr lang="en-US" sz="1912">
                <a:solidFill>
                  <a:srgbClr val="94A3B8"/>
                </a:solidFill>
                <a:latin typeface="Inter"/>
                <a:ea typeface="Inter"/>
                <a:cs typeface="Inter"/>
                <a:sym typeface="Inter"/>
              </a:rPr>
              <a:t> </a:t>
            </a:r>
            <a:r>
              <a:rPr lang="en-US" sz="1912">
                <a:solidFill>
                  <a:srgbClr val="FFFFFF"/>
                </a:solidFill>
                <a:latin typeface="Inter"/>
                <a:ea typeface="Inter"/>
                <a:cs typeface="Inter"/>
                <a:sym typeface="Inter"/>
              </a:rPr>
              <a:t>Mejorar la confiabilidad del inventario escolar, reforzando la validación de datos, evitando duplicados y fortaleciendo la gestión de asignaciones y reportes.</a:t>
            </a:r>
          </a:p>
        </p:txBody>
      </p:sp>
      <p:sp>
        <p:nvSpPr>
          <p:cNvPr name="TextBox 11" id="11"/>
          <p:cNvSpPr txBox="true"/>
          <p:nvPr/>
        </p:nvSpPr>
        <p:spPr>
          <a:xfrm rot="0">
            <a:off x="1485900" y="6804946"/>
            <a:ext cx="3050381" cy="495300"/>
          </a:xfrm>
          <a:prstGeom prst="rect">
            <a:avLst/>
          </a:prstGeom>
        </p:spPr>
        <p:txBody>
          <a:bodyPr anchor="t" rtlCol="false" tIns="0" lIns="0" bIns="0" rIns="0">
            <a:spAutoFit/>
          </a:bodyPr>
          <a:lstStyle/>
          <a:p>
            <a:pPr algn="l">
              <a:lnSpc>
                <a:spcPts val="4320"/>
              </a:lnSpc>
            </a:pPr>
            <a:r>
              <a:rPr lang="en-US" b="true" sz="3600">
                <a:solidFill>
                  <a:srgbClr val="0077FC"/>
                </a:solidFill>
                <a:latin typeface="Poppins Bold"/>
                <a:ea typeface="Poppins Bold"/>
                <a:cs typeface="Poppins Bold"/>
                <a:sym typeface="Poppins Bold"/>
              </a:rPr>
              <a:t>2 Semanas</a:t>
            </a:r>
          </a:p>
        </p:txBody>
      </p:sp>
      <p:sp>
        <p:nvSpPr>
          <p:cNvPr name="TextBox 12" id="12"/>
          <p:cNvSpPr txBox="true"/>
          <p:nvPr/>
        </p:nvSpPr>
        <p:spPr>
          <a:xfrm rot="0">
            <a:off x="1485900" y="7371683"/>
            <a:ext cx="3050381" cy="214312"/>
          </a:xfrm>
          <a:prstGeom prst="rect">
            <a:avLst/>
          </a:prstGeom>
        </p:spPr>
        <p:txBody>
          <a:bodyPr anchor="t" rtlCol="false" tIns="0" lIns="0" bIns="0" rIns="0">
            <a:spAutoFit/>
          </a:bodyPr>
          <a:lstStyle/>
          <a:p>
            <a:pPr algn="l">
              <a:lnSpc>
                <a:spcPts val="1755"/>
              </a:lnSpc>
            </a:pPr>
            <a:r>
              <a:rPr lang="en-US" sz="1462">
                <a:solidFill>
                  <a:srgbClr val="94A3B8"/>
                </a:solidFill>
                <a:latin typeface="Inter"/>
                <a:ea typeface="Inter"/>
                <a:cs typeface="Inter"/>
                <a:sym typeface="Inter"/>
              </a:rPr>
              <a:t>Duración Planeada</a:t>
            </a:r>
          </a:p>
        </p:txBody>
      </p:sp>
      <p:sp>
        <p:nvSpPr>
          <p:cNvPr name="TextBox 13" id="13"/>
          <p:cNvSpPr txBox="true"/>
          <p:nvPr/>
        </p:nvSpPr>
        <p:spPr>
          <a:xfrm rot="0">
            <a:off x="5450681" y="6804946"/>
            <a:ext cx="3050381" cy="495300"/>
          </a:xfrm>
          <a:prstGeom prst="rect">
            <a:avLst/>
          </a:prstGeom>
        </p:spPr>
        <p:txBody>
          <a:bodyPr anchor="t" rtlCol="false" tIns="0" lIns="0" bIns="0" rIns="0">
            <a:spAutoFit/>
          </a:bodyPr>
          <a:lstStyle/>
          <a:p>
            <a:pPr algn="l">
              <a:lnSpc>
                <a:spcPts val="4320"/>
              </a:lnSpc>
            </a:pPr>
            <a:r>
              <a:rPr lang="en-US" b="true" sz="3600">
                <a:solidFill>
                  <a:srgbClr val="0077FC"/>
                </a:solidFill>
                <a:latin typeface="Poppins Bold"/>
                <a:ea typeface="Poppins Bold"/>
                <a:cs typeface="Poppins Bold"/>
                <a:sym typeface="Poppins Bold"/>
              </a:rPr>
              <a:t>34 SP</a:t>
            </a:r>
          </a:p>
        </p:txBody>
      </p:sp>
      <p:sp>
        <p:nvSpPr>
          <p:cNvPr name="TextBox 14" id="14"/>
          <p:cNvSpPr txBox="true"/>
          <p:nvPr/>
        </p:nvSpPr>
        <p:spPr>
          <a:xfrm rot="0">
            <a:off x="5450681" y="7371683"/>
            <a:ext cx="3050381" cy="214312"/>
          </a:xfrm>
          <a:prstGeom prst="rect">
            <a:avLst/>
          </a:prstGeom>
        </p:spPr>
        <p:txBody>
          <a:bodyPr anchor="t" rtlCol="false" tIns="0" lIns="0" bIns="0" rIns="0">
            <a:spAutoFit/>
          </a:bodyPr>
          <a:lstStyle/>
          <a:p>
            <a:pPr algn="l">
              <a:lnSpc>
                <a:spcPts val="1755"/>
              </a:lnSpc>
            </a:pPr>
            <a:r>
              <a:rPr lang="en-US" sz="1462">
                <a:solidFill>
                  <a:srgbClr val="94A3B8"/>
                </a:solidFill>
                <a:latin typeface="Inter"/>
                <a:ea typeface="Inter"/>
                <a:cs typeface="Inter"/>
                <a:sym typeface="Inter"/>
              </a:rPr>
              <a:t>Total Comprometido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grpSp>
        <p:nvGrpSpPr>
          <p:cNvPr name="Group 2" id="2"/>
          <p:cNvGrpSpPr/>
          <p:nvPr/>
        </p:nvGrpSpPr>
        <p:grpSpPr>
          <a:xfrm rot="0">
            <a:off x="12310024" y="9015412"/>
            <a:ext cx="4949276" cy="485775"/>
            <a:chOff x="0" y="0"/>
            <a:chExt cx="6599034" cy="647700"/>
          </a:xfrm>
        </p:grpSpPr>
        <p:sp>
          <p:nvSpPr>
            <p:cNvPr name="Freeform 3" id="3" descr="image.png"/>
            <p:cNvSpPr/>
            <p:nvPr/>
          </p:nvSpPr>
          <p:spPr>
            <a:xfrm flipH="false" flipV="false" rot="0">
              <a:off x="0" y="0"/>
              <a:ext cx="6599047" cy="647700"/>
            </a:xfrm>
            <a:custGeom>
              <a:avLst/>
              <a:gdLst/>
              <a:ahLst/>
              <a:cxnLst/>
              <a:rect r="r" b="b" t="t" l="l"/>
              <a:pathLst>
                <a:path h="647700" w="6599047">
                  <a:moveTo>
                    <a:pt x="0" y="0"/>
                  </a:moveTo>
                  <a:lnTo>
                    <a:pt x="6599047" y="0"/>
                  </a:lnTo>
                  <a:lnTo>
                    <a:pt x="6599047" y="647700"/>
                  </a:lnTo>
                  <a:lnTo>
                    <a:pt x="0" y="647700"/>
                  </a:lnTo>
                  <a:lnTo>
                    <a:pt x="0" y="0"/>
                  </a:lnTo>
                  <a:close/>
                </a:path>
              </a:pathLst>
            </a:custGeom>
            <a:blipFill>
              <a:blip r:embed="rId2"/>
              <a:stretch>
                <a:fillRect l="0" t="0" r="0" b="-6447"/>
              </a:stretch>
            </a:blipFill>
          </p:spPr>
        </p:sp>
      </p:grpSp>
      <p:graphicFrame>
        <p:nvGraphicFramePr>
          <p:cNvPr name="Table 4" id="4"/>
          <p:cNvGraphicFramePr>
            <a:graphicFrameLocks noGrp="true"/>
          </p:cNvGraphicFramePr>
          <p:nvPr/>
        </p:nvGraphicFramePr>
        <p:xfrm>
          <a:off x="609369" y="2710344"/>
          <a:ext cx="16649931" cy="5688726"/>
        </p:xfrm>
        <a:graphic>
          <a:graphicData uri="http://schemas.openxmlformats.org/drawingml/2006/table">
            <a:tbl>
              <a:tblPr/>
              <a:tblGrid>
                <a:gridCol w="5825997"/>
                <a:gridCol w="2513755"/>
                <a:gridCol w="8310179"/>
              </a:tblGrid>
              <a:tr h="812675">
                <a:tc>
                  <a:txBody>
                    <a:bodyPr anchor="t" rtlCol="false"/>
                    <a:lstStyle/>
                    <a:p>
                      <a:pPr algn="l">
                        <a:lnSpc>
                          <a:spcPts val="1966"/>
                        </a:lnSpc>
                        <a:defRPr/>
                      </a:pPr>
                      <a:r>
                        <a:rPr lang="en-US" b="true" sz="1638">
                          <a:solidFill>
                            <a:srgbClr val="0F172A"/>
                          </a:solidFill>
                          <a:latin typeface="Inter Bold"/>
                          <a:ea typeface="Inter Bold"/>
                          <a:cs typeface="Inter Bold"/>
                          <a:sym typeface="Inter Bold"/>
                        </a:rPr>
                        <a:t>Funcionalidad</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F8FAFC"/>
                    </a:solidFill>
                  </a:tcPr>
                </a:tc>
                <a:tc>
                  <a:txBody>
                    <a:bodyPr anchor="t" rtlCol="false"/>
                    <a:lstStyle/>
                    <a:p>
                      <a:pPr algn="l">
                        <a:lnSpc>
                          <a:spcPts val="1966"/>
                        </a:lnSpc>
                        <a:defRPr/>
                      </a:pPr>
                      <a:r>
                        <a:rPr lang="en-US" b="true" sz="1638">
                          <a:solidFill>
                            <a:srgbClr val="0F172A"/>
                          </a:solidFill>
                          <a:latin typeface="Inter Bold"/>
                          <a:ea typeface="Inter Bold"/>
                          <a:cs typeface="Inter Bold"/>
                          <a:sym typeface="Inter Bold"/>
                        </a:rPr>
                        <a:t>Story Points</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F8FAFC"/>
                    </a:solidFill>
                  </a:tcPr>
                </a:tc>
                <a:tc>
                  <a:txBody>
                    <a:bodyPr anchor="t" rtlCol="false"/>
                    <a:lstStyle/>
                    <a:p>
                      <a:pPr algn="l">
                        <a:lnSpc>
                          <a:spcPts val="1966"/>
                        </a:lnSpc>
                        <a:defRPr/>
                      </a:pPr>
                      <a:r>
                        <a:rPr lang="en-US" b="true" sz="1638">
                          <a:solidFill>
                            <a:srgbClr val="0F172A"/>
                          </a:solidFill>
                          <a:latin typeface="Inter Bold"/>
                          <a:ea typeface="Inter Bold"/>
                          <a:cs typeface="Inter Bold"/>
                          <a:sym typeface="Inter Bold"/>
                        </a:rPr>
                        <a:t>Justificación</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F8FAFC"/>
                    </a:solidFill>
                  </a:tcPr>
                </a:tc>
              </a:tr>
              <a:tr h="812675">
                <a:tc>
                  <a:txBody>
                    <a:bodyPr anchor="t" rtlCol="false"/>
                    <a:lstStyle/>
                    <a:p>
                      <a:pPr algn="l">
                        <a:lnSpc>
                          <a:spcPts val="1966"/>
                        </a:lnSpc>
                        <a:defRPr/>
                      </a:pPr>
                      <a:r>
                        <a:rPr lang="en-US" b="true" sz="1638">
                          <a:solidFill>
                            <a:srgbClr val="334155"/>
                          </a:solidFill>
                          <a:latin typeface="Inter Bold"/>
                          <a:ea typeface="Inter Bold"/>
                          <a:cs typeface="Inter Bold"/>
                          <a:sym typeface="Inter Bold"/>
                        </a:rPr>
                        <a:t>Evitar duplicados</a:t>
                      </a:r>
                      <a:r>
                        <a:rPr lang="en-US" sz="1638">
                          <a:solidFill>
                            <a:srgbClr val="334155"/>
                          </a:solidFill>
                          <a:latin typeface="Inter"/>
                          <a:ea typeface="Inter"/>
                          <a:cs typeface="Inter"/>
                          <a:sym typeface="Inter"/>
                        </a:rPr>
                        <a:t> (No. Inventario / barras)</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CFD7E7"/>
                    </a:solidFill>
                  </a:tcPr>
                </a:tc>
                <a:tc>
                  <a:txBody>
                    <a:bodyPr anchor="t" rtlCol="false"/>
                    <a:lstStyle/>
                    <a:p>
                      <a:pPr algn="l">
                        <a:lnSpc>
                          <a:spcPts val="1966"/>
                        </a:lnSpc>
                        <a:defRPr/>
                      </a:pPr>
                      <a:r>
                        <a:rPr lang="en-US" sz="1638">
                          <a:solidFill>
                            <a:srgbClr val="334155"/>
                          </a:solidFill>
                          <a:latin typeface="Inter"/>
                          <a:ea typeface="Inter"/>
                          <a:cs typeface="Inter"/>
                          <a:sym typeface="Inter"/>
                        </a:rPr>
                        <a:t>5 SP</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CFD7E7"/>
                    </a:solidFill>
                  </a:tcPr>
                </a:tc>
                <a:tc>
                  <a:txBody>
                    <a:bodyPr anchor="t" rtlCol="false"/>
                    <a:lstStyle/>
                    <a:p>
                      <a:pPr algn="l">
                        <a:lnSpc>
                          <a:spcPts val="1966"/>
                        </a:lnSpc>
                        <a:defRPr/>
                      </a:pPr>
                      <a:r>
                        <a:rPr lang="en-US" sz="1638">
                          <a:solidFill>
                            <a:srgbClr val="334155"/>
                          </a:solidFill>
                          <a:latin typeface="Inter"/>
                          <a:ea typeface="Inter"/>
                          <a:cs typeface="Inter"/>
                          <a:sym typeface="Inter"/>
                        </a:rPr>
                        <a:t>Mejora prioritaria que protege la integridad del inventario. Requiere cambios en base de datos, validaciones y pruebas.</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CFD7E7"/>
                    </a:solidFill>
                  </a:tcPr>
                </a:tc>
              </a:tr>
              <a:tr h="812675">
                <a:tc>
                  <a:txBody>
                    <a:bodyPr anchor="t" rtlCol="false"/>
                    <a:lstStyle/>
                    <a:p>
                      <a:pPr algn="l">
                        <a:lnSpc>
                          <a:spcPts val="1966"/>
                        </a:lnSpc>
                        <a:defRPr/>
                      </a:pPr>
                      <a:r>
                        <a:rPr lang="en-US" b="true" sz="1638">
                          <a:solidFill>
                            <a:srgbClr val="334155"/>
                          </a:solidFill>
                          <a:latin typeface="Inter Bold"/>
                          <a:ea typeface="Inter Bold"/>
                          <a:cs typeface="Inter Bold"/>
                          <a:sym typeface="Inter Bold"/>
                        </a:rPr>
                        <a:t>Validación de importación</a:t>
                      </a:r>
                      <a:r>
                        <a:rPr lang="en-US" sz="1638">
                          <a:solidFill>
                            <a:srgbClr val="334155"/>
                          </a:solidFill>
                          <a:latin typeface="Inter"/>
                          <a:ea typeface="Inter"/>
                          <a:cs typeface="Inter"/>
                          <a:sym typeface="Inter"/>
                        </a:rPr>
                        <a:t> Excel/CSV</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E8ECF4"/>
                    </a:solidFill>
                  </a:tcPr>
                </a:tc>
                <a:tc>
                  <a:txBody>
                    <a:bodyPr anchor="t" rtlCol="false"/>
                    <a:lstStyle/>
                    <a:p>
                      <a:pPr algn="l">
                        <a:lnSpc>
                          <a:spcPts val="1966"/>
                        </a:lnSpc>
                        <a:defRPr/>
                      </a:pPr>
                      <a:r>
                        <a:rPr lang="en-US" sz="1638">
                          <a:solidFill>
                            <a:srgbClr val="334155"/>
                          </a:solidFill>
                          <a:latin typeface="Inter"/>
                          <a:ea typeface="Inter"/>
                          <a:cs typeface="Inter"/>
                          <a:sym typeface="Inter"/>
                        </a:rPr>
                        <a:t>8 SP</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E8ECF4"/>
                    </a:solidFill>
                  </a:tcPr>
                </a:tc>
                <a:tc>
                  <a:txBody>
                    <a:bodyPr anchor="t" rtlCol="false"/>
                    <a:lstStyle/>
                    <a:p>
                      <a:pPr algn="l">
                        <a:lnSpc>
                          <a:spcPts val="1966"/>
                        </a:lnSpc>
                        <a:defRPr/>
                      </a:pPr>
                      <a:r>
                        <a:rPr lang="en-US" sz="1638">
                          <a:solidFill>
                            <a:srgbClr val="334155"/>
                          </a:solidFill>
                          <a:latin typeface="Inter"/>
                          <a:ea typeface="Inter"/>
                          <a:cs typeface="Inter"/>
                          <a:sym typeface="Inter"/>
                        </a:rPr>
                        <a:t>Tarea compleja que implica leer archivos, validar encabezados, revisar filas y mostrar errores claros.</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E8ECF4"/>
                    </a:solidFill>
                  </a:tcPr>
                </a:tc>
              </a:tr>
              <a:tr h="812675">
                <a:tc>
                  <a:txBody>
                    <a:bodyPr anchor="t" rtlCol="false"/>
                    <a:lstStyle/>
                    <a:p>
                      <a:pPr algn="l">
                        <a:lnSpc>
                          <a:spcPts val="1966"/>
                        </a:lnSpc>
                        <a:defRPr/>
                      </a:pPr>
                      <a:r>
                        <a:rPr lang="en-US" b="true" sz="1638">
                          <a:solidFill>
                            <a:srgbClr val="334155"/>
                          </a:solidFill>
                          <a:latin typeface="Inter Bold"/>
                          <a:ea typeface="Inter Bold"/>
                          <a:cs typeface="Inter Bold"/>
                          <a:sym typeface="Inter Bold"/>
                        </a:rPr>
                        <a:t>Centralizar asignaciones</a:t>
                      </a:r>
                      <a:r>
                        <a:rPr lang="en-US" sz="1638">
                          <a:solidFill>
                            <a:srgbClr val="334155"/>
                          </a:solidFill>
                          <a:latin typeface="Inter"/>
                          <a:ea typeface="Inter"/>
                          <a:cs typeface="Inter"/>
                          <a:sym typeface="Inter"/>
                        </a:rPr>
                        <a:t> e historial</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CFD7E7"/>
                    </a:solidFill>
                  </a:tcPr>
                </a:tc>
                <a:tc>
                  <a:txBody>
                    <a:bodyPr anchor="t" rtlCol="false"/>
                    <a:lstStyle/>
                    <a:p>
                      <a:pPr algn="l">
                        <a:lnSpc>
                          <a:spcPts val="1966"/>
                        </a:lnSpc>
                        <a:defRPr/>
                      </a:pPr>
                      <a:r>
                        <a:rPr lang="en-US" sz="1638">
                          <a:solidFill>
                            <a:srgbClr val="334155"/>
                          </a:solidFill>
                          <a:latin typeface="Inter"/>
                          <a:ea typeface="Inter"/>
                          <a:cs typeface="Inter"/>
                          <a:sym typeface="Inter"/>
                        </a:rPr>
                        <a:t>8 SP</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CFD7E7"/>
                    </a:solidFill>
                  </a:tcPr>
                </a:tc>
                <a:tc>
                  <a:txBody>
                    <a:bodyPr anchor="t" rtlCol="false"/>
                    <a:lstStyle/>
                    <a:p>
                      <a:pPr algn="l">
                        <a:lnSpc>
                          <a:spcPts val="1966"/>
                        </a:lnSpc>
                        <a:defRPr/>
                      </a:pPr>
                      <a:r>
                        <a:rPr lang="en-US" sz="1638">
                          <a:solidFill>
                            <a:srgbClr val="334155"/>
                          </a:solidFill>
                          <a:latin typeface="Inter"/>
                          <a:ea typeface="Inter"/>
                          <a:cs typeface="Inter"/>
                          <a:sym typeface="Inter"/>
                        </a:rPr>
                        <a:t>Tiene riesgo medio porque afecta una parte importante del sistema. Debe evitarse romper asignaciones existentes.</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CFD7E7"/>
                    </a:solidFill>
                  </a:tcPr>
                </a:tc>
              </a:tr>
              <a:tr h="812675">
                <a:tc>
                  <a:txBody>
                    <a:bodyPr anchor="t" rtlCol="false"/>
                    <a:lstStyle/>
                    <a:p>
                      <a:pPr algn="l">
                        <a:lnSpc>
                          <a:spcPts val="1966"/>
                        </a:lnSpc>
                        <a:defRPr/>
                      </a:pPr>
                      <a:r>
                        <a:rPr lang="en-US" b="true" sz="1638">
                          <a:solidFill>
                            <a:srgbClr val="334155"/>
                          </a:solidFill>
                          <a:latin typeface="Inter Bold"/>
                          <a:ea typeface="Inter Bold"/>
                          <a:cs typeface="Inter Bold"/>
                          <a:sym typeface="Inter Bold"/>
                        </a:rPr>
                        <a:t>Gestión de roles</a:t>
                      </a:r>
                      <a:r>
                        <a:rPr lang="en-US" sz="1638">
                          <a:solidFill>
                            <a:srgbClr val="334155"/>
                          </a:solidFill>
                          <a:latin typeface="Inter"/>
                          <a:ea typeface="Inter"/>
                          <a:cs typeface="Inter"/>
                          <a:sym typeface="Inter"/>
                        </a:rPr>
                        <a:t> de usuario</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E8ECF4"/>
                    </a:solidFill>
                  </a:tcPr>
                </a:tc>
                <a:tc>
                  <a:txBody>
                    <a:bodyPr anchor="t" rtlCol="false"/>
                    <a:lstStyle/>
                    <a:p>
                      <a:pPr algn="l">
                        <a:lnSpc>
                          <a:spcPts val="1966"/>
                        </a:lnSpc>
                        <a:defRPr/>
                      </a:pPr>
                      <a:r>
                        <a:rPr lang="en-US" sz="1638">
                          <a:solidFill>
                            <a:srgbClr val="334155"/>
                          </a:solidFill>
                          <a:latin typeface="Inter"/>
                          <a:ea typeface="Inter"/>
                          <a:cs typeface="Inter"/>
                          <a:sym typeface="Inter"/>
                        </a:rPr>
                        <a:t>5 SP</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E8ECF4"/>
                    </a:solidFill>
                  </a:tcPr>
                </a:tc>
                <a:tc>
                  <a:txBody>
                    <a:bodyPr anchor="t" rtlCol="false"/>
                    <a:lstStyle/>
                    <a:p>
                      <a:pPr algn="l">
                        <a:lnSpc>
                          <a:spcPts val="1966"/>
                        </a:lnSpc>
                        <a:defRPr/>
                      </a:pPr>
                      <a:r>
                        <a:rPr lang="en-US" sz="1638">
                          <a:solidFill>
                            <a:srgbClr val="334155"/>
                          </a:solidFill>
                          <a:latin typeface="Inter"/>
                          <a:ea typeface="Inter"/>
                          <a:cs typeface="Inter"/>
                          <a:sym typeface="Inter"/>
                        </a:rPr>
                        <a:t>Ayuda a separar mejor permisos de administrador y visualizador. Requiere revisar rutas, middleware y vistas.</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E8ECF4"/>
                    </a:solidFill>
                  </a:tcPr>
                </a:tc>
              </a:tr>
              <a:tr h="812675">
                <a:tc>
                  <a:txBody>
                    <a:bodyPr anchor="t" rtlCol="false"/>
                    <a:lstStyle/>
                    <a:p>
                      <a:pPr algn="l">
                        <a:lnSpc>
                          <a:spcPts val="1966"/>
                        </a:lnSpc>
                        <a:defRPr/>
                      </a:pPr>
                      <a:r>
                        <a:rPr lang="en-US" b="true" sz="1638">
                          <a:solidFill>
                            <a:srgbClr val="334155"/>
                          </a:solidFill>
                          <a:latin typeface="Inter Bold"/>
                          <a:ea typeface="Inter Bold"/>
                          <a:cs typeface="Inter Bold"/>
                          <a:sym typeface="Inter Bold"/>
                        </a:rPr>
                        <a:t>Filtros avanzados</a:t>
                      </a:r>
                      <a:r>
                        <a:rPr lang="en-US" sz="1638">
                          <a:solidFill>
                            <a:srgbClr val="334155"/>
                          </a:solidFill>
                          <a:latin typeface="Inter"/>
                          <a:ea typeface="Inter"/>
                          <a:cs typeface="Inter"/>
                          <a:sym typeface="Inter"/>
                        </a:rPr>
                        <a:t> en reportes</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CFD7E7"/>
                    </a:solidFill>
                  </a:tcPr>
                </a:tc>
                <a:tc>
                  <a:txBody>
                    <a:bodyPr anchor="t" rtlCol="false"/>
                    <a:lstStyle/>
                    <a:p>
                      <a:pPr algn="l">
                        <a:lnSpc>
                          <a:spcPts val="1966"/>
                        </a:lnSpc>
                        <a:defRPr/>
                      </a:pPr>
                      <a:r>
                        <a:rPr lang="en-US" sz="1638">
                          <a:solidFill>
                            <a:srgbClr val="334155"/>
                          </a:solidFill>
                          <a:latin typeface="Inter"/>
                          <a:ea typeface="Inter"/>
                          <a:cs typeface="Inter"/>
                          <a:sym typeface="Inter"/>
                        </a:rPr>
                        <a:t>5 SP</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CFD7E7"/>
                    </a:solidFill>
                  </a:tcPr>
                </a:tc>
                <a:tc>
                  <a:txBody>
                    <a:bodyPr anchor="t" rtlCol="false"/>
                    <a:lstStyle/>
                    <a:p>
                      <a:pPr algn="l">
                        <a:lnSpc>
                          <a:spcPts val="1966"/>
                        </a:lnSpc>
                        <a:defRPr/>
                      </a:pPr>
                      <a:r>
                        <a:rPr lang="en-US" sz="1638">
                          <a:solidFill>
                            <a:srgbClr val="334155"/>
                          </a:solidFill>
                          <a:latin typeface="Inter"/>
                          <a:ea typeface="Inter"/>
                          <a:cs typeface="Inter"/>
                          <a:sym typeface="Inter"/>
                        </a:rPr>
                        <a:t>Mejora el uso del sistema para el cliente. Implica modificar consultas, formularios y exportaciones.</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CFD7E7"/>
                    </a:solidFill>
                  </a:tcPr>
                </a:tc>
              </a:tr>
              <a:tr h="812675">
                <a:tc>
                  <a:txBody>
                    <a:bodyPr anchor="t" rtlCol="false"/>
                    <a:lstStyle/>
                    <a:p>
                      <a:pPr algn="l">
                        <a:lnSpc>
                          <a:spcPts val="1966"/>
                        </a:lnSpc>
                        <a:defRPr/>
                      </a:pPr>
                      <a:r>
                        <a:rPr lang="en-US" b="true" sz="1638">
                          <a:solidFill>
                            <a:srgbClr val="334155"/>
                          </a:solidFill>
                          <a:latin typeface="Inter Bold"/>
                          <a:ea typeface="Inter Bold"/>
                          <a:cs typeface="Inter Bold"/>
                          <a:sym typeface="Inter Bold"/>
                        </a:rPr>
                        <a:t>Mensajes de error</a:t>
                      </a:r>
                      <a:r>
                        <a:rPr lang="en-US" sz="1638">
                          <a:solidFill>
                            <a:srgbClr val="334155"/>
                          </a:solidFill>
                          <a:latin typeface="Inter"/>
                          <a:ea typeface="Inter"/>
                          <a:cs typeface="Inter"/>
                          <a:sym typeface="Inter"/>
                        </a:rPr>
                        <a:t> y validación</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E8ECF4"/>
                    </a:solidFill>
                  </a:tcPr>
                </a:tc>
                <a:tc>
                  <a:txBody>
                    <a:bodyPr anchor="t" rtlCol="false"/>
                    <a:lstStyle/>
                    <a:p>
                      <a:pPr algn="l">
                        <a:lnSpc>
                          <a:spcPts val="1966"/>
                        </a:lnSpc>
                        <a:defRPr/>
                      </a:pPr>
                      <a:r>
                        <a:rPr lang="en-US" sz="1638">
                          <a:solidFill>
                            <a:srgbClr val="334155"/>
                          </a:solidFill>
                          <a:latin typeface="Inter"/>
                          <a:ea typeface="Inter"/>
                          <a:cs typeface="Inter"/>
                          <a:sym typeface="Inter"/>
                        </a:rPr>
                        <a:t>3 SP</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E8ECF4"/>
                    </a:solidFill>
                  </a:tcPr>
                </a:tc>
                <a:tc>
                  <a:txBody>
                    <a:bodyPr anchor="t" rtlCol="false"/>
                    <a:lstStyle/>
                    <a:p>
                      <a:pPr algn="l">
                        <a:lnSpc>
                          <a:spcPts val="1966"/>
                        </a:lnSpc>
                        <a:defRPr/>
                      </a:pPr>
                      <a:r>
                        <a:rPr lang="en-US" sz="1638">
                          <a:solidFill>
                            <a:srgbClr val="334155"/>
                          </a:solidFill>
                          <a:latin typeface="Inter"/>
                          <a:ea typeface="Inter"/>
                          <a:cs typeface="Inter"/>
                          <a:sym typeface="Inter"/>
                        </a:rPr>
                        <a:t>Es menos complejo, pero aporta mucho a la experiencia del usuario.</a:t>
                      </a:r>
                      <a:endParaRPr lang="en-US" sz="1100"/>
                    </a:p>
                  </a:txBody>
                  <a:tcPr marL="66071" marR="66071" marT="66071" marB="66071" anchor="ctr">
                    <a:lnL cmpd="sng" algn="ctr" cap="flat" w="9911">
                      <a:solidFill>
                        <a:srgbClr val="000000"/>
                      </a:solidFill>
                      <a:prstDash val="solid"/>
                      <a:round/>
                      <a:headEnd type="none" w="med" len="med"/>
                      <a:tailEnd type="none" w="med" len="med"/>
                    </a:lnL>
                    <a:lnR cmpd="sng" algn="ctr" cap="flat" w="9911">
                      <a:solidFill>
                        <a:srgbClr val="000000"/>
                      </a:solidFill>
                      <a:prstDash val="solid"/>
                      <a:round/>
                      <a:headEnd type="none" w="med" len="med"/>
                      <a:tailEnd type="none" w="med" len="med"/>
                    </a:lnR>
                    <a:lnT cmpd="sng" algn="ctr" cap="flat" w="9911">
                      <a:solidFill>
                        <a:srgbClr val="000000"/>
                      </a:solidFill>
                      <a:prstDash val="solid"/>
                      <a:round/>
                      <a:headEnd type="none" w="med" len="med"/>
                      <a:tailEnd type="none" w="med" len="med"/>
                    </a:lnT>
                    <a:lnB cmpd="sng" algn="ctr" cap="flat" w="9911">
                      <a:solidFill>
                        <a:srgbClr val="000000"/>
                      </a:solidFill>
                      <a:prstDash val="solid"/>
                      <a:round/>
                      <a:headEnd type="none" w="med" len="med"/>
                      <a:tailEnd type="none" w="med" len="med"/>
                    </a:lnB>
                    <a:solidFill>
                      <a:srgbClr val="E8ECF4"/>
                    </a:solidFill>
                  </a:tcPr>
                </a:tc>
              </a:tr>
            </a:tbl>
          </a:graphicData>
        </a:graphic>
      </p:graphicFrame>
      <p:grpSp>
        <p:nvGrpSpPr>
          <p:cNvPr name="Group 5" id="5"/>
          <p:cNvGrpSpPr/>
          <p:nvPr/>
        </p:nvGrpSpPr>
        <p:grpSpPr>
          <a:xfrm rot="0">
            <a:off x="609369" y="3238087"/>
            <a:ext cx="5827476" cy="14866"/>
            <a:chOff x="0" y="0"/>
            <a:chExt cx="7467600" cy="19050"/>
          </a:xfrm>
        </p:grpSpPr>
        <p:sp>
          <p:nvSpPr>
            <p:cNvPr name="Freeform 6" id="6"/>
            <p:cNvSpPr/>
            <p:nvPr/>
          </p:nvSpPr>
          <p:spPr>
            <a:xfrm flipH="false" flipV="false" rot="0">
              <a:off x="0" y="0"/>
              <a:ext cx="7467600" cy="19050"/>
            </a:xfrm>
            <a:custGeom>
              <a:avLst/>
              <a:gdLst/>
              <a:ahLst/>
              <a:cxnLst/>
              <a:rect r="r" b="b" t="t" l="l"/>
              <a:pathLst>
                <a:path h="19050" w="7467600">
                  <a:moveTo>
                    <a:pt x="0" y="0"/>
                  </a:moveTo>
                  <a:lnTo>
                    <a:pt x="7467600" y="0"/>
                  </a:lnTo>
                  <a:lnTo>
                    <a:pt x="7467600" y="19050"/>
                  </a:lnTo>
                  <a:lnTo>
                    <a:pt x="0" y="19050"/>
                  </a:lnTo>
                  <a:close/>
                </a:path>
              </a:pathLst>
            </a:custGeom>
            <a:solidFill>
              <a:srgbClr val="E2E8F0"/>
            </a:solidFill>
          </p:spPr>
        </p:sp>
      </p:grpSp>
      <p:grpSp>
        <p:nvGrpSpPr>
          <p:cNvPr name="Group 7" id="7"/>
          <p:cNvGrpSpPr/>
          <p:nvPr/>
        </p:nvGrpSpPr>
        <p:grpSpPr>
          <a:xfrm rot="0">
            <a:off x="6436845" y="3238087"/>
            <a:ext cx="2497490" cy="14866"/>
            <a:chOff x="0" y="0"/>
            <a:chExt cx="3200400" cy="19050"/>
          </a:xfrm>
        </p:grpSpPr>
        <p:sp>
          <p:nvSpPr>
            <p:cNvPr name="Freeform 8" id="8"/>
            <p:cNvSpPr/>
            <p:nvPr/>
          </p:nvSpPr>
          <p:spPr>
            <a:xfrm flipH="false" flipV="false" rot="0">
              <a:off x="0" y="0"/>
              <a:ext cx="3200400" cy="19050"/>
            </a:xfrm>
            <a:custGeom>
              <a:avLst/>
              <a:gdLst/>
              <a:ahLst/>
              <a:cxnLst/>
              <a:rect r="r" b="b" t="t" l="l"/>
              <a:pathLst>
                <a:path h="19050" w="3200400">
                  <a:moveTo>
                    <a:pt x="0" y="0"/>
                  </a:moveTo>
                  <a:lnTo>
                    <a:pt x="3200400" y="0"/>
                  </a:lnTo>
                  <a:lnTo>
                    <a:pt x="3200400" y="19050"/>
                  </a:lnTo>
                  <a:lnTo>
                    <a:pt x="0" y="19050"/>
                  </a:lnTo>
                  <a:close/>
                </a:path>
              </a:pathLst>
            </a:custGeom>
            <a:solidFill>
              <a:srgbClr val="E2E8F0"/>
            </a:solidFill>
          </p:spPr>
        </p:sp>
      </p:grpSp>
      <p:grpSp>
        <p:nvGrpSpPr>
          <p:cNvPr name="Group 9" id="9"/>
          <p:cNvGrpSpPr/>
          <p:nvPr/>
        </p:nvGrpSpPr>
        <p:grpSpPr>
          <a:xfrm rot="0">
            <a:off x="8934334" y="3238087"/>
            <a:ext cx="8324966" cy="14866"/>
            <a:chOff x="0" y="0"/>
            <a:chExt cx="10668000" cy="19050"/>
          </a:xfrm>
        </p:grpSpPr>
        <p:sp>
          <p:nvSpPr>
            <p:cNvPr name="Freeform 10" id="10"/>
            <p:cNvSpPr/>
            <p:nvPr/>
          </p:nvSpPr>
          <p:spPr>
            <a:xfrm flipH="false" flipV="false" rot="0">
              <a:off x="0" y="0"/>
              <a:ext cx="10668000" cy="19050"/>
            </a:xfrm>
            <a:custGeom>
              <a:avLst/>
              <a:gdLst/>
              <a:ahLst/>
              <a:cxnLst/>
              <a:rect r="r" b="b" t="t" l="l"/>
              <a:pathLst>
                <a:path h="19050" w="10668000">
                  <a:moveTo>
                    <a:pt x="0" y="0"/>
                  </a:moveTo>
                  <a:lnTo>
                    <a:pt x="10668000" y="0"/>
                  </a:lnTo>
                  <a:lnTo>
                    <a:pt x="10668000" y="19050"/>
                  </a:lnTo>
                  <a:lnTo>
                    <a:pt x="0" y="19050"/>
                  </a:lnTo>
                  <a:close/>
                </a:path>
              </a:pathLst>
            </a:custGeom>
            <a:solidFill>
              <a:srgbClr val="E2E8F0"/>
            </a:solidFill>
          </p:spPr>
        </p:sp>
      </p:grpSp>
      <p:grpSp>
        <p:nvGrpSpPr>
          <p:cNvPr name="Group 11" id="11"/>
          <p:cNvGrpSpPr/>
          <p:nvPr/>
        </p:nvGrpSpPr>
        <p:grpSpPr>
          <a:xfrm rot="0">
            <a:off x="609369" y="4132832"/>
            <a:ext cx="5827476" cy="14866"/>
            <a:chOff x="0" y="0"/>
            <a:chExt cx="7467600" cy="19050"/>
          </a:xfrm>
        </p:grpSpPr>
        <p:sp>
          <p:nvSpPr>
            <p:cNvPr name="Freeform 12" id="12"/>
            <p:cNvSpPr/>
            <p:nvPr/>
          </p:nvSpPr>
          <p:spPr>
            <a:xfrm flipH="false" flipV="false" rot="0">
              <a:off x="0" y="0"/>
              <a:ext cx="7467600" cy="19050"/>
            </a:xfrm>
            <a:custGeom>
              <a:avLst/>
              <a:gdLst/>
              <a:ahLst/>
              <a:cxnLst/>
              <a:rect r="r" b="b" t="t" l="l"/>
              <a:pathLst>
                <a:path h="19050" w="7467600">
                  <a:moveTo>
                    <a:pt x="0" y="0"/>
                  </a:moveTo>
                  <a:lnTo>
                    <a:pt x="7467600" y="0"/>
                  </a:lnTo>
                  <a:lnTo>
                    <a:pt x="7467600" y="19050"/>
                  </a:lnTo>
                  <a:lnTo>
                    <a:pt x="0" y="19050"/>
                  </a:lnTo>
                  <a:close/>
                </a:path>
              </a:pathLst>
            </a:custGeom>
            <a:solidFill>
              <a:srgbClr val="E2E8F0"/>
            </a:solidFill>
          </p:spPr>
        </p:sp>
      </p:grpSp>
      <p:grpSp>
        <p:nvGrpSpPr>
          <p:cNvPr name="Group 13" id="13"/>
          <p:cNvGrpSpPr/>
          <p:nvPr/>
        </p:nvGrpSpPr>
        <p:grpSpPr>
          <a:xfrm rot="0">
            <a:off x="6436845" y="4132832"/>
            <a:ext cx="2497490" cy="14866"/>
            <a:chOff x="0" y="0"/>
            <a:chExt cx="3200400" cy="19050"/>
          </a:xfrm>
        </p:grpSpPr>
        <p:sp>
          <p:nvSpPr>
            <p:cNvPr name="Freeform 14" id="14"/>
            <p:cNvSpPr/>
            <p:nvPr/>
          </p:nvSpPr>
          <p:spPr>
            <a:xfrm flipH="false" flipV="false" rot="0">
              <a:off x="0" y="0"/>
              <a:ext cx="3200400" cy="19050"/>
            </a:xfrm>
            <a:custGeom>
              <a:avLst/>
              <a:gdLst/>
              <a:ahLst/>
              <a:cxnLst/>
              <a:rect r="r" b="b" t="t" l="l"/>
              <a:pathLst>
                <a:path h="19050" w="3200400">
                  <a:moveTo>
                    <a:pt x="0" y="0"/>
                  </a:moveTo>
                  <a:lnTo>
                    <a:pt x="3200400" y="0"/>
                  </a:lnTo>
                  <a:lnTo>
                    <a:pt x="3200400" y="19050"/>
                  </a:lnTo>
                  <a:lnTo>
                    <a:pt x="0" y="19050"/>
                  </a:lnTo>
                  <a:close/>
                </a:path>
              </a:pathLst>
            </a:custGeom>
            <a:solidFill>
              <a:srgbClr val="E2E8F0"/>
            </a:solidFill>
          </p:spPr>
        </p:sp>
      </p:grpSp>
      <p:grpSp>
        <p:nvGrpSpPr>
          <p:cNvPr name="Group 15" id="15"/>
          <p:cNvGrpSpPr/>
          <p:nvPr/>
        </p:nvGrpSpPr>
        <p:grpSpPr>
          <a:xfrm rot="0">
            <a:off x="8934334" y="4132832"/>
            <a:ext cx="8324966" cy="14866"/>
            <a:chOff x="0" y="0"/>
            <a:chExt cx="10668000" cy="19050"/>
          </a:xfrm>
        </p:grpSpPr>
        <p:sp>
          <p:nvSpPr>
            <p:cNvPr name="Freeform 16" id="16"/>
            <p:cNvSpPr/>
            <p:nvPr/>
          </p:nvSpPr>
          <p:spPr>
            <a:xfrm flipH="false" flipV="false" rot="0">
              <a:off x="0" y="0"/>
              <a:ext cx="10668000" cy="19050"/>
            </a:xfrm>
            <a:custGeom>
              <a:avLst/>
              <a:gdLst/>
              <a:ahLst/>
              <a:cxnLst/>
              <a:rect r="r" b="b" t="t" l="l"/>
              <a:pathLst>
                <a:path h="19050" w="10668000">
                  <a:moveTo>
                    <a:pt x="0" y="0"/>
                  </a:moveTo>
                  <a:lnTo>
                    <a:pt x="10668000" y="0"/>
                  </a:lnTo>
                  <a:lnTo>
                    <a:pt x="10668000" y="19050"/>
                  </a:lnTo>
                  <a:lnTo>
                    <a:pt x="0" y="19050"/>
                  </a:lnTo>
                  <a:close/>
                </a:path>
              </a:pathLst>
            </a:custGeom>
            <a:solidFill>
              <a:srgbClr val="E2E8F0"/>
            </a:solidFill>
          </p:spPr>
        </p:sp>
      </p:grpSp>
      <p:grpSp>
        <p:nvGrpSpPr>
          <p:cNvPr name="Group 17" id="17"/>
          <p:cNvGrpSpPr/>
          <p:nvPr/>
        </p:nvGrpSpPr>
        <p:grpSpPr>
          <a:xfrm rot="0">
            <a:off x="609369" y="5027578"/>
            <a:ext cx="5827476" cy="14866"/>
            <a:chOff x="0" y="0"/>
            <a:chExt cx="7467600" cy="19050"/>
          </a:xfrm>
        </p:grpSpPr>
        <p:sp>
          <p:nvSpPr>
            <p:cNvPr name="Freeform 18" id="18"/>
            <p:cNvSpPr/>
            <p:nvPr/>
          </p:nvSpPr>
          <p:spPr>
            <a:xfrm flipH="false" flipV="false" rot="0">
              <a:off x="0" y="0"/>
              <a:ext cx="7467600" cy="19050"/>
            </a:xfrm>
            <a:custGeom>
              <a:avLst/>
              <a:gdLst/>
              <a:ahLst/>
              <a:cxnLst/>
              <a:rect r="r" b="b" t="t" l="l"/>
              <a:pathLst>
                <a:path h="19050" w="7467600">
                  <a:moveTo>
                    <a:pt x="0" y="0"/>
                  </a:moveTo>
                  <a:lnTo>
                    <a:pt x="7467600" y="0"/>
                  </a:lnTo>
                  <a:lnTo>
                    <a:pt x="7467600" y="19050"/>
                  </a:lnTo>
                  <a:lnTo>
                    <a:pt x="0" y="19050"/>
                  </a:lnTo>
                  <a:close/>
                </a:path>
              </a:pathLst>
            </a:custGeom>
            <a:solidFill>
              <a:srgbClr val="E2E8F0"/>
            </a:solidFill>
          </p:spPr>
        </p:sp>
      </p:grpSp>
      <p:grpSp>
        <p:nvGrpSpPr>
          <p:cNvPr name="Group 19" id="19"/>
          <p:cNvGrpSpPr/>
          <p:nvPr/>
        </p:nvGrpSpPr>
        <p:grpSpPr>
          <a:xfrm rot="0">
            <a:off x="6436845" y="5027578"/>
            <a:ext cx="2497490" cy="14866"/>
            <a:chOff x="0" y="0"/>
            <a:chExt cx="3200400" cy="19050"/>
          </a:xfrm>
        </p:grpSpPr>
        <p:sp>
          <p:nvSpPr>
            <p:cNvPr name="Freeform 20" id="20"/>
            <p:cNvSpPr/>
            <p:nvPr/>
          </p:nvSpPr>
          <p:spPr>
            <a:xfrm flipH="false" flipV="false" rot="0">
              <a:off x="0" y="0"/>
              <a:ext cx="3200400" cy="19050"/>
            </a:xfrm>
            <a:custGeom>
              <a:avLst/>
              <a:gdLst/>
              <a:ahLst/>
              <a:cxnLst/>
              <a:rect r="r" b="b" t="t" l="l"/>
              <a:pathLst>
                <a:path h="19050" w="3200400">
                  <a:moveTo>
                    <a:pt x="0" y="0"/>
                  </a:moveTo>
                  <a:lnTo>
                    <a:pt x="3200400" y="0"/>
                  </a:lnTo>
                  <a:lnTo>
                    <a:pt x="3200400" y="19050"/>
                  </a:lnTo>
                  <a:lnTo>
                    <a:pt x="0" y="19050"/>
                  </a:lnTo>
                  <a:close/>
                </a:path>
              </a:pathLst>
            </a:custGeom>
            <a:solidFill>
              <a:srgbClr val="E2E8F0"/>
            </a:solidFill>
          </p:spPr>
        </p:sp>
      </p:grpSp>
      <p:grpSp>
        <p:nvGrpSpPr>
          <p:cNvPr name="Group 21" id="21"/>
          <p:cNvGrpSpPr/>
          <p:nvPr/>
        </p:nvGrpSpPr>
        <p:grpSpPr>
          <a:xfrm rot="0">
            <a:off x="8934334" y="5027578"/>
            <a:ext cx="8324966" cy="14866"/>
            <a:chOff x="0" y="0"/>
            <a:chExt cx="10668000" cy="19050"/>
          </a:xfrm>
        </p:grpSpPr>
        <p:sp>
          <p:nvSpPr>
            <p:cNvPr name="Freeform 22" id="22"/>
            <p:cNvSpPr/>
            <p:nvPr/>
          </p:nvSpPr>
          <p:spPr>
            <a:xfrm flipH="false" flipV="false" rot="0">
              <a:off x="0" y="0"/>
              <a:ext cx="10668000" cy="19050"/>
            </a:xfrm>
            <a:custGeom>
              <a:avLst/>
              <a:gdLst/>
              <a:ahLst/>
              <a:cxnLst/>
              <a:rect r="r" b="b" t="t" l="l"/>
              <a:pathLst>
                <a:path h="19050" w="10668000">
                  <a:moveTo>
                    <a:pt x="0" y="0"/>
                  </a:moveTo>
                  <a:lnTo>
                    <a:pt x="10668000" y="0"/>
                  </a:lnTo>
                  <a:lnTo>
                    <a:pt x="10668000" y="19050"/>
                  </a:lnTo>
                  <a:lnTo>
                    <a:pt x="0" y="19050"/>
                  </a:lnTo>
                  <a:close/>
                </a:path>
              </a:pathLst>
            </a:custGeom>
            <a:solidFill>
              <a:srgbClr val="E2E8F0"/>
            </a:solidFill>
          </p:spPr>
        </p:sp>
      </p:grpSp>
      <p:grpSp>
        <p:nvGrpSpPr>
          <p:cNvPr name="Group 23" id="23"/>
          <p:cNvGrpSpPr/>
          <p:nvPr/>
        </p:nvGrpSpPr>
        <p:grpSpPr>
          <a:xfrm rot="0">
            <a:off x="609369" y="5922333"/>
            <a:ext cx="5827476" cy="14866"/>
            <a:chOff x="0" y="0"/>
            <a:chExt cx="7467600" cy="19050"/>
          </a:xfrm>
        </p:grpSpPr>
        <p:sp>
          <p:nvSpPr>
            <p:cNvPr name="Freeform 24" id="24"/>
            <p:cNvSpPr/>
            <p:nvPr/>
          </p:nvSpPr>
          <p:spPr>
            <a:xfrm flipH="false" flipV="false" rot="0">
              <a:off x="0" y="0"/>
              <a:ext cx="7467600" cy="19050"/>
            </a:xfrm>
            <a:custGeom>
              <a:avLst/>
              <a:gdLst/>
              <a:ahLst/>
              <a:cxnLst/>
              <a:rect r="r" b="b" t="t" l="l"/>
              <a:pathLst>
                <a:path h="19050" w="7467600">
                  <a:moveTo>
                    <a:pt x="0" y="0"/>
                  </a:moveTo>
                  <a:lnTo>
                    <a:pt x="7467600" y="0"/>
                  </a:lnTo>
                  <a:lnTo>
                    <a:pt x="7467600" y="19050"/>
                  </a:lnTo>
                  <a:lnTo>
                    <a:pt x="0" y="19050"/>
                  </a:lnTo>
                  <a:close/>
                </a:path>
              </a:pathLst>
            </a:custGeom>
            <a:solidFill>
              <a:srgbClr val="E2E8F0"/>
            </a:solidFill>
          </p:spPr>
        </p:sp>
      </p:grpSp>
      <p:grpSp>
        <p:nvGrpSpPr>
          <p:cNvPr name="Group 25" id="25"/>
          <p:cNvGrpSpPr/>
          <p:nvPr/>
        </p:nvGrpSpPr>
        <p:grpSpPr>
          <a:xfrm rot="0">
            <a:off x="6436845" y="5922333"/>
            <a:ext cx="2497490" cy="14866"/>
            <a:chOff x="0" y="0"/>
            <a:chExt cx="3200400" cy="19050"/>
          </a:xfrm>
        </p:grpSpPr>
        <p:sp>
          <p:nvSpPr>
            <p:cNvPr name="Freeform 26" id="26"/>
            <p:cNvSpPr/>
            <p:nvPr/>
          </p:nvSpPr>
          <p:spPr>
            <a:xfrm flipH="false" flipV="false" rot="0">
              <a:off x="0" y="0"/>
              <a:ext cx="3200400" cy="19050"/>
            </a:xfrm>
            <a:custGeom>
              <a:avLst/>
              <a:gdLst/>
              <a:ahLst/>
              <a:cxnLst/>
              <a:rect r="r" b="b" t="t" l="l"/>
              <a:pathLst>
                <a:path h="19050" w="3200400">
                  <a:moveTo>
                    <a:pt x="0" y="0"/>
                  </a:moveTo>
                  <a:lnTo>
                    <a:pt x="3200400" y="0"/>
                  </a:lnTo>
                  <a:lnTo>
                    <a:pt x="3200400" y="19050"/>
                  </a:lnTo>
                  <a:lnTo>
                    <a:pt x="0" y="19050"/>
                  </a:lnTo>
                  <a:close/>
                </a:path>
              </a:pathLst>
            </a:custGeom>
            <a:solidFill>
              <a:srgbClr val="E2E8F0"/>
            </a:solidFill>
          </p:spPr>
        </p:sp>
      </p:grpSp>
      <p:grpSp>
        <p:nvGrpSpPr>
          <p:cNvPr name="Group 27" id="27"/>
          <p:cNvGrpSpPr/>
          <p:nvPr/>
        </p:nvGrpSpPr>
        <p:grpSpPr>
          <a:xfrm rot="0">
            <a:off x="8934334" y="5922333"/>
            <a:ext cx="8324966" cy="14866"/>
            <a:chOff x="0" y="0"/>
            <a:chExt cx="10668000" cy="19050"/>
          </a:xfrm>
        </p:grpSpPr>
        <p:sp>
          <p:nvSpPr>
            <p:cNvPr name="Freeform 28" id="28"/>
            <p:cNvSpPr/>
            <p:nvPr/>
          </p:nvSpPr>
          <p:spPr>
            <a:xfrm flipH="false" flipV="false" rot="0">
              <a:off x="0" y="0"/>
              <a:ext cx="10668000" cy="19050"/>
            </a:xfrm>
            <a:custGeom>
              <a:avLst/>
              <a:gdLst/>
              <a:ahLst/>
              <a:cxnLst/>
              <a:rect r="r" b="b" t="t" l="l"/>
              <a:pathLst>
                <a:path h="19050" w="10668000">
                  <a:moveTo>
                    <a:pt x="0" y="0"/>
                  </a:moveTo>
                  <a:lnTo>
                    <a:pt x="10668000" y="0"/>
                  </a:lnTo>
                  <a:lnTo>
                    <a:pt x="10668000" y="19050"/>
                  </a:lnTo>
                  <a:lnTo>
                    <a:pt x="0" y="19050"/>
                  </a:lnTo>
                  <a:close/>
                </a:path>
              </a:pathLst>
            </a:custGeom>
            <a:solidFill>
              <a:srgbClr val="E2E8F0"/>
            </a:solidFill>
          </p:spPr>
        </p:sp>
      </p:grpSp>
      <p:grpSp>
        <p:nvGrpSpPr>
          <p:cNvPr name="Group 29" id="29"/>
          <p:cNvGrpSpPr/>
          <p:nvPr/>
        </p:nvGrpSpPr>
        <p:grpSpPr>
          <a:xfrm rot="0">
            <a:off x="609369" y="6817079"/>
            <a:ext cx="5827476" cy="14866"/>
            <a:chOff x="0" y="0"/>
            <a:chExt cx="7467600" cy="19050"/>
          </a:xfrm>
        </p:grpSpPr>
        <p:sp>
          <p:nvSpPr>
            <p:cNvPr name="Freeform 30" id="30"/>
            <p:cNvSpPr/>
            <p:nvPr/>
          </p:nvSpPr>
          <p:spPr>
            <a:xfrm flipH="false" flipV="false" rot="0">
              <a:off x="0" y="0"/>
              <a:ext cx="7467600" cy="19050"/>
            </a:xfrm>
            <a:custGeom>
              <a:avLst/>
              <a:gdLst/>
              <a:ahLst/>
              <a:cxnLst/>
              <a:rect r="r" b="b" t="t" l="l"/>
              <a:pathLst>
                <a:path h="19050" w="7467600">
                  <a:moveTo>
                    <a:pt x="0" y="0"/>
                  </a:moveTo>
                  <a:lnTo>
                    <a:pt x="7467600" y="0"/>
                  </a:lnTo>
                  <a:lnTo>
                    <a:pt x="7467600" y="19050"/>
                  </a:lnTo>
                  <a:lnTo>
                    <a:pt x="0" y="19050"/>
                  </a:lnTo>
                  <a:close/>
                </a:path>
              </a:pathLst>
            </a:custGeom>
            <a:solidFill>
              <a:srgbClr val="E2E8F0"/>
            </a:solidFill>
          </p:spPr>
        </p:sp>
      </p:grpSp>
      <p:grpSp>
        <p:nvGrpSpPr>
          <p:cNvPr name="Group 31" id="31"/>
          <p:cNvGrpSpPr/>
          <p:nvPr/>
        </p:nvGrpSpPr>
        <p:grpSpPr>
          <a:xfrm rot="0">
            <a:off x="6436845" y="6817079"/>
            <a:ext cx="2497490" cy="14866"/>
            <a:chOff x="0" y="0"/>
            <a:chExt cx="3200400" cy="19050"/>
          </a:xfrm>
        </p:grpSpPr>
        <p:sp>
          <p:nvSpPr>
            <p:cNvPr name="Freeform 32" id="32"/>
            <p:cNvSpPr/>
            <p:nvPr/>
          </p:nvSpPr>
          <p:spPr>
            <a:xfrm flipH="false" flipV="false" rot="0">
              <a:off x="0" y="0"/>
              <a:ext cx="3200400" cy="19050"/>
            </a:xfrm>
            <a:custGeom>
              <a:avLst/>
              <a:gdLst/>
              <a:ahLst/>
              <a:cxnLst/>
              <a:rect r="r" b="b" t="t" l="l"/>
              <a:pathLst>
                <a:path h="19050" w="3200400">
                  <a:moveTo>
                    <a:pt x="0" y="0"/>
                  </a:moveTo>
                  <a:lnTo>
                    <a:pt x="3200400" y="0"/>
                  </a:lnTo>
                  <a:lnTo>
                    <a:pt x="3200400" y="19050"/>
                  </a:lnTo>
                  <a:lnTo>
                    <a:pt x="0" y="19050"/>
                  </a:lnTo>
                  <a:close/>
                </a:path>
              </a:pathLst>
            </a:custGeom>
            <a:solidFill>
              <a:srgbClr val="E2E8F0"/>
            </a:solidFill>
          </p:spPr>
        </p:sp>
      </p:grpSp>
      <p:grpSp>
        <p:nvGrpSpPr>
          <p:cNvPr name="Group 33" id="33"/>
          <p:cNvGrpSpPr/>
          <p:nvPr/>
        </p:nvGrpSpPr>
        <p:grpSpPr>
          <a:xfrm rot="0">
            <a:off x="8934334" y="6817079"/>
            <a:ext cx="8324966" cy="14866"/>
            <a:chOff x="0" y="0"/>
            <a:chExt cx="10668000" cy="19050"/>
          </a:xfrm>
        </p:grpSpPr>
        <p:sp>
          <p:nvSpPr>
            <p:cNvPr name="Freeform 34" id="34"/>
            <p:cNvSpPr/>
            <p:nvPr/>
          </p:nvSpPr>
          <p:spPr>
            <a:xfrm flipH="false" flipV="false" rot="0">
              <a:off x="0" y="0"/>
              <a:ext cx="10668000" cy="19050"/>
            </a:xfrm>
            <a:custGeom>
              <a:avLst/>
              <a:gdLst/>
              <a:ahLst/>
              <a:cxnLst/>
              <a:rect r="r" b="b" t="t" l="l"/>
              <a:pathLst>
                <a:path h="19050" w="10668000">
                  <a:moveTo>
                    <a:pt x="0" y="0"/>
                  </a:moveTo>
                  <a:lnTo>
                    <a:pt x="10668000" y="0"/>
                  </a:lnTo>
                  <a:lnTo>
                    <a:pt x="10668000" y="19050"/>
                  </a:lnTo>
                  <a:lnTo>
                    <a:pt x="0" y="19050"/>
                  </a:lnTo>
                  <a:close/>
                </a:path>
              </a:pathLst>
            </a:custGeom>
            <a:solidFill>
              <a:srgbClr val="E2E8F0"/>
            </a:solidFill>
          </p:spPr>
        </p:sp>
      </p:grpSp>
      <p:grpSp>
        <p:nvGrpSpPr>
          <p:cNvPr name="Group 35" id="35"/>
          <p:cNvGrpSpPr/>
          <p:nvPr/>
        </p:nvGrpSpPr>
        <p:grpSpPr>
          <a:xfrm rot="0">
            <a:off x="609369" y="7711824"/>
            <a:ext cx="5827476" cy="14866"/>
            <a:chOff x="0" y="0"/>
            <a:chExt cx="7467600" cy="19050"/>
          </a:xfrm>
        </p:grpSpPr>
        <p:sp>
          <p:nvSpPr>
            <p:cNvPr name="Freeform 36" id="36"/>
            <p:cNvSpPr/>
            <p:nvPr/>
          </p:nvSpPr>
          <p:spPr>
            <a:xfrm flipH="false" flipV="false" rot="0">
              <a:off x="0" y="0"/>
              <a:ext cx="7467600" cy="19050"/>
            </a:xfrm>
            <a:custGeom>
              <a:avLst/>
              <a:gdLst/>
              <a:ahLst/>
              <a:cxnLst/>
              <a:rect r="r" b="b" t="t" l="l"/>
              <a:pathLst>
                <a:path h="19050" w="7467600">
                  <a:moveTo>
                    <a:pt x="0" y="0"/>
                  </a:moveTo>
                  <a:lnTo>
                    <a:pt x="7467600" y="0"/>
                  </a:lnTo>
                  <a:lnTo>
                    <a:pt x="7467600" y="19050"/>
                  </a:lnTo>
                  <a:lnTo>
                    <a:pt x="0" y="19050"/>
                  </a:lnTo>
                  <a:close/>
                </a:path>
              </a:pathLst>
            </a:custGeom>
            <a:solidFill>
              <a:srgbClr val="E2E8F0"/>
            </a:solidFill>
          </p:spPr>
        </p:sp>
      </p:grpSp>
      <p:grpSp>
        <p:nvGrpSpPr>
          <p:cNvPr name="Group 37" id="37"/>
          <p:cNvGrpSpPr/>
          <p:nvPr/>
        </p:nvGrpSpPr>
        <p:grpSpPr>
          <a:xfrm rot="0">
            <a:off x="6436845" y="7711824"/>
            <a:ext cx="2497490" cy="14866"/>
            <a:chOff x="0" y="0"/>
            <a:chExt cx="3200400" cy="19050"/>
          </a:xfrm>
        </p:grpSpPr>
        <p:sp>
          <p:nvSpPr>
            <p:cNvPr name="Freeform 38" id="38"/>
            <p:cNvSpPr/>
            <p:nvPr/>
          </p:nvSpPr>
          <p:spPr>
            <a:xfrm flipH="false" flipV="false" rot="0">
              <a:off x="0" y="0"/>
              <a:ext cx="3200400" cy="19050"/>
            </a:xfrm>
            <a:custGeom>
              <a:avLst/>
              <a:gdLst/>
              <a:ahLst/>
              <a:cxnLst/>
              <a:rect r="r" b="b" t="t" l="l"/>
              <a:pathLst>
                <a:path h="19050" w="3200400">
                  <a:moveTo>
                    <a:pt x="0" y="0"/>
                  </a:moveTo>
                  <a:lnTo>
                    <a:pt x="3200400" y="0"/>
                  </a:lnTo>
                  <a:lnTo>
                    <a:pt x="3200400" y="19050"/>
                  </a:lnTo>
                  <a:lnTo>
                    <a:pt x="0" y="19050"/>
                  </a:lnTo>
                  <a:close/>
                </a:path>
              </a:pathLst>
            </a:custGeom>
            <a:solidFill>
              <a:srgbClr val="E2E8F0"/>
            </a:solidFill>
          </p:spPr>
        </p:sp>
      </p:grpSp>
      <p:grpSp>
        <p:nvGrpSpPr>
          <p:cNvPr name="Group 39" id="39"/>
          <p:cNvGrpSpPr/>
          <p:nvPr/>
        </p:nvGrpSpPr>
        <p:grpSpPr>
          <a:xfrm rot="0">
            <a:off x="8934334" y="7711824"/>
            <a:ext cx="8324966" cy="14866"/>
            <a:chOff x="0" y="0"/>
            <a:chExt cx="10668000" cy="19050"/>
          </a:xfrm>
        </p:grpSpPr>
        <p:sp>
          <p:nvSpPr>
            <p:cNvPr name="Freeform 40" id="40"/>
            <p:cNvSpPr/>
            <p:nvPr/>
          </p:nvSpPr>
          <p:spPr>
            <a:xfrm flipH="false" flipV="false" rot="0">
              <a:off x="0" y="0"/>
              <a:ext cx="10668000" cy="19050"/>
            </a:xfrm>
            <a:custGeom>
              <a:avLst/>
              <a:gdLst/>
              <a:ahLst/>
              <a:cxnLst/>
              <a:rect r="r" b="b" t="t" l="l"/>
              <a:pathLst>
                <a:path h="19050" w="10668000">
                  <a:moveTo>
                    <a:pt x="0" y="0"/>
                  </a:moveTo>
                  <a:lnTo>
                    <a:pt x="10668000" y="0"/>
                  </a:lnTo>
                  <a:lnTo>
                    <a:pt x="10668000" y="19050"/>
                  </a:lnTo>
                  <a:lnTo>
                    <a:pt x="0" y="19050"/>
                  </a:lnTo>
                  <a:close/>
                </a:path>
              </a:pathLst>
            </a:custGeom>
            <a:solidFill>
              <a:srgbClr val="E2E8F0"/>
            </a:solidFill>
          </p:spPr>
        </p:sp>
      </p:grpSp>
      <p:grpSp>
        <p:nvGrpSpPr>
          <p:cNvPr name="Group 41" id="41"/>
          <p:cNvGrpSpPr/>
          <p:nvPr/>
        </p:nvGrpSpPr>
        <p:grpSpPr>
          <a:xfrm rot="0">
            <a:off x="609369" y="8434223"/>
            <a:ext cx="5827476" cy="14866"/>
            <a:chOff x="0" y="0"/>
            <a:chExt cx="7467600" cy="19050"/>
          </a:xfrm>
        </p:grpSpPr>
        <p:sp>
          <p:nvSpPr>
            <p:cNvPr name="Freeform 42" id="42"/>
            <p:cNvSpPr/>
            <p:nvPr/>
          </p:nvSpPr>
          <p:spPr>
            <a:xfrm flipH="false" flipV="false" rot="0">
              <a:off x="0" y="0"/>
              <a:ext cx="7467600" cy="19050"/>
            </a:xfrm>
            <a:custGeom>
              <a:avLst/>
              <a:gdLst/>
              <a:ahLst/>
              <a:cxnLst/>
              <a:rect r="r" b="b" t="t" l="l"/>
              <a:pathLst>
                <a:path h="19050" w="7467600">
                  <a:moveTo>
                    <a:pt x="0" y="0"/>
                  </a:moveTo>
                  <a:lnTo>
                    <a:pt x="7467600" y="0"/>
                  </a:lnTo>
                  <a:lnTo>
                    <a:pt x="7467600" y="19050"/>
                  </a:lnTo>
                  <a:lnTo>
                    <a:pt x="0" y="19050"/>
                  </a:lnTo>
                  <a:close/>
                </a:path>
              </a:pathLst>
            </a:custGeom>
            <a:solidFill>
              <a:srgbClr val="E2E8F0"/>
            </a:solidFill>
          </p:spPr>
        </p:sp>
      </p:grpSp>
      <p:grpSp>
        <p:nvGrpSpPr>
          <p:cNvPr name="Group 43" id="43"/>
          <p:cNvGrpSpPr/>
          <p:nvPr/>
        </p:nvGrpSpPr>
        <p:grpSpPr>
          <a:xfrm rot="0">
            <a:off x="6436845" y="8434223"/>
            <a:ext cx="2497490" cy="14866"/>
            <a:chOff x="0" y="0"/>
            <a:chExt cx="3200400" cy="19050"/>
          </a:xfrm>
        </p:grpSpPr>
        <p:sp>
          <p:nvSpPr>
            <p:cNvPr name="Freeform 44" id="44"/>
            <p:cNvSpPr/>
            <p:nvPr/>
          </p:nvSpPr>
          <p:spPr>
            <a:xfrm flipH="false" flipV="false" rot="0">
              <a:off x="0" y="0"/>
              <a:ext cx="3200400" cy="19050"/>
            </a:xfrm>
            <a:custGeom>
              <a:avLst/>
              <a:gdLst/>
              <a:ahLst/>
              <a:cxnLst/>
              <a:rect r="r" b="b" t="t" l="l"/>
              <a:pathLst>
                <a:path h="19050" w="3200400">
                  <a:moveTo>
                    <a:pt x="0" y="0"/>
                  </a:moveTo>
                  <a:lnTo>
                    <a:pt x="3200400" y="0"/>
                  </a:lnTo>
                  <a:lnTo>
                    <a:pt x="3200400" y="19050"/>
                  </a:lnTo>
                  <a:lnTo>
                    <a:pt x="0" y="19050"/>
                  </a:lnTo>
                  <a:close/>
                </a:path>
              </a:pathLst>
            </a:custGeom>
            <a:solidFill>
              <a:srgbClr val="E2E8F0"/>
            </a:solidFill>
          </p:spPr>
        </p:sp>
      </p:grpSp>
      <p:grpSp>
        <p:nvGrpSpPr>
          <p:cNvPr name="Group 45" id="45"/>
          <p:cNvGrpSpPr/>
          <p:nvPr/>
        </p:nvGrpSpPr>
        <p:grpSpPr>
          <a:xfrm rot="0">
            <a:off x="8934334" y="8434223"/>
            <a:ext cx="8324966" cy="14866"/>
            <a:chOff x="0" y="0"/>
            <a:chExt cx="10668000" cy="19050"/>
          </a:xfrm>
        </p:grpSpPr>
        <p:sp>
          <p:nvSpPr>
            <p:cNvPr name="Freeform 46" id="46"/>
            <p:cNvSpPr/>
            <p:nvPr/>
          </p:nvSpPr>
          <p:spPr>
            <a:xfrm flipH="false" flipV="false" rot="0">
              <a:off x="0" y="0"/>
              <a:ext cx="10668000" cy="19050"/>
            </a:xfrm>
            <a:custGeom>
              <a:avLst/>
              <a:gdLst/>
              <a:ahLst/>
              <a:cxnLst/>
              <a:rect r="r" b="b" t="t" l="l"/>
              <a:pathLst>
                <a:path h="19050" w="10668000">
                  <a:moveTo>
                    <a:pt x="0" y="0"/>
                  </a:moveTo>
                  <a:lnTo>
                    <a:pt x="10668000" y="0"/>
                  </a:lnTo>
                  <a:lnTo>
                    <a:pt x="10668000" y="19050"/>
                  </a:lnTo>
                  <a:lnTo>
                    <a:pt x="0" y="19050"/>
                  </a:lnTo>
                  <a:close/>
                </a:path>
              </a:pathLst>
            </a:custGeom>
            <a:solidFill>
              <a:srgbClr val="E2E8F0"/>
            </a:solidFill>
          </p:spPr>
        </p:sp>
      </p:grpSp>
      <p:sp>
        <p:nvSpPr>
          <p:cNvPr name="TextBox 47" id="47"/>
          <p:cNvSpPr txBox="true"/>
          <p:nvPr/>
        </p:nvSpPr>
        <p:spPr>
          <a:xfrm rot="0">
            <a:off x="609369" y="1310169"/>
            <a:ext cx="12737068" cy="695325"/>
          </a:xfrm>
          <a:prstGeom prst="rect">
            <a:avLst/>
          </a:prstGeom>
        </p:spPr>
        <p:txBody>
          <a:bodyPr anchor="t" rtlCol="false" tIns="0" lIns="0" bIns="0" rIns="0">
            <a:spAutoFit/>
          </a:bodyPr>
          <a:lstStyle/>
          <a:p>
            <a:pPr algn="l">
              <a:lnSpc>
                <a:spcPts val="5130"/>
              </a:lnSpc>
            </a:pPr>
            <a:r>
              <a:rPr lang="en-US" b="true" sz="4275">
                <a:solidFill>
                  <a:srgbClr val="FFFFFF"/>
                </a:solidFill>
                <a:latin typeface="Poppins Bold"/>
                <a:ea typeface="Poppins Bold"/>
                <a:cs typeface="Poppins Bold"/>
                <a:sym typeface="Poppins Bold"/>
              </a:rPr>
              <a:t>Funcionalidades Seleccionadas para el Sprint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TextBox 2" id="2"/>
          <p:cNvSpPr txBox="true"/>
          <p:nvPr/>
        </p:nvSpPr>
        <p:spPr>
          <a:xfrm rot="0">
            <a:off x="16096376" y="9340399"/>
            <a:ext cx="873698" cy="273701"/>
          </a:xfrm>
          <a:prstGeom prst="rect">
            <a:avLst/>
          </a:prstGeom>
        </p:spPr>
        <p:txBody>
          <a:bodyPr anchor="t" rtlCol="false" tIns="0" lIns="0" bIns="0" rIns="0">
            <a:spAutoFit/>
          </a:bodyPr>
          <a:lstStyle/>
          <a:p>
            <a:pPr algn="r">
              <a:lnSpc>
                <a:spcPts val="2240"/>
              </a:lnSpc>
              <a:spcBef>
                <a:spcPct val="0"/>
              </a:spcBef>
            </a:pPr>
            <a:r>
              <a:rPr lang="en-US" b="true" sz="1600" spc="16">
                <a:solidFill>
                  <a:srgbClr val="FFFFFF"/>
                </a:solidFill>
                <a:latin typeface="Neue Montreal Bold"/>
                <a:ea typeface="Neue Montreal Bold"/>
                <a:cs typeface="Neue Montreal Bold"/>
                <a:sym typeface="Neue Montreal Bold"/>
              </a:rPr>
              <a:t>Page</a:t>
            </a:r>
          </a:p>
        </p:txBody>
      </p:sp>
      <p:sp>
        <p:nvSpPr>
          <p:cNvPr name="TextBox 3" id="3"/>
          <p:cNvSpPr txBox="true"/>
          <p:nvPr/>
        </p:nvSpPr>
        <p:spPr>
          <a:xfrm rot="0">
            <a:off x="16882414" y="9340399"/>
            <a:ext cx="450503" cy="273701"/>
          </a:xfrm>
          <a:prstGeom prst="rect">
            <a:avLst/>
          </a:prstGeom>
        </p:spPr>
        <p:txBody>
          <a:bodyPr anchor="t" rtlCol="false" tIns="0" lIns="0" bIns="0" rIns="0">
            <a:spAutoFit/>
          </a:bodyPr>
          <a:lstStyle/>
          <a:p>
            <a:pPr algn="r">
              <a:lnSpc>
                <a:spcPts val="2240"/>
              </a:lnSpc>
              <a:spcBef>
                <a:spcPct val="0"/>
              </a:spcBef>
            </a:pPr>
            <a:r>
              <a:rPr lang="en-US" sz="1600" spc="16">
                <a:solidFill>
                  <a:srgbClr val="FFFFFF"/>
                </a:solidFill>
                <a:latin typeface="Neue Montreal"/>
                <a:ea typeface="Neue Montreal"/>
                <a:cs typeface="Neue Montreal"/>
                <a:sym typeface="Neue Montreal"/>
              </a:rPr>
              <a:t>05</a:t>
            </a:r>
          </a:p>
        </p:txBody>
      </p:sp>
      <p:grpSp>
        <p:nvGrpSpPr>
          <p:cNvPr name="Group 4" id="4"/>
          <p:cNvGrpSpPr/>
          <p:nvPr/>
        </p:nvGrpSpPr>
        <p:grpSpPr>
          <a:xfrm rot="0">
            <a:off x="1143000" y="2811285"/>
            <a:ext cx="7786688" cy="3600450"/>
            <a:chOff x="0" y="0"/>
            <a:chExt cx="10382250" cy="4800600"/>
          </a:xfrm>
        </p:grpSpPr>
        <p:sp>
          <p:nvSpPr>
            <p:cNvPr name="Freeform 5" id="5" descr="image.png"/>
            <p:cNvSpPr/>
            <p:nvPr/>
          </p:nvSpPr>
          <p:spPr>
            <a:xfrm flipH="false" flipV="false" rot="0">
              <a:off x="0" y="0"/>
              <a:ext cx="10382250" cy="4800600"/>
            </a:xfrm>
            <a:custGeom>
              <a:avLst/>
              <a:gdLst/>
              <a:ahLst/>
              <a:cxnLst/>
              <a:rect r="r" b="b" t="t" l="l"/>
              <a:pathLst>
                <a:path h="4800600" w="10382250">
                  <a:moveTo>
                    <a:pt x="0" y="0"/>
                  </a:moveTo>
                  <a:lnTo>
                    <a:pt x="10382250" y="0"/>
                  </a:lnTo>
                  <a:lnTo>
                    <a:pt x="10382250" y="4800600"/>
                  </a:lnTo>
                  <a:lnTo>
                    <a:pt x="0" y="4800600"/>
                  </a:lnTo>
                  <a:lnTo>
                    <a:pt x="0" y="0"/>
                  </a:lnTo>
                  <a:close/>
                </a:path>
              </a:pathLst>
            </a:custGeom>
            <a:blipFill>
              <a:blip r:embed="rId2"/>
              <a:stretch>
                <a:fillRect l="0" t="0" r="0" b="-396"/>
              </a:stretch>
            </a:blipFill>
          </p:spPr>
        </p:sp>
      </p:grpSp>
      <p:grpSp>
        <p:nvGrpSpPr>
          <p:cNvPr name="Group 6" id="6"/>
          <p:cNvGrpSpPr/>
          <p:nvPr/>
        </p:nvGrpSpPr>
        <p:grpSpPr>
          <a:xfrm rot="0">
            <a:off x="9358312" y="2811285"/>
            <a:ext cx="7786688" cy="3600450"/>
            <a:chOff x="0" y="0"/>
            <a:chExt cx="10382250" cy="4800600"/>
          </a:xfrm>
        </p:grpSpPr>
        <p:sp>
          <p:nvSpPr>
            <p:cNvPr name="Freeform 7" id="7" descr="image.png"/>
            <p:cNvSpPr/>
            <p:nvPr/>
          </p:nvSpPr>
          <p:spPr>
            <a:xfrm flipH="false" flipV="false" rot="0">
              <a:off x="0" y="0"/>
              <a:ext cx="10382250" cy="4800600"/>
            </a:xfrm>
            <a:custGeom>
              <a:avLst/>
              <a:gdLst/>
              <a:ahLst/>
              <a:cxnLst/>
              <a:rect r="r" b="b" t="t" l="l"/>
              <a:pathLst>
                <a:path h="4800600" w="10382250">
                  <a:moveTo>
                    <a:pt x="0" y="0"/>
                  </a:moveTo>
                  <a:lnTo>
                    <a:pt x="10382250" y="0"/>
                  </a:lnTo>
                  <a:lnTo>
                    <a:pt x="10382250" y="4800600"/>
                  </a:lnTo>
                  <a:lnTo>
                    <a:pt x="0" y="4800600"/>
                  </a:lnTo>
                  <a:lnTo>
                    <a:pt x="0" y="0"/>
                  </a:lnTo>
                  <a:close/>
                </a:path>
              </a:pathLst>
            </a:custGeom>
            <a:blipFill>
              <a:blip r:embed="rId3"/>
              <a:stretch>
                <a:fillRect l="0" t="0" r="0" b="-396"/>
              </a:stretch>
            </a:blipFill>
          </p:spPr>
        </p:sp>
      </p:grpSp>
      <p:grpSp>
        <p:nvGrpSpPr>
          <p:cNvPr name="Group 8" id="8"/>
          <p:cNvGrpSpPr/>
          <p:nvPr/>
        </p:nvGrpSpPr>
        <p:grpSpPr>
          <a:xfrm rot="0">
            <a:off x="1143000" y="6992760"/>
            <a:ext cx="16002000" cy="1905000"/>
            <a:chOff x="0" y="0"/>
            <a:chExt cx="21336000" cy="2540000"/>
          </a:xfrm>
        </p:grpSpPr>
        <p:sp>
          <p:nvSpPr>
            <p:cNvPr name="Freeform 9" id="9" descr="image.png"/>
            <p:cNvSpPr/>
            <p:nvPr/>
          </p:nvSpPr>
          <p:spPr>
            <a:xfrm flipH="false" flipV="false" rot="0">
              <a:off x="0" y="0"/>
              <a:ext cx="21336000" cy="2540000"/>
            </a:xfrm>
            <a:custGeom>
              <a:avLst/>
              <a:gdLst/>
              <a:ahLst/>
              <a:cxnLst/>
              <a:rect r="r" b="b" t="t" l="l"/>
              <a:pathLst>
                <a:path h="2540000" w="21336000">
                  <a:moveTo>
                    <a:pt x="0" y="0"/>
                  </a:moveTo>
                  <a:lnTo>
                    <a:pt x="21336000" y="0"/>
                  </a:lnTo>
                  <a:lnTo>
                    <a:pt x="21336000" y="2540000"/>
                  </a:lnTo>
                  <a:lnTo>
                    <a:pt x="0" y="2540000"/>
                  </a:lnTo>
                  <a:lnTo>
                    <a:pt x="0" y="0"/>
                  </a:lnTo>
                  <a:close/>
                </a:path>
              </a:pathLst>
            </a:custGeom>
            <a:blipFill>
              <a:blip r:embed="rId4"/>
              <a:stretch>
                <a:fillRect l="0" t="-250" r="0" b="-1000"/>
              </a:stretch>
            </a:blipFill>
          </p:spPr>
        </p:sp>
      </p:grpSp>
      <p:sp>
        <p:nvSpPr>
          <p:cNvPr name="TextBox 10" id="10"/>
          <p:cNvSpPr txBox="true"/>
          <p:nvPr/>
        </p:nvSpPr>
        <p:spPr>
          <a:xfrm rot="0">
            <a:off x="1585912" y="3511372"/>
            <a:ext cx="5289590" cy="371475"/>
          </a:xfrm>
          <a:prstGeom prst="rect">
            <a:avLst/>
          </a:prstGeom>
        </p:spPr>
        <p:txBody>
          <a:bodyPr anchor="t" rtlCol="false" tIns="0" lIns="0" bIns="0" rIns="0">
            <a:spAutoFit/>
          </a:bodyPr>
          <a:lstStyle/>
          <a:p>
            <a:pPr algn="l">
              <a:lnSpc>
                <a:spcPts val="2700"/>
              </a:lnSpc>
            </a:pPr>
            <a:r>
              <a:rPr lang="en-US" b="true" sz="2250">
                <a:solidFill>
                  <a:srgbClr val="0F172A"/>
                </a:solidFill>
                <a:latin typeface="Poppins Bold"/>
                <a:ea typeface="Poppins Bold"/>
                <a:cs typeface="Poppins Bold"/>
                <a:sym typeface="Poppins Bold"/>
              </a:rPr>
              <a:t>1. Estabilización de Riesgos Técnicos</a:t>
            </a:r>
          </a:p>
        </p:txBody>
      </p:sp>
      <p:grpSp>
        <p:nvGrpSpPr>
          <p:cNvPr name="Group 11" id="11"/>
          <p:cNvGrpSpPr/>
          <p:nvPr/>
        </p:nvGrpSpPr>
        <p:grpSpPr>
          <a:xfrm rot="0">
            <a:off x="1585912" y="4011435"/>
            <a:ext cx="6900862" cy="28575"/>
            <a:chOff x="0" y="0"/>
            <a:chExt cx="9201150" cy="38100"/>
          </a:xfrm>
        </p:grpSpPr>
        <p:sp>
          <p:nvSpPr>
            <p:cNvPr name="Freeform 12" id="12"/>
            <p:cNvSpPr/>
            <p:nvPr/>
          </p:nvSpPr>
          <p:spPr>
            <a:xfrm flipH="false" flipV="false" rot="0">
              <a:off x="0" y="0"/>
              <a:ext cx="9201150" cy="38100"/>
            </a:xfrm>
            <a:custGeom>
              <a:avLst/>
              <a:gdLst/>
              <a:ahLst/>
              <a:cxnLst/>
              <a:rect r="r" b="b" t="t" l="l"/>
              <a:pathLst>
                <a:path h="38100" w="9201150">
                  <a:moveTo>
                    <a:pt x="0" y="0"/>
                  </a:moveTo>
                  <a:lnTo>
                    <a:pt x="9201150" y="0"/>
                  </a:lnTo>
                  <a:lnTo>
                    <a:pt x="9201150" y="38100"/>
                  </a:lnTo>
                  <a:lnTo>
                    <a:pt x="0" y="38100"/>
                  </a:lnTo>
                  <a:close/>
                </a:path>
              </a:pathLst>
            </a:custGeom>
            <a:solidFill>
              <a:srgbClr val="E2E8F0"/>
            </a:solidFill>
          </p:spPr>
        </p:sp>
      </p:grpSp>
      <p:sp>
        <p:nvSpPr>
          <p:cNvPr name="TextBox 13" id="13"/>
          <p:cNvSpPr txBox="true"/>
          <p:nvPr/>
        </p:nvSpPr>
        <p:spPr>
          <a:xfrm rot="0">
            <a:off x="1585912" y="4140022"/>
            <a:ext cx="6900862" cy="2007870"/>
          </a:xfrm>
          <a:prstGeom prst="rect">
            <a:avLst/>
          </a:prstGeom>
        </p:spPr>
        <p:txBody>
          <a:bodyPr anchor="t" rtlCol="false" tIns="0" lIns="0" bIns="0" rIns="0">
            <a:spAutoFit/>
          </a:bodyPr>
          <a:lstStyle/>
          <a:p>
            <a:pPr algn="l">
              <a:lnSpc>
                <a:spcPts val="3240"/>
              </a:lnSpc>
            </a:pPr>
            <a:r>
              <a:rPr lang="en-US" sz="1687">
                <a:solidFill>
                  <a:srgbClr val="000000"/>
                </a:solidFill>
                <a:latin typeface="Inter"/>
                <a:ea typeface="Inter"/>
                <a:cs typeface="Inter"/>
                <a:sym typeface="Inter"/>
              </a:rPr>
              <a:t>P</a:t>
            </a:r>
            <a:r>
              <a:rPr lang="en-US" sz="1687">
                <a:solidFill>
                  <a:srgbClr val="000000"/>
                </a:solidFill>
                <a:latin typeface="Inter"/>
                <a:ea typeface="Inter"/>
                <a:cs typeface="Inter"/>
                <a:sym typeface="Inter"/>
              </a:rPr>
              <a:t>rimero se trabajará en corregir los problemas más importantes del sistema de inventario. Se evitará que existan códigos repetidos, se mejorará la importación de datos desde archivos de Excel o CSV y se organizará correctamente el historial de asignaciones sin afectar la información que ya está registrada.</a:t>
            </a:r>
          </a:p>
        </p:txBody>
      </p:sp>
      <p:sp>
        <p:nvSpPr>
          <p:cNvPr name="TextBox 14" id="14"/>
          <p:cNvSpPr txBox="true"/>
          <p:nvPr/>
        </p:nvSpPr>
        <p:spPr>
          <a:xfrm rot="0">
            <a:off x="9801225" y="3511372"/>
            <a:ext cx="4680109" cy="371475"/>
          </a:xfrm>
          <a:prstGeom prst="rect">
            <a:avLst/>
          </a:prstGeom>
        </p:spPr>
        <p:txBody>
          <a:bodyPr anchor="t" rtlCol="false" tIns="0" lIns="0" bIns="0" rIns="0">
            <a:spAutoFit/>
          </a:bodyPr>
          <a:lstStyle/>
          <a:p>
            <a:pPr algn="l">
              <a:lnSpc>
                <a:spcPts val="2700"/>
              </a:lnSpc>
            </a:pPr>
            <a:r>
              <a:rPr lang="en-US" b="true" sz="2250">
                <a:solidFill>
                  <a:srgbClr val="0F172A"/>
                </a:solidFill>
                <a:latin typeface="Poppins Bold"/>
                <a:ea typeface="Poppins Bold"/>
                <a:cs typeface="Poppins Bold"/>
                <a:sym typeface="Poppins Bold"/>
              </a:rPr>
              <a:t>2. Usabilidad y Operación Diaria</a:t>
            </a:r>
          </a:p>
        </p:txBody>
      </p:sp>
      <p:grpSp>
        <p:nvGrpSpPr>
          <p:cNvPr name="Group 15" id="15"/>
          <p:cNvGrpSpPr/>
          <p:nvPr/>
        </p:nvGrpSpPr>
        <p:grpSpPr>
          <a:xfrm rot="0">
            <a:off x="9801225" y="4011435"/>
            <a:ext cx="6900862" cy="28575"/>
            <a:chOff x="0" y="0"/>
            <a:chExt cx="9201150" cy="38100"/>
          </a:xfrm>
        </p:grpSpPr>
        <p:sp>
          <p:nvSpPr>
            <p:cNvPr name="Freeform 16" id="16"/>
            <p:cNvSpPr/>
            <p:nvPr/>
          </p:nvSpPr>
          <p:spPr>
            <a:xfrm flipH="false" flipV="false" rot="0">
              <a:off x="0" y="0"/>
              <a:ext cx="9201150" cy="38100"/>
            </a:xfrm>
            <a:custGeom>
              <a:avLst/>
              <a:gdLst/>
              <a:ahLst/>
              <a:cxnLst/>
              <a:rect r="r" b="b" t="t" l="l"/>
              <a:pathLst>
                <a:path h="38100" w="9201150">
                  <a:moveTo>
                    <a:pt x="0" y="0"/>
                  </a:moveTo>
                  <a:lnTo>
                    <a:pt x="9201150" y="0"/>
                  </a:lnTo>
                  <a:lnTo>
                    <a:pt x="9201150" y="38100"/>
                  </a:lnTo>
                  <a:lnTo>
                    <a:pt x="0" y="38100"/>
                  </a:lnTo>
                  <a:close/>
                </a:path>
              </a:pathLst>
            </a:custGeom>
            <a:solidFill>
              <a:srgbClr val="E2E8F0"/>
            </a:solidFill>
          </p:spPr>
        </p:sp>
      </p:grpSp>
      <p:sp>
        <p:nvSpPr>
          <p:cNvPr name="TextBox 17" id="17"/>
          <p:cNvSpPr txBox="true"/>
          <p:nvPr/>
        </p:nvSpPr>
        <p:spPr>
          <a:xfrm rot="0">
            <a:off x="9801225" y="4140022"/>
            <a:ext cx="6900862" cy="2007870"/>
          </a:xfrm>
          <a:prstGeom prst="rect">
            <a:avLst/>
          </a:prstGeom>
        </p:spPr>
        <p:txBody>
          <a:bodyPr anchor="t" rtlCol="false" tIns="0" lIns="0" bIns="0" rIns="0">
            <a:spAutoFit/>
          </a:bodyPr>
          <a:lstStyle/>
          <a:p>
            <a:pPr algn="l">
              <a:lnSpc>
                <a:spcPts val="3240"/>
              </a:lnSpc>
            </a:pPr>
            <a:r>
              <a:rPr lang="en-US" sz="1687">
                <a:solidFill>
                  <a:srgbClr val="000000"/>
                </a:solidFill>
                <a:latin typeface="Inter"/>
                <a:ea typeface="Inter"/>
                <a:cs typeface="Inter"/>
                <a:sym typeface="Inter"/>
              </a:rPr>
              <a:t>Después</a:t>
            </a:r>
            <a:r>
              <a:rPr lang="en-US" sz="1687">
                <a:solidFill>
                  <a:srgbClr val="000000"/>
                </a:solidFill>
                <a:latin typeface="Inter"/>
                <a:ea typeface="Inter"/>
                <a:cs typeface="Inter"/>
                <a:sym typeface="Inter"/>
              </a:rPr>
              <a:t> de asegurar que la información sea correcta, se implementarán mejoras para facilitar el uso del sistema. Se definirán los permisos de cada usuario según su rol, se mejorarán los filtros para generar reportes más fácilmente y se agregarán mensajes de advertencia claros para reducir errores al utilizar la aplicación.</a:t>
            </a:r>
          </a:p>
        </p:txBody>
      </p:sp>
      <p:sp>
        <p:nvSpPr>
          <p:cNvPr name="TextBox 18" id="18"/>
          <p:cNvSpPr txBox="true"/>
          <p:nvPr/>
        </p:nvSpPr>
        <p:spPr>
          <a:xfrm rot="0">
            <a:off x="1585912" y="7311847"/>
            <a:ext cx="15116175" cy="1188720"/>
          </a:xfrm>
          <a:prstGeom prst="rect">
            <a:avLst/>
          </a:prstGeom>
        </p:spPr>
        <p:txBody>
          <a:bodyPr anchor="t" rtlCol="false" tIns="0" lIns="0" bIns="0" rIns="0">
            <a:spAutoFit/>
          </a:bodyPr>
          <a:lstStyle/>
          <a:p>
            <a:pPr algn="l">
              <a:lnSpc>
                <a:spcPts val="3240"/>
              </a:lnSpc>
            </a:pPr>
            <a:r>
              <a:rPr lang="en-US" b="true" sz="1687" i="true">
                <a:solidFill>
                  <a:srgbClr val="475569"/>
                </a:solidFill>
                <a:latin typeface="Inter Bold Italics"/>
                <a:ea typeface="Inter Bold Italics"/>
                <a:cs typeface="Inter Bold Italics"/>
                <a:sym typeface="Inter Bold Italics"/>
              </a:rPr>
              <a:t>Estrategia del Backlog:</a:t>
            </a:r>
            <a:r>
              <a:rPr lang="en-US" sz="1687" i="true">
                <a:solidFill>
                  <a:srgbClr val="475569"/>
                </a:solidFill>
                <a:latin typeface="Inter Italics"/>
                <a:ea typeface="Inter Italics"/>
                <a:cs typeface="Inter Italics"/>
                <a:sym typeface="Inter Italics"/>
              </a:rPr>
              <a:t> </a:t>
            </a:r>
            <a:r>
              <a:rPr lang="en-US" sz="1687" i="true">
                <a:solidFill>
                  <a:srgbClr val="000000"/>
                </a:solidFill>
                <a:latin typeface="Inter Italics"/>
                <a:ea typeface="Inter Italics"/>
                <a:cs typeface="Inter Italics"/>
                <a:sym typeface="Inter Italics"/>
              </a:rPr>
              <a:t>Se eligieron estas funcionalidades porque ayudan a que el sistema sea más seguro, confiable y fácil de usar. Primero se solucionan los problemas que pueden afectar la información, como los códigos duplicados, la importación de datos y las asignaciones. Después se agregan mejoras que facilitan el trabajo diario de los usuarios, como los permisos, los reportes y los mensajes de ayuda.</a:t>
            </a:r>
          </a:p>
        </p:txBody>
      </p:sp>
      <p:sp>
        <p:nvSpPr>
          <p:cNvPr name="TextBox 19" id="19"/>
          <p:cNvSpPr txBox="true"/>
          <p:nvPr/>
        </p:nvSpPr>
        <p:spPr>
          <a:xfrm rot="0">
            <a:off x="1143000" y="1260129"/>
            <a:ext cx="16802100" cy="661987"/>
          </a:xfrm>
          <a:prstGeom prst="rect">
            <a:avLst/>
          </a:prstGeom>
        </p:spPr>
        <p:txBody>
          <a:bodyPr anchor="t" rtlCol="false" tIns="0" lIns="0" bIns="0" rIns="0">
            <a:spAutoFit/>
          </a:bodyPr>
          <a:lstStyle/>
          <a:p>
            <a:pPr algn="l">
              <a:lnSpc>
                <a:spcPts val="5130"/>
              </a:lnSpc>
            </a:pPr>
            <a:r>
              <a:rPr lang="en-US" b="true" sz="4275">
                <a:solidFill>
                  <a:srgbClr val="FFFFFF"/>
                </a:solidFill>
                <a:latin typeface="Poppins Bold"/>
                <a:ea typeface="Poppins Bold"/>
                <a:cs typeface="Poppins Bold"/>
                <a:sym typeface="Poppins Bold"/>
              </a:rPr>
              <a:t>Justificación de la Selección</a:t>
            </a:r>
          </a:p>
        </p:txBody>
      </p:sp>
      <p:sp>
        <p:nvSpPr>
          <p:cNvPr name="Freeform 20" id="20"/>
          <p:cNvSpPr/>
          <p:nvPr/>
        </p:nvSpPr>
        <p:spPr>
          <a:xfrm flipH="false" flipV="false" rot="0">
            <a:off x="1585912" y="2975431"/>
            <a:ext cx="452438" cy="452437"/>
          </a:xfrm>
          <a:custGeom>
            <a:avLst/>
            <a:gdLst/>
            <a:ahLst/>
            <a:cxnLst/>
            <a:rect r="r" b="b" t="t" l="l"/>
            <a:pathLst>
              <a:path h="452437" w="452438">
                <a:moveTo>
                  <a:pt x="0" y="0"/>
                </a:moveTo>
                <a:lnTo>
                  <a:pt x="452438" y="0"/>
                </a:lnTo>
                <a:lnTo>
                  <a:pt x="452438" y="452437"/>
                </a:lnTo>
                <a:lnTo>
                  <a:pt x="0" y="4524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9801225" y="2954160"/>
            <a:ext cx="473708" cy="473708"/>
          </a:xfrm>
          <a:custGeom>
            <a:avLst/>
            <a:gdLst/>
            <a:ahLst/>
            <a:cxnLst/>
            <a:rect r="r" b="b" t="t" l="l"/>
            <a:pathLst>
              <a:path h="473708" w="473708">
                <a:moveTo>
                  <a:pt x="0" y="0"/>
                </a:moveTo>
                <a:lnTo>
                  <a:pt x="473708" y="0"/>
                </a:lnTo>
                <a:lnTo>
                  <a:pt x="473708" y="473708"/>
                </a:lnTo>
                <a:lnTo>
                  <a:pt x="0" y="4737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46958" y="564604"/>
            <a:ext cx="392180" cy="392180"/>
          </a:xfrm>
          <a:custGeom>
            <a:avLst/>
            <a:gdLst/>
            <a:ahLst/>
            <a:cxnLst/>
            <a:rect r="r" b="b" t="t" l="l"/>
            <a:pathLst>
              <a:path h="392180" w="392180">
                <a:moveTo>
                  <a:pt x="0" y="0"/>
                </a:moveTo>
                <a:lnTo>
                  <a:pt x="392180" y="0"/>
                </a:lnTo>
                <a:lnTo>
                  <a:pt x="392180" y="392180"/>
                </a:lnTo>
                <a:lnTo>
                  <a:pt x="0" y="392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6867220" y="593606"/>
            <a:ext cx="304067" cy="242148"/>
          </a:xfrm>
          <a:custGeom>
            <a:avLst/>
            <a:gdLst/>
            <a:ahLst/>
            <a:cxnLst/>
            <a:rect r="r" b="b" t="t" l="l"/>
            <a:pathLst>
              <a:path h="242148" w="304067">
                <a:moveTo>
                  <a:pt x="304066" y="0"/>
                </a:moveTo>
                <a:lnTo>
                  <a:pt x="0" y="0"/>
                </a:lnTo>
                <a:lnTo>
                  <a:pt x="0" y="242147"/>
                </a:lnTo>
                <a:lnTo>
                  <a:pt x="304066" y="242147"/>
                </a:lnTo>
                <a:lnTo>
                  <a:pt x="3040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881238" y="1995809"/>
            <a:ext cx="13155530" cy="13155530"/>
          </a:xfrm>
          <a:custGeom>
            <a:avLst/>
            <a:gdLst/>
            <a:ahLst/>
            <a:cxnLst/>
            <a:rect r="r" b="b" t="t" l="l"/>
            <a:pathLst>
              <a:path h="13155530" w="13155530">
                <a:moveTo>
                  <a:pt x="0" y="0"/>
                </a:moveTo>
                <a:lnTo>
                  <a:pt x="13155530" y="0"/>
                </a:lnTo>
                <a:lnTo>
                  <a:pt x="13155530" y="13155530"/>
                </a:lnTo>
                <a:lnTo>
                  <a:pt x="0" y="131555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5" id="5"/>
          <p:cNvGraphicFramePr/>
          <p:nvPr/>
        </p:nvGraphicFramePr>
        <p:xfrm>
          <a:off x="6248763" y="6370382"/>
          <a:ext cx="3771900" cy="2514600"/>
        </p:xfrm>
        <a:graphic>
          <a:graphicData uri="http://schemas.openxmlformats.org/presentationml/2006/ole">
            <p:oleObj imgW="4521200" imgH="32639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6" id="6"/>
          <p:cNvSpPr txBox="true"/>
          <p:nvPr/>
        </p:nvSpPr>
        <p:spPr>
          <a:xfrm rot="0">
            <a:off x="1510789" y="736481"/>
            <a:ext cx="15022436" cy="2939424"/>
          </a:xfrm>
          <a:prstGeom prst="rect">
            <a:avLst/>
          </a:prstGeom>
        </p:spPr>
        <p:txBody>
          <a:bodyPr anchor="t" rtlCol="false" tIns="0" lIns="0" bIns="0" rIns="0">
            <a:spAutoFit/>
          </a:bodyPr>
          <a:lstStyle/>
          <a:p>
            <a:pPr algn="l">
              <a:lnSpc>
                <a:spcPts val="11340"/>
              </a:lnSpc>
            </a:pPr>
            <a:r>
              <a:rPr lang="en-US" sz="10800" b="true">
                <a:solidFill>
                  <a:srgbClr val="000000"/>
                </a:solidFill>
                <a:latin typeface="Neue Montreal Medium"/>
                <a:ea typeface="Neue Montreal Medium"/>
                <a:cs typeface="Neue Montreal Medium"/>
                <a:sym typeface="Neue Montreal Medium"/>
              </a:rPr>
              <a:t>Justificación</a:t>
            </a:r>
            <a:r>
              <a:rPr lang="en-US" sz="10800" b="true">
                <a:solidFill>
                  <a:srgbClr val="000000"/>
                </a:solidFill>
                <a:latin typeface="Neue Montreal Medium"/>
                <a:ea typeface="Neue Montreal Medium"/>
                <a:cs typeface="Neue Montreal Medium"/>
                <a:sym typeface="Neue Montreal Medium"/>
              </a:rPr>
              <a:t> de Story Points</a:t>
            </a:r>
          </a:p>
        </p:txBody>
      </p:sp>
      <p:sp>
        <p:nvSpPr>
          <p:cNvPr name="TextBox 7" id="7"/>
          <p:cNvSpPr txBox="true"/>
          <p:nvPr/>
        </p:nvSpPr>
        <p:spPr>
          <a:xfrm rot="0">
            <a:off x="1028700" y="3950019"/>
            <a:ext cx="8565952" cy="2958119"/>
          </a:xfrm>
          <a:prstGeom prst="rect">
            <a:avLst/>
          </a:prstGeom>
        </p:spPr>
        <p:txBody>
          <a:bodyPr anchor="t" rtlCol="false" tIns="0" lIns="0" bIns="0" rIns="0">
            <a:spAutoFit/>
          </a:bodyPr>
          <a:lstStyle/>
          <a:p>
            <a:pPr algn="l">
              <a:lnSpc>
                <a:spcPts val="3904"/>
              </a:lnSpc>
              <a:spcBef>
                <a:spcPct val="0"/>
              </a:spcBef>
            </a:pPr>
            <a:r>
              <a:rPr lang="en-US" sz="2788" spc="27">
                <a:solidFill>
                  <a:srgbClr val="000000"/>
                </a:solidFill>
                <a:latin typeface="Neue Montreal"/>
                <a:ea typeface="Neue Montreal"/>
                <a:cs typeface="Neue Montreal"/>
                <a:sym typeface="Neue Montreal"/>
              </a:rPr>
              <a:t>Justificación de las estimaciones</a:t>
            </a:r>
          </a:p>
          <a:p>
            <a:pPr algn="l">
              <a:lnSpc>
                <a:spcPts val="3904"/>
              </a:lnSpc>
              <a:spcBef>
                <a:spcPct val="0"/>
              </a:spcBef>
            </a:pPr>
            <a:r>
              <a:rPr lang="en-US" sz="2788" spc="27">
                <a:solidFill>
                  <a:srgbClr val="000000"/>
                </a:solidFill>
                <a:latin typeface="Neue Montreal"/>
                <a:ea typeface="Neue Montreal"/>
                <a:cs typeface="Neue Montreal"/>
                <a:sym typeface="Neue Montreal"/>
              </a:rPr>
              <a:t>Se evaluaron cuatro factores para asignar los Story Points:</a:t>
            </a:r>
          </a:p>
          <a:p>
            <a:pPr algn="l" marL="602061" indent="-301031" lvl="1">
              <a:lnSpc>
                <a:spcPts val="3904"/>
              </a:lnSpc>
              <a:buFont typeface="Arial"/>
              <a:buChar char="•"/>
            </a:pPr>
            <a:r>
              <a:rPr lang="en-US" sz="2788" spc="27">
                <a:solidFill>
                  <a:srgbClr val="000000"/>
                </a:solidFill>
                <a:latin typeface="Neue Montreal"/>
                <a:ea typeface="Neue Montreal"/>
                <a:cs typeface="Neue Montreal"/>
                <a:sym typeface="Neue Montreal"/>
              </a:rPr>
              <a:t>Complejidad</a:t>
            </a:r>
          </a:p>
          <a:p>
            <a:pPr algn="l" marL="602061" indent="-301031" lvl="1">
              <a:lnSpc>
                <a:spcPts val="3904"/>
              </a:lnSpc>
              <a:buFont typeface="Arial"/>
              <a:buChar char="•"/>
            </a:pPr>
            <a:r>
              <a:rPr lang="en-US" sz="2788" spc="27">
                <a:solidFill>
                  <a:srgbClr val="000000"/>
                </a:solidFill>
                <a:latin typeface="Neue Montreal"/>
                <a:ea typeface="Neue Montreal"/>
                <a:cs typeface="Neue Montreal"/>
                <a:sym typeface="Neue Montreal"/>
              </a:rPr>
              <a:t>Riesgo</a:t>
            </a:r>
          </a:p>
          <a:p>
            <a:pPr algn="l" marL="602061" indent="-301031" lvl="1">
              <a:lnSpc>
                <a:spcPts val="3904"/>
              </a:lnSpc>
              <a:buFont typeface="Arial"/>
              <a:buChar char="•"/>
            </a:pPr>
            <a:r>
              <a:rPr lang="en-US" sz="2788" spc="27">
                <a:solidFill>
                  <a:srgbClr val="000000"/>
                </a:solidFill>
                <a:latin typeface="Neue Montreal"/>
                <a:ea typeface="Neue Montreal"/>
                <a:cs typeface="Neue Montreal"/>
                <a:sym typeface="Neue Montreal"/>
              </a:rPr>
              <a:t>Cantidad de trabajo</a:t>
            </a:r>
          </a:p>
          <a:p>
            <a:pPr algn="l" marL="602061" indent="-301031" lvl="1">
              <a:lnSpc>
                <a:spcPts val="3904"/>
              </a:lnSpc>
              <a:buFont typeface="Arial"/>
              <a:buChar char="•"/>
            </a:pPr>
            <a:r>
              <a:rPr lang="en-US" sz="2788" spc="27">
                <a:solidFill>
                  <a:srgbClr val="000000"/>
                </a:solidFill>
                <a:latin typeface="Neue Montreal"/>
                <a:ea typeface="Neue Montreal"/>
                <a:cs typeface="Neue Montreal"/>
                <a:sym typeface="Neue Montreal"/>
              </a:rPr>
              <a:t>Incertidumbre técnica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5821106" y="-1133354"/>
            <a:ext cx="13600248" cy="13460934"/>
          </a:xfrm>
          <a:prstGeom prst="rect">
            <a:avLst/>
          </a:prstGeom>
        </p:spPr>
      </p:pic>
      <p:sp>
        <p:nvSpPr>
          <p:cNvPr name="TextBox 3" id="3"/>
          <p:cNvSpPr txBox="true"/>
          <p:nvPr/>
        </p:nvSpPr>
        <p:spPr>
          <a:xfrm rot="0">
            <a:off x="503413" y="1096538"/>
            <a:ext cx="7704386" cy="679450"/>
          </a:xfrm>
          <a:prstGeom prst="rect">
            <a:avLst/>
          </a:prstGeom>
        </p:spPr>
        <p:txBody>
          <a:bodyPr anchor="t" rtlCol="false" tIns="0" lIns="0" bIns="0" rIns="0">
            <a:spAutoFit/>
          </a:bodyPr>
          <a:lstStyle/>
          <a:p>
            <a:pPr algn="ctr">
              <a:lnSpc>
                <a:spcPts val="5599"/>
              </a:lnSpc>
              <a:spcBef>
                <a:spcPct val="0"/>
              </a:spcBef>
            </a:pPr>
            <a:r>
              <a:rPr lang="en-US" b="true" sz="3999" spc="39">
                <a:solidFill>
                  <a:srgbClr val="000000"/>
                </a:solidFill>
                <a:latin typeface="Neue Montreal Medium"/>
                <a:ea typeface="Neue Montreal Medium"/>
                <a:cs typeface="Neue Montreal Medium"/>
                <a:sym typeface="Neue Montreal Medium"/>
              </a:rPr>
              <a:t>Justificación de cada funcionalidad</a:t>
            </a:r>
          </a:p>
        </p:txBody>
      </p:sp>
      <p:sp>
        <p:nvSpPr>
          <p:cNvPr name="TextBox 4" id="4"/>
          <p:cNvSpPr txBox="true"/>
          <p:nvPr/>
        </p:nvSpPr>
        <p:spPr>
          <a:xfrm rot="0">
            <a:off x="699301" y="2358839"/>
            <a:ext cx="5599063" cy="2656449"/>
          </a:xfrm>
          <a:prstGeom prst="rect">
            <a:avLst/>
          </a:prstGeom>
        </p:spPr>
        <p:txBody>
          <a:bodyPr anchor="t" rtlCol="false" tIns="0" lIns="0" bIns="0" rIns="0">
            <a:spAutoFit/>
          </a:bodyPr>
          <a:lstStyle/>
          <a:p>
            <a:pPr algn="l">
              <a:lnSpc>
                <a:spcPts val="4256"/>
              </a:lnSpc>
              <a:spcBef>
                <a:spcPct val="0"/>
              </a:spcBef>
            </a:pPr>
            <a:r>
              <a:rPr lang="en-US" b="true" sz="3040" spc="30">
                <a:solidFill>
                  <a:srgbClr val="000000"/>
                </a:solidFill>
                <a:latin typeface="Neue Montreal Medium"/>
                <a:ea typeface="Neue Montreal Medium"/>
                <a:cs typeface="Neue Montreal Medium"/>
                <a:sym typeface="Neue Montreal Medium"/>
              </a:rPr>
              <a:t>1. Importación Excel/CSV – 8 SP</a:t>
            </a:r>
          </a:p>
          <a:p>
            <a:pPr algn="l" marL="656423" indent="-328211" lvl="1">
              <a:lnSpc>
                <a:spcPts val="4256"/>
              </a:lnSpc>
              <a:buFont typeface="Arial"/>
              <a:buChar char="•"/>
            </a:pPr>
            <a:r>
              <a:rPr lang="en-US" b="true" sz="3040" spc="30">
                <a:solidFill>
                  <a:srgbClr val="000000"/>
                </a:solidFill>
                <a:latin typeface="Neue Montreal Medium"/>
                <a:ea typeface="Neue Montreal Medium"/>
                <a:cs typeface="Neue Montreal Medium"/>
                <a:sym typeface="Neue Montreal Medium"/>
              </a:rPr>
              <a:t>Validación de archivos</a:t>
            </a:r>
          </a:p>
          <a:p>
            <a:pPr algn="l" marL="656423" indent="-328211" lvl="1">
              <a:lnSpc>
                <a:spcPts val="4256"/>
              </a:lnSpc>
              <a:buFont typeface="Arial"/>
              <a:buChar char="•"/>
            </a:pPr>
            <a:r>
              <a:rPr lang="en-US" b="true" sz="3040" spc="30">
                <a:solidFill>
                  <a:srgbClr val="000000"/>
                </a:solidFill>
                <a:latin typeface="Neue Montreal Medium"/>
                <a:ea typeface="Neue Montreal Medium"/>
                <a:cs typeface="Neue Montreal Medium"/>
                <a:sym typeface="Neue Montreal Medium"/>
              </a:rPr>
              <a:t>Revisar encabezados y filas</a:t>
            </a:r>
          </a:p>
          <a:p>
            <a:pPr algn="l" marL="656423" indent="-328211" lvl="1">
              <a:lnSpc>
                <a:spcPts val="4256"/>
              </a:lnSpc>
              <a:buFont typeface="Arial"/>
              <a:buChar char="•"/>
            </a:pPr>
            <a:r>
              <a:rPr lang="en-US" b="true" sz="3040" spc="30">
                <a:solidFill>
                  <a:srgbClr val="000000"/>
                </a:solidFill>
                <a:latin typeface="Neue Montreal Medium"/>
                <a:ea typeface="Neue Montreal Medium"/>
                <a:cs typeface="Neue Montreal Medium"/>
                <a:sym typeface="Neue Montreal Medium"/>
              </a:rPr>
              <a:t>Detectar errores y duplicados</a:t>
            </a:r>
          </a:p>
          <a:p>
            <a:pPr algn="l" marL="656423" indent="-328211" lvl="1">
              <a:lnSpc>
                <a:spcPts val="4256"/>
              </a:lnSpc>
              <a:buFont typeface="Arial"/>
              <a:buChar char="•"/>
            </a:pPr>
            <a:r>
              <a:rPr lang="en-US" b="true" sz="3040" spc="30">
                <a:solidFill>
                  <a:srgbClr val="000000"/>
                </a:solidFill>
                <a:latin typeface="Neue Montreal Medium"/>
                <a:ea typeface="Neue Montreal Medium"/>
                <a:cs typeface="Neue Montreal Medium"/>
                <a:sym typeface="Neue Montreal Medium"/>
              </a:rPr>
              <a:t>Alto riesgo por carga masiva</a:t>
            </a:r>
          </a:p>
        </p:txBody>
      </p:sp>
      <p:sp>
        <p:nvSpPr>
          <p:cNvPr name="TextBox 5" id="5"/>
          <p:cNvSpPr txBox="true"/>
          <p:nvPr/>
        </p:nvSpPr>
        <p:spPr>
          <a:xfrm rot="0">
            <a:off x="546678" y="5738410"/>
            <a:ext cx="6560641" cy="2656459"/>
          </a:xfrm>
          <a:prstGeom prst="rect">
            <a:avLst/>
          </a:prstGeom>
        </p:spPr>
        <p:txBody>
          <a:bodyPr anchor="t" rtlCol="false" tIns="0" lIns="0" bIns="0" rIns="0">
            <a:spAutoFit/>
          </a:bodyPr>
          <a:lstStyle/>
          <a:p>
            <a:pPr algn="l">
              <a:lnSpc>
                <a:spcPts val="4255"/>
              </a:lnSpc>
              <a:spcBef>
                <a:spcPct val="0"/>
              </a:spcBef>
            </a:pPr>
            <a:r>
              <a:rPr lang="en-US" b="true" sz="3039" spc="30">
                <a:solidFill>
                  <a:srgbClr val="000000"/>
                </a:solidFill>
                <a:latin typeface="Neue Montreal Medium"/>
                <a:ea typeface="Neue Montreal Medium"/>
                <a:cs typeface="Neue Montreal Medium"/>
                <a:sym typeface="Neue Montreal Medium"/>
              </a:rPr>
              <a:t>2. Asignaciones e historial – 8 SP</a:t>
            </a:r>
          </a:p>
          <a:p>
            <a:pPr algn="l" marL="656335" indent="-328168" lvl="1">
              <a:lnSpc>
                <a:spcPts val="4255"/>
              </a:lnSpc>
              <a:buFont typeface="Arial"/>
              <a:buChar char="•"/>
            </a:pPr>
            <a:r>
              <a:rPr lang="en-US" b="true" sz="3039" spc="30">
                <a:solidFill>
                  <a:srgbClr val="000000"/>
                </a:solidFill>
                <a:latin typeface="Neue Montreal Medium"/>
                <a:ea typeface="Neue Montreal Medium"/>
                <a:cs typeface="Neue Montreal Medium"/>
                <a:sym typeface="Neue Montreal Medium"/>
              </a:rPr>
              <a:t>Actualiza responsable y área</a:t>
            </a:r>
          </a:p>
          <a:p>
            <a:pPr algn="l" marL="656335" indent="-328168" lvl="1">
              <a:lnSpc>
                <a:spcPts val="4255"/>
              </a:lnSpc>
              <a:buFont typeface="Arial"/>
              <a:buChar char="•"/>
            </a:pPr>
            <a:r>
              <a:rPr lang="en-US" b="true" sz="3039" spc="30">
                <a:solidFill>
                  <a:srgbClr val="000000"/>
                </a:solidFill>
                <a:latin typeface="Neue Montreal Medium"/>
                <a:ea typeface="Neue Montreal Medium"/>
                <a:cs typeface="Neue Montreal Medium"/>
                <a:sym typeface="Neue Montreal Medium"/>
              </a:rPr>
              <a:t>Registra movimientos del inventario</a:t>
            </a:r>
          </a:p>
          <a:p>
            <a:pPr algn="l" marL="656335" indent="-328168" lvl="1">
              <a:lnSpc>
                <a:spcPts val="4255"/>
              </a:lnSpc>
              <a:buFont typeface="Arial"/>
              <a:buChar char="•"/>
            </a:pPr>
            <a:r>
              <a:rPr lang="en-US" b="true" sz="3039" spc="30">
                <a:solidFill>
                  <a:srgbClr val="000000"/>
                </a:solidFill>
                <a:latin typeface="Neue Montreal Medium"/>
                <a:ea typeface="Neue Montreal Medium"/>
                <a:cs typeface="Neue Montreal Medium"/>
                <a:sym typeface="Neue Montreal Medium"/>
              </a:rPr>
              <a:t>Evita inconsistencias</a:t>
            </a:r>
          </a:p>
          <a:p>
            <a:pPr algn="l" marL="656335" indent="-328168" lvl="1">
              <a:lnSpc>
                <a:spcPts val="4255"/>
              </a:lnSpc>
              <a:buFont typeface="Arial"/>
              <a:buChar char="•"/>
            </a:pPr>
            <a:r>
              <a:rPr lang="en-US" b="true" sz="3039" spc="30">
                <a:solidFill>
                  <a:srgbClr val="000000"/>
                </a:solidFill>
                <a:latin typeface="Neue Montreal Medium"/>
                <a:ea typeface="Neue Montreal Medium"/>
                <a:cs typeface="Neue Montreal Medium"/>
                <a:sym typeface="Neue Montreal Medium"/>
              </a:rPr>
              <a:t>Reorganiza lógica existente</a:t>
            </a:r>
          </a:p>
        </p:txBody>
      </p:sp>
      <p:sp>
        <p:nvSpPr>
          <p:cNvPr name="TextBox 6" id="6"/>
          <p:cNvSpPr txBox="true"/>
          <p:nvPr/>
        </p:nvSpPr>
        <p:spPr>
          <a:xfrm rot="0">
            <a:off x="8501506" y="2358839"/>
            <a:ext cx="6223843" cy="2122805"/>
          </a:xfrm>
          <a:prstGeom prst="rect">
            <a:avLst/>
          </a:prstGeom>
        </p:spPr>
        <p:txBody>
          <a:bodyPr anchor="t" rtlCol="false" tIns="0" lIns="0" bIns="0" rIns="0">
            <a:spAutoFit/>
          </a:bodyPr>
          <a:lstStyle/>
          <a:p>
            <a:pPr algn="l">
              <a:lnSpc>
                <a:spcPts val="4270"/>
              </a:lnSpc>
              <a:spcBef>
                <a:spcPct val="0"/>
              </a:spcBef>
            </a:pPr>
            <a:r>
              <a:rPr lang="en-US" b="true" sz="3050" spc="30">
                <a:solidFill>
                  <a:srgbClr val="000000"/>
                </a:solidFill>
                <a:latin typeface="Neue Montreal Medium"/>
                <a:ea typeface="Neue Montreal Medium"/>
                <a:cs typeface="Neue Montreal Medium"/>
                <a:sym typeface="Neue Montreal Medium"/>
              </a:rPr>
              <a:t>3. Evitar duplicados – 5 SP</a:t>
            </a:r>
          </a:p>
          <a:p>
            <a:pPr algn="l" marL="658496" indent="-329248" lvl="1">
              <a:lnSpc>
                <a:spcPts val="4270"/>
              </a:lnSpc>
              <a:buFont typeface="Arial"/>
              <a:buChar char="•"/>
            </a:pPr>
            <a:r>
              <a:rPr lang="en-US" b="true" sz="3050" spc="30">
                <a:solidFill>
                  <a:srgbClr val="000000"/>
                </a:solidFill>
                <a:latin typeface="Neue Montreal Medium"/>
                <a:ea typeface="Neue Montreal Medium"/>
                <a:cs typeface="Neue Montreal Medium"/>
                <a:sym typeface="Neue Montreal Medium"/>
              </a:rPr>
              <a:t>Validación al crear y editar bienes</a:t>
            </a:r>
          </a:p>
          <a:p>
            <a:pPr algn="l" marL="658496" indent="-329248" lvl="1">
              <a:lnSpc>
                <a:spcPts val="4270"/>
              </a:lnSpc>
              <a:buFont typeface="Arial"/>
              <a:buChar char="•"/>
            </a:pPr>
            <a:r>
              <a:rPr lang="en-US" b="true" sz="3050" spc="30">
                <a:solidFill>
                  <a:srgbClr val="000000"/>
                </a:solidFill>
                <a:latin typeface="Neue Montreal Medium"/>
                <a:ea typeface="Neue Montreal Medium"/>
                <a:cs typeface="Neue Montreal Medium"/>
                <a:sym typeface="Neue Montreal Medium"/>
              </a:rPr>
              <a:t>Revisar datos existentes</a:t>
            </a:r>
          </a:p>
          <a:p>
            <a:pPr algn="l" marL="658496" indent="-329248" lvl="1">
              <a:lnSpc>
                <a:spcPts val="4270"/>
              </a:lnSpc>
              <a:buFont typeface="Arial"/>
              <a:buChar char="•"/>
            </a:pPr>
            <a:r>
              <a:rPr lang="en-US" b="true" sz="3050" spc="30">
                <a:solidFill>
                  <a:srgbClr val="000000"/>
                </a:solidFill>
                <a:latin typeface="Neue Montreal Medium"/>
                <a:ea typeface="Neue Montreal Medium"/>
                <a:cs typeface="Neue Montreal Medium"/>
                <a:sym typeface="Neue Montreal Medium"/>
              </a:rPr>
              <a:t>Riesgo medio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81811" y="1322801"/>
            <a:ext cx="8570350" cy="8570350"/>
          </a:xfrm>
          <a:custGeom>
            <a:avLst/>
            <a:gdLst/>
            <a:ahLst/>
            <a:cxnLst/>
            <a:rect r="r" b="b" t="t" l="l"/>
            <a:pathLst>
              <a:path h="8570350" w="8570350">
                <a:moveTo>
                  <a:pt x="0" y="0"/>
                </a:moveTo>
                <a:lnTo>
                  <a:pt x="8570349" y="0"/>
                </a:lnTo>
                <a:lnTo>
                  <a:pt x="8570349" y="8570350"/>
                </a:lnTo>
                <a:lnTo>
                  <a:pt x="0" y="8570350"/>
                </a:lnTo>
                <a:lnTo>
                  <a:pt x="0" y="0"/>
                </a:lnTo>
                <a:close/>
              </a:path>
            </a:pathLst>
          </a:custGeom>
          <a:blipFill>
            <a:blip r:embed="rId2"/>
            <a:stretch>
              <a:fillRect l="0" t="0" r="0" b="0"/>
            </a:stretch>
          </a:blipFill>
        </p:spPr>
      </p:sp>
      <p:sp>
        <p:nvSpPr>
          <p:cNvPr name="Freeform 3" id="3"/>
          <p:cNvSpPr/>
          <p:nvPr/>
        </p:nvSpPr>
        <p:spPr>
          <a:xfrm flipH="false" flipV="false" rot="0">
            <a:off x="603264" y="2588896"/>
            <a:ext cx="6129797" cy="3474738"/>
          </a:xfrm>
          <a:custGeom>
            <a:avLst/>
            <a:gdLst/>
            <a:ahLst/>
            <a:cxnLst/>
            <a:rect r="r" b="b" t="t" l="l"/>
            <a:pathLst>
              <a:path h="3474738" w="6129797">
                <a:moveTo>
                  <a:pt x="0" y="0"/>
                </a:moveTo>
                <a:lnTo>
                  <a:pt x="6129798" y="0"/>
                </a:lnTo>
                <a:lnTo>
                  <a:pt x="6129798" y="3474738"/>
                </a:lnTo>
                <a:lnTo>
                  <a:pt x="0" y="3474738"/>
                </a:lnTo>
                <a:lnTo>
                  <a:pt x="0" y="0"/>
                </a:lnTo>
                <a:close/>
              </a:path>
            </a:pathLst>
          </a:custGeom>
          <a:blipFill>
            <a:blip r:embed="rId3"/>
            <a:stretch>
              <a:fillRect l="0" t="0" r="-90035" b="0"/>
            </a:stretch>
          </a:blipFill>
        </p:spPr>
      </p:sp>
      <p:sp>
        <p:nvSpPr>
          <p:cNvPr name="TextBox 4" id="4"/>
          <p:cNvSpPr txBox="true"/>
          <p:nvPr/>
        </p:nvSpPr>
        <p:spPr>
          <a:xfrm rot="0">
            <a:off x="726684" y="1360479"/>
            <a:ext cx="4407247" cy="854076"/>
          </a:xfrm>
          <a:prstGeom prst="rect">
            <a:avLst/>
          </a:prstGeom>
        </p:spPr>
        <p:txBody>
          <a:bodyPr anchor="t" rtlCol="false" tIns="0" lIns="0" bIns="0" rIns="0">
            <a:spAutoFit/>
          </a:bodyPr>
          <a:lstStyle/>
          <a:p>
            <a:pPr algn="ctr">
              <a:lnSpc>
                <a:spcPts val="6999"/>
              </a:lnSpc>
              <a:spcBef>
                <a:spcPct val="0"/>
              </a:spcBef>
            </a:pPr>
            <a:r>
              <a:rPr lang="en-US" sz="4999" spc="49">
                <a:solidFill>
                  <a:srgbClr val="000000"/>
                </a:solidFill>
                <a:latin typeface="Neue Montreal"/>
                <a:ea typeface="Neue Montreal"/>
                <a:cs typeface="Neue Montreal"/>
                <a:sym typeface="Neue Montreal"/>
              </a:rPr>
              <a:t>Estrategia de Git</a:t>
            </a:r>
          </a:p>
        </p:txBody>
      </p:sp>
      <p:sp>
        <p:nvSpPr>
          <p:cNvPr name="TextBox 5" id="5"/>
          <p:cNvSpPr txBox="true"/>
          <p:nvPr/>
        </p:nvSpPr>
        <p:spPr>
          <a:xfrm rot="0">
            <a:off x="726684" y="6368434"/>
            <a:ext cx="6437304" cy="2889866"/>
          </a:xfrm>
          <a:prstGeom prst="rect">
            <a:avLst/>
          </a:prstGeom>
        </p:spPr>
        <p:txBody>
          <a:bodyPr anchor="t" rtlCol="false" tIns="0" lIns="0" bIns="0" rIns="0">
            <a:spAutoFit/>
          </a:bodyPr>
          <a:lstStyle/>
          <a:p>
            <a:pPr algn="l">
              <a:lnSpc>
                <a:spcPts val="4635"/>
              </a:lnSpc>
              <a:spcBef>
                <a:spcPct val="0"/>
              </a:spcBef>
            </a:pPr>
            <a:r>
              <a:rPr lang="en-US" b="true" sz="3310" spc="33">
                <a:solidFill>
                  <a:srgbClr val="000000"/>
                </a:solidFill>
                <a:latin typeface="Neue Montreal Medium"/>
                <a:ea typeface="Neue Montreal Medium"/>
                <a:cs typeface="Neue Montreal Medium"/>
                <a:sym typeface="Neue Montreal Medium"/>
              </a:rPr>
              <a:t>Ramas</a:t>
            </a:r>
          </a:p>
          <a:p>
            <a:pPr algn="l" marL="714832" indent="-357416" lvl="1">
              <a:lnSpc>
                <a:spcPts val="4635"/>
              </a:lnSpc>
              <a:buFont typeface="Arial"/>
              <a:buChar char="•"/>
            </a:pPr>
            <a:r>
              <a:rPr lang="en-US" b="true" sz="3310" spc="33">
                <a:solidFill>
                  <a:srgbClr val="000000"/>
                </a:solidFill>
                <a:latin typeface="Neue Montreal Medium"/>
                <a:ea typeface="Neue Montreal Medium"/>
                <a:cs typeface="Neue Montreal Medium"/>
                <a:sym typeface="Neue Montreal Medium"/>
              </a:rPr>
              <a:t>main: versión estable</a:t>
            </a:r>
          </a:p>
          <a:p>
            <a:pPr algn="l" marL="714832" indent="-357416" lvl="1">
              <a:lnSpc>
                <a:spcPts val="4635"/>
              </a:lnSpc>
              <a:buFont typeface="Arial"/>
              <a:buChar char="•"/>
            </a:pPr>
            <a:r>
              <a:rPr lang="en-US" b="true" sz="3310" spc="33">
                <a:solidFill>
                  <a:srgbClr val="000000"/>
                </a:solidFill>
                <a:latin typeface="Neue Montreal Medium"/>
                <a:ea typeface="Neue Montreal Medium"/>
                <a:cs typeface="Neue Montreal Medium"/>
                <a:sym typeface="Neue Montreal Medium"/>
              </a:rPr>
              <a:t>develop: integración del Sprint</a:t>
            </a:r>
          </a:p>
          <a:p>
            <a:pPr algn="l" marL="714832" indent="-357416" lvl="1">
              <a:lnSpc>
                <a:spcPts val="4635"/>
              </a:lnSpc>
              <a:buFont typeface="Arial"/>
              <a:buChar char="•"/>
            </a:pPr>
            <a:r>
              <a:rPr lang="en-US" b="true" sz="3310" spc="33">
                <a:solidFill>
                  <a:srgbClr val="000000"/>
                </a:solidFill>
                <a:latin typeface="Neue Montreal Medium"/>
                <a:ea typeface="Neue Montreal Medium"/>
                <a:cs typeface="Neue Montreal Medium"/>
                <a:sym typeface="Neue Montreal Medium"/>
              </a:rPr>
              <a:t>feature: nuevas funcionalidades</a:t>
            </a:r>
          </a:p>
          <a:p>
            <a:pPr algn="l" marL="714832" indent="-357416" lvl="1">
              <a:lnSpc>
                <a:spcPts val="4635"/>
              </a:lnSpc>
              <a:buFont typeface="Arial"/>
              <a:buChar char="•"/>
            </a:pPr>
            <a:r>
              <a:rPr lang="en-US" b="true" sz="3310" spc="33">
                <a:solidFill>
                  <a:srgbClr val="000000"/>
                </a:solidFill>
                <a:latin typeface="Neue Montreal Medium"/>
                <a:ea typeface="Neue Montreal Medium"/>
                <a:cs typeface="Neue Montreal Medium"/>
                <a:sym typeface="Neue Montreal Medium"/>
              </a:rPr>
              <a:t>fix: corrección de errores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21765" y="2491233"/>
            <a:ext cx="10377758" cy="10377758"/>
          </a:xfrm>
          <a:custGeom>
            <a:avLst/>
            <a:gdLst/>
            <a:ahLst/>
            <a:cxnLst/>
            <a:rect r="r" b="b" t="t" l="l"/>
            <a:pathLst>
              <a:path h="10377758" w="10377758">
                <a:moveTo>
                  <a:pt x="0" y="0"/>
                </a:moveTo>
                <a:lnTo>
                  <a:pt x="10377758" y="0"/>
                </a:lnTo>
                <a:lnTo>
                  <a:pt x="10377758" y="10377758"/>
                </a:lnTo>
                <a:lnTo>
                  <a:pt x="0" y="10377758"/>
                </a:lnTo>
                <a:lnTo>
                  <a:pt x="0" y="0"/>
                </a:lnTo>
                <a:close/>
              </a:path>
            </a:pathLst>
          </a:custGeom>
          <a:blipFill>
            <a:blip r:embed="rId2"/>
            <a:stretch>
              <a:fillRect l="0" t="0" r="0" b="0"/>
            </a:stretch>
          </a:blipFill>
        </p:spPr>
      </p:sp>
      <p:graphicFrame>
        <p:nvGraphicFramePr>
          <p:cNvPr name="Object 3" id="3"/>
          <p:cNvGraphicFramePr/>
          <p:nvPr/>
        </p:nvGraphicFramePr>
        <p:xfrm>
          <a:off x="0" y="2131474"/>
          <a:ext cx="3771900" cy="3143250"/>
        </p:xfrm>
        <a:graphic>
          <a:graphicData uri="http://schemas.openxmlformats.org/presentationml/2006/ole">
            <p:oleObj imgW="4521200" imgH="3886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695550" y="933450"/>
            <a:ext cx="5743129" cy="748031"/>
          </a:xfrm>
          <a:prstGeom prst="rect">
            <a:avLst/>
          </a:prstGeom>
        </p:spPr>
        <p:txBody>
          <a:bodyPr anchor="t" rtlCol="false" tIns="0" lIns="0" bIns="0" rIns="0">
            <a:spAutoFit/>
          </a:bodyPr>
          <a:lstStyle/>
          <a:p>
            <a:pPr algn="ctr">
              <a:lnSpc>
                <a:spcPts val="6019"/>
              </a:lnSpc>
              <a:spcBef>
                <a:spcPct val="0"/>
              </a:spcBef>
            </a:pPr>
            <a:r>
              <a:rPr lang="en-US" b="true" sz="4299" spc="42">
                <a:solidFill>
                  <a:srgbClr val="000000"/>
                </a:solidFill>
                <a:latin typeface="Neue Montreal Medium"/>
                <a:ea typeface="Neue Montreal Medium"/>
                <a:cs typeface="Neue Montreal Medium"/>
                <a:sym typeface="Neue Montreal Medium"/>
              </a:rPr>
              <a:t>Organización del trabajo</a:t>
            </a:r>
          </a:p>
        </p:txBody>
      </p:sp>
      <p:sp>
        <p:nvSpPr>
          <p:cNvPr name="TextBox 5" id="5"/>
          <p:cNvSpPr txBox="true"/>
          <p:nvPr/>
        </p:nvSpPr>
        <p:spPr>
          <a:xfrm rot="0">
            <a:off x="9577265" y="2074324"/>
            <a:ext cx="7932986" cy="2785745"/>
          </a:xfrm>
          <a:prstGeom prst="rect">
            <a:avLst/>
          </a:prstGeom>
        </p:spPr>
        <p:txBody>
          <a:bodyPr anchor="t" rtlCol="false" tIns="0" lIns="0" bIns="0" rIns="0">
            <a:spAutoFit/>
          </a:bodyPr>
          <a:lstStyle/>
          <a:p>
            <a:pPr algn="l">
              <a:lnSpc>
                <a:spcPts val="4480"/>
              </a:lnSpc>
              <a:spcBef>
                <a:spcPct val="0"/>
              </a:spcBef>
            </a:pPr>
            <a:r>
              <a:rPr lang="en-US" b="true" sz="3200" spc="32">
                <a:solidFill>
                  <a:srgbClr val="000000"/>
                </a:solidFill>
                <a:latin typeface="Neue Montreal Medium"/>
                <a:ea typeface="Neue Montreal Medium"/>
                <a:cs typeface="Neue Montreal Medium"/>
                <a:sym typeface="Neue Montreal Medium"/>
              </a:rPr>
              <a:t>Integración de cambios</a:t>
            </a:r>
          </a:p>
          <a:p>
            <a:pPr algn="l">
              <a:lnSpc>
                <a:spcPts val="4480"/>
              </a:lnSpc>
              <a:spcBef>
                <a:spcPct val="0"/>
              </a:spcBef>
            </a:pPr>
            <a:r>
              <a:rPr lang="en-US" b="true" sz="3200" spc="32">
                <a:solidFill>
                  <a:srgbClr val="000000"/>
                </a:solidFill>
                <a:latin typeface="Neue Montreal Medium"/>
                <a:ea typeface="Neue Montreal Medium"/>
                <a:cs typeface="Neue Montreal Medium"/>
                <a:sym typeface="Neue Montreal Medium"/>
              </a:rPr>
              <a:t>✔ El Scrum Master revisa cada funcionalidad.</a:t>
            </a:r>
          </a:p>
          <a:p>
            <a:pPr algn="l">
              <a:lnSpc>
                <a:spcPts val="4480"/>
              </a:lnSpc>
              <a:spcBef>
                <a:spcPct val="0"/>
              </a:spcBef>
            </a:pPr>
            <a:r>
              <a:rPr lang="en-US" b="true" sz="3200" spc="32">
                <a:solidFill>
                  <a:srgbClr val="000000"/>
                </a:solidFill>
                <a:latin typeface="Neue Montreal Medium"/>
                <a:ea typeface="Neue Montreal Medium"/>
                <a:cs typeface="Neue Montreal Medium"/>
                <a:sym typeface="Neue Montreal Medium"/>
              </a:rPr>
              <a:t>✔ Merge a develop cuando esté terminada.</a:t>
            </a:r>
          </a:p>
          <a:p>
            <a:pPr algn="l">
              <a:lnSpc>
                <a:spcPts val="4480"/>
              </a:lnSpc>
              <a:spcBef>
                <a:spcPct val="0"/>
              </a:spcBef>
            </a:pPr>
            <a:r>
              <a:rPr lang="en-US" b="true" sz="3200" spc="32">
                <a:solidFill>
                  <a:srgbClr val="000000"/>
                </a:solidFill>
                <a:latin typeface="Neue Montreal Medium"/>
                <a:ea typeface="Neue Montreal Medium"/>
                <a:cs typeface="Neue Montreal Medium"/>
                <a:sym typeface="Neue Montreal Medium"/>
              </a:rPr>
              <a:t>✔ Al finalizar el Sprint se hace merge a main.</a:t>
            </a:r>
          </a:p>
          <a:p>
            <a:pPr algn="l">
              <a:lnSpc>
                <a:spcPts val="4480"/>
              </a:lnSpc>
              <a:spcBef>
                <a:spcPct val="0"/>
              </a:spcBef>
            </a:pPr>
            <a:r>
              <a:rPr lang="en-US" b="true" sz="3200" spc="32">
                <a:solidFill>
                  <a:srgbClr val="000000"/>
                </a:solidFill>
                <a:latin typeface="Neue Montreal Medium"/>
                <a:ea typeface="Neue Montreal Medium"/>
                <a:cs typeface="Neue Montreal Medium"/>
                <a:sym typeface="Neue Montreal Medium"/>
              </a:rPr>
              <a:t>✔ Nunca se trabaja directamente sobre main.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14487" y="3197195"/>
            <a:ext cx="13795425" cy="6252492"/>
          </a:xfrm>
          <a:custGeom>
            <a:avLst/>
            <a:gdLst/>
            <a:ahLst/>
            <a:cxnLst/>
            <a:rect r="r" b="b" t="t" l="l"/>
            <a:pathLst>
              <a:path h="6252492" w="13795425">
                <a:moveTo>
                  <a:pt x="0" y="0"/>
                </a:moveTo>
                <a:lnTo>
                  <a:pt x="13795425" y="0"/>
                </a:lnTo>
                <a:lnTo>
                  <a:pt x="13795425" y="6252492"/>
                </a:lnTo>
                <a:lnTo>
                  <a:pt x="0" y="6252492"/>
                </a:lnTo>
                <a:lnTo>
                  <a:pt x="0" y="0"/>
                </a:lnTo>
                <a:close/>
              </a:path>
            </a:pathLst>
          </a:custGeom>
          <a:blipFill>
            <a:blip r:embed="rId2"/>
            <a:stretch>
              <a:fillRect l="0" t="0" r="0" b="0"/>
            </a:stretch>
          </a:blipFill>
        </p:spPr>
      </p:sp>
      <p:sp>
        <p:nvSpPr>
          <p:cNvPr name="TextBox 3" id="3"/>
          <p:cNvSpPr txBox="true"/>
          <p:nvPr/>
        </p:nvSpPr>
        <p:spPr>
          <a:xfrm rot="0">
            <a:off x="2296789" y="958697"/>
            <a:ext cx="14533534" cy="1946910"/>
          </a:xfrm>
          <a:prstGeom prst="rect">
            <a:avLst/>
          </a:prstGeom>
        </p:spPr>
        <p:txBody>
          <a:bodyPr anchor="t" rtlCol="false" tIns="0" lIns="0" bIns="0" rIns="0">
            <a:spAutoFit/>
          </a:bodyPr>
          <a:lstStyle/>
          <a:p>
            <a:pPr algn="l">
              <a:lnSpc>
                <a:spcPts val="7560"/>
              </a:lnSpc>
            </a:pPr>
            <a:r>
              <a:rPr lang="en-US" sz="7200" b="true">
                <a:solidFill>
                  <a:srgbClr val="0F172A"/>
                </a:solidFill>
                <a:latin typeface="Neue Montreal Medium"/>
                <a:ea typeface="Neue Montreal Medium"/>
                <a:cs typeface="Neue Montreal Medium"/>
                <a:sym typeface="Neue Montreal Medium"/>
              </a:rPr>
              <a:t>PROTOCOLO</a:t>
            </a:r>
            <a:r>
              <a:rPr lang="en-US" sz="7200" b="true">
                <a:solidFill>
                  <a:srgbClr val="0F172A"/>
                </a:solidFill>
                <a:latin typeface="Neue Montreal Medium"/>
                <a:ea typeface="Neue Montreal Medium"/>
                <a:cs typeface="Neue Montreal Medium"/>
                <a:sym typeface="Neue Montreal Medium"/>
              </a:rPr>
              <a:t> DE RESOLUCIÓN</a:t>
            </a:r>
          </a:p>
          <a:p>
            <a:pPr algn="l">
              <a:lnSpc>
                <a:spcPts val="7560"/>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TextBox 2" id="2"/>
          <p:cNvSpPr txBox="true"/>
          <p:nvPr/>
        </p:nvSpPr>
        <p:spPr>
          <a:xfrm rot="0">
            <a:off x="2053566" y="3627508"/>
            <a:ext cx="10090852" cy="5630792"/>
          </a:xfrm>
          <a:prstGeom prst="rect">
            <a:avLst/>
          </a:prstGeom>
        </p:spPr>
        <p:txBody>
          <a:bodyPr anchor="t" rtlCol="false" tIns="0" lIns="0" bIns="0" rIns="0">
            <a:spAutoFit/>
          </a:bodyPr>
          <a:lstStyle/>
          <a:p>
            <a:pPr algn="l">
              <a:lnSpc>
                <a:spcPts val="4480"/>
              </a:lnSpc>
            </a:pPr>
            <a:r>
              <a:rPr lang="en-US" b="true" sz="3200" spc="32">
                <a:solidFill>
                  <a:srgbClr val="FFFFFF"/>
                </a:solidFill>
                <a:latin typeface="Neue Montreal Medium"/>
                <a:ea typeface="Neue Montreal Medium"/>
                <a:cs typeface="Neue Montreal Medium"/>
                <a:sym typeface="Neue Montreal Medium"/>
              </a:rPr>
              <a:t>Comunicación constante: Avisar sobre archivos críticos.</a:t>
            </a:r>
          </a:p>
          <a:p>
            <a:pPr algn="l">
              <a:lnSpc>
                <a:spcPts val="4480"/>
              </a:lnSpc>
            </a:pPr>
          </a:p>
          <a:p>
            <a:pPr algn="l">
              <a:lnSpc>
                <a:spcPts val="4480"/>
              </a:lnSpc>
            </a:pPr>
            <a:r>
              <a:rPr lang="en-US" b="true" sz="3200" spc="32">
                <a:solidFill>
                  <a:srgbClr val="FFFFFF"/>
                </a:solidFill>
                <a:latin typeface="Neue Montreal Medium"/>
                <a:ea typeface="Neue Montreal Medium"/>
                <a:cs typeface="Neue Montreal Medium"/>
                <a:sym typeface="Neue Montreal Medium"/>
              </a:rPr>
              <a:t>Sincronización previa: Actualizar antes de empezar.</a:t>
            </a:r>
          </a:p>
          <a:p>
            <a:pPr algn="l">
              <a:lnSpc>
                <a:spcPts val="4480"/>
              </a:lnSpc>
            </a:pPr>
          </a:p>
          <a:p>
            <a:pPr algn="l">
              <a:lnSpc>
                <a:spcPts val="4480"/>
              </a:lnSpc>
            </a:pPr>
            <a:r>
              <a:rPr lang="en-US" b="true" sz="3200" spc="32">
                <a:solidFill>
                  <a:srgbClr val="FFFFFF"/>
                </a:solidFill>
                <a:latin typeface="Neue Montreal Medium"/>
                <a:ea typeface="Neue Montreal Medium"/>
                <a:cs typeface="Neue Montreal Medium"/>
                <a:sym typeface="Neue Montreal Medium"/>
              </a:rPr>
              <a:t>Commits atómicos: Cambios pequeños y frecuentes.</a:t>
            </a:r>
          </a:p>
          <a:p>
            <a:pPr algn="l">
              <a:lnSpc>
                <a:spcPts val="4480"/>
              </a:lnSpc>
            </a:pPr>
          </a:p>
          <a:p>
            <a:pPr algn="l">
              <a:lnSpc>
                <a:spcPts val="4480"/>
              </a:lnSpc>
            </a:pPr>
            <a:r>
              <a:rPr lang="en-US" b="true" sz="3200" spc="32">
                <a:solidFill>
                  <a:srgbClr val="FFFFFF"/>
                </a:solidFill>
                <a:latin typeface="Neue Montreal Medium"/>
                <a:ea typeface="Neue Montreal Medium"/>
                <a:cs typeface="Neue Montreal Medium"/>
                <a:sym typeface="Neue Montreal Medium"/>
              </a:rPr>
              <a:t>Pull Requests: Revisión por pares antes del merge.</a:t>
            </a:r>
          </a:p>
          <a:p>
            <a:pPr algn="l">
              <a:lnSpc>
                <a:spcPts val="4480"/>
              </a:lnSpc>
            </a:pPr>
          </a:p>
          <a:p>
            <a:pPr algn="l">
              <a:lnSpc>
                <a:spcPts val="4480"/>
              </a:lnSpc>
            </a:pPr>
            <a:r>
              <a:rPr lang="en-US" b="true" sz="3200" spc="32">
                <a:solidFill>
                  <a:srgbClr val="FFFFFF"/>
                </a:solidFill>
                <a:latin typeface="Neue Montreal Medium"/>
                <a:ea typeface="Neue Montreal Medium"/>
                <a:cs typeface="Neue Montreal Medium"/>
                <a:sym typeface="Neue Montreal Medium"/>
              </a:rPr>
              <a:t>División de tareas: Evitar solapamiento en archivos.</a:t>
            </a:r>
          </a:p>
          <a:p>
            <a:pPr algn="l">
              <a:lnSpc>
                <a:spcPts val="4480"/>
              </a:lnSpc>
            </a:pPr>
          </a:p>
        </p:txBody>
      </p:sp>
      <p:sp>
        <p:nvSpPr>
          <p:cNvPr name="Freeform 3" id="3"/>
          <p:cNvSpPr/>
          <p:nvPr/>
        </p:nvSpPr>
        <p:spPr>
          <a:xfrm flipH="false" flipV="false" rot="0">
            <a:off x="1325212" y="3684658"/>
            <a:ext cx="604414" cy="496483"/>
          </a:xfrm>
          <a:custGeom>
            <a:avLst/>
            <a:gdLst/>
            <a:ahLst/>
            <a:cxnLst/>
            <a:rect r="r" b="b" t="t" l="l"/>
            <a:pathLst>
              <a:path h="496483" w="604414">
                <a:moveTo>
                  <a:pt x="0" y="0"/>
                </a:moveTo>
                <a:lnTo>
                  <a:pt x="604414" y="0"/>
                </a:lnTo>
                <a:lnTo>
                  <a:pt x="604414" y="496483"/>
                </a:lnTo>
                <a:lnTo>
                  <a:pt x="0" y="496483"/>
                </a:lnTo>
                <a:lnTo>
                  <a:pt x="0" y="0"/>
                </a:lnTo>
                <a:close/>
              </a:path>
            </a:pathLst>
          </a:custGeom>
          <a:blipFill>
            <a:blip r:embed="rId2"/>
            <a:stretch>
              <a:fillRect l="0" t="0" r="0" b="0"/>
            </a:stretch>
          </a:blipFill>
        </p:spPr>
      </p:sp>
      <p:sp>
        <p:nvSpPr>
          <p:cNvPr name="Freeform 4" id="4"/>
          <p:cNvSpPr/>
          <p:nvPr/>
        </p:nvSpPr>
        <p:spPr>
          <a:xfrm flipH="false" flipV="false" rot="0">
            <a:off x="1369265" y="4709627"/>
            <a:ext cx="560361" cy="585832"/>
          </a:xfrm>
          <a:custGeom>
            <a:avLst/>
            <a:gdLst/>
            <a:ahLst/>
            <a:cxnLst/>
            <a:rect r="r" b="b" t="t" l="l"/>
            <a:pathLst>
              <a:path h="585832" w="560361">
                <a:moveTo>
                  <a:pt x="0" y="0"/>
                </a:moveTo>
                <a:lnTo>
                  <a:pt x="560361" y="0"/>
                </a:lnTo>
                <a:lnTo>
                  <a:pt x="560361" y="585833"/>
                </a:lnTo>
                <a:lnTo>
                  <a:pt x="0" y="585833"/>
                </a:lnTo>
                <a:lnTo>
                  <a:pt x="0" y="0"/>
                </a:lnTo>
                <a:close/>
              </a:path>
            </a:pathLst>
          </a:custGeom>
          <a:blipFill>
            <a:blip r:embed="rId3"/>
            <a:stretch>
              <a:fillRect l="0" t="0" r="0" b="0"/>
            </a:stretch>
          </a:blipFill>
        </p:spPr>
      </p:sp>
      <p:sp>
        <p:nvSpPr>
          <p:cNvPr name="Freeform 5" id="5"/>
          <p:cNvSpPr/>
          <p:nvPr/>
        </p:nvSpPr>
        <p:spPr>
          <a:xfrm flipH="false" flipV="false" rot="0">
            <a:off x="1369265" y="5885646"/>
            <a:ext cx="560361" cy="585832"/>
          </a:xfrm>
          <a:custGeom>
            <a:avLst/>
            <a:gdLst/>
            <a:ahLst/>
            <a:cxnLst/>
            <a:rect r="r" b="b" t="t" l="l"/>
            <a:pathLst>
              <a:path h="585832" w="560361">
                <a:moveTo>
                  <a:pt x="0" y="0"/>
                </a:moveTo>
                <a:lnTo>
                  <a:pt x="560361" y="0"/>
                </a:lnTo>
                <a:lnTo>
                  <a:pt x="560361" y="585833"/>
                </a:lnTo>
                <a:lnTo>
                  <a:pt x="0" y="585833"/>
                </a:lnTo>
                <a:lnTo>
                  <a:pt x="0" y="0"/>
                </a:lnTo>
                <a:close/>
              </a:path>
            </a:pathLst>
          </a:custGeom>
          <a:blipFill>
            <a:blip r:embed="rId4"/>
            <a:stretch>
              <a:fillRect l="0" t="0" r="0" b="0"/>
            </a:stretch>
          </a:blipFill>
        </p:spPr>
      </p:sp>
      <p:sp>
        <p:nvSpPr>
          <p:cNvPr name="Freeform 6" id="6"/>
          <p:cNvSpPr/>
          <p:nvPr/>
        </p:nvSpPr>
        <p:spPr>
          <a:xfrm flipH="false" flipV="false" rot="0">
            <a:off x="1369265" y="7062029"/>
            <a:ext cx="560361" cy="585832"/>
          </a:xfrm>
          <a:custGeom>
            <a:avLst/>
            <a:gdLst/>
            <a:ahLst/>
            <a:cxnLst/>
            <a:rect r="r" b="b" t="t" l="l"/>
            <a:pathLst>
              <a:path h="585832" w="560361">
                <a:moveTo>
                  <a:pt x="0" y="0"/>
                </a:moveTo>
                <a:lnTo>
                  <a:pt x="560361" y="0"/>
                </a:lnTo>
                <a:lnTo>
                  <a:pt x="560361" y="585832"/>
                </a:lnTo>
                <a:lnTo>
                  <a:pt x="0" y="585832"/>
                </a:lnTo>
                <a:lnTo>
                  <a:pt x="0" y="0"/>
                </a:lnTo>
                <a:close/>
              </a:path>
            </a:pathLst>
          </a:custGeom>
          <a:blipFill>
            <a:blip r:embed="rId5"/>
            <a:stretch>
              <a:fillRect l="0" t="0" r="0" b="0"/>
            </a:stretch>
          </a:blipFill>
        </p:spPr>
      </p:sp>
      <p:sp>
        <p:nvSpPr>
          <p:cNvPr name="Freeform 7" id="7"/>
          <p:cNvSpPr/>
          <p:nvPr/>
        </p:nvSpPr>
        <p:spPr>
          <a:xfrm flipH="false" flipV="false" rot="0">
            <a:off x="1325212" y="8171736"/>
            <a:ext cx="604414" cy="556061"/>
          </a:xfrm>
          <a:custGeom>
            <a:avLst/>
            <a:gdLst/>
            <a:ahLst/>
            <a:cxnLst/>
            <a:rect r="r" b="b" t="t" l="l"/>
            <a:pathLst>
              <a:path h="556061" w="604414">
                <a:moveTo>
                  <a:pt x="0" y="0"/>
                </a:moveTo>
                <a:lnTo>
                  <a:pt x="604414" y="0"/>
                </a:lnTo>
                <a:lnTo>
                  <a:pt x="604414" y="556061"/>
                </a:lnTo>
                <a:lnTo>
                  <a:pt x="0" y="556061"/>
                </a:lnTo>
                <a:lnTo>
                  <a:pt x="0" y="0"/>
                </a:lnTo>
                <a:close/>
              </a:path>
            </a:pathLst>
          </a:custGeom>
          <a:blipFill>
            <a:blip r:embed="rId6"/>
            <a:stretch>
              <a:fillRect l="0" t="0" r="0" b="0"/>
            </a:stretch>
          </a:blipFill>
        </p:spPr>
      </p:sp>
      <p:sp>
        <p:nvSpPr>
          <p:cNvPr name="TextBox 8" id="8"/>
          <p:cNvSpPr txBox="true"/>
          <p:nvPr/>
        </p:nvSpPr>
        <p:spPr>
          <a:xfrm rot="0">
            <a:off x="933450" y="1443016"/>
            <a:ext cx="13378445" cy="1946910"/>
          </a:xfrm>
          <a:prstGeom prst="rect">
            <a:avLst/>
          </a:prstGeom>
        </p:spPr>
        <p:txBody>
          <a:bodyPr anchor="t" rtlCol="false" tIns="0" lIns="0" bIns="0" rIns="0">
            <a:spAutoFit/>
          </a:bodyPr>
          <a:lstStyle/>
          <a:p>
            <a:pPr algn="l">
              <a:lnSpc>
                <a:spcPts val="7560"/>
              </a:lnSpc>
            </a:pPr>
            <a:r>
              <a:rPr lang="en-US" sz="7200" b="true">
                <a:solidFill>
                  <a:srgbClr val="FFFFFF"/>
                </a:solidFill>
                <a:latin typeface="Neue Montreal Medium"/>
                <a:ea typeface="Neue Montreal Medium"/>
                <a:cs typeface="Neue Montreal Medium"/>
                <a:sym typeface="Neue Montreal Medium"/>
              </a:rPr>
              <a:t>MEDIDAS</a:t>
            </a:r>
            <a:r>
              <a:rPr lang="en-US" sz="7200" b="true">
                <a:solidFill>
                  <a:srgbClr val="FFFFFF"/>
                </a:solidFill>
                <a:latin typeface="Neue Montreal Medium"/>
                <a:ea typeface="Neue Montreal Medium"/>
                <a:cs typeface="Neue Montreal Medium"/>
                <a:sym typeface="Neue Montreal Medium"/>
              </a:rPr>
              <a:t> DE PREVENCIÓN</a:t>
            </a:r>
          </a:p>
          <a:p>
            <a:pPr algn="l">
              <a:lnSpc>
                <a:spcPts val="7560"/>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DAHOX5g_d9Q</dc:identifier>
  <dcterms:modified xsi:type="dcterms:W3CDTF">2011-08-01T06:04:30Z</dcterms:modified>
  <cp:revision>1</cp:revision>
  <dc:title>¿Qué problema ocurriría? Ocurriría un conflicto de merge. Git no sabría automáticamente qué versión conservar porque ambos integrantes modificaron las mismas líneas o partes cercanas del archivo.</dc:title>
</cp:coreProperties>
</file>