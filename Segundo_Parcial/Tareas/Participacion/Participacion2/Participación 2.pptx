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Lst>
  <p:sldSz cy="6858000" cx="12192000"/>
  <p:notesSz cx="6858000" cy="9144000"/>
  <p:embeddedFontLst>
    <p:embeddedFont>
      <p:font typeface="Poppins"/>
      <p:regular r:id="rId22"/>
      <p:bold r:id="rId23"/>
      <p:italic r:id="rId24"/>
      <p:boldItalic r:id="rId25"/>
    </p:embeddedFont>
    <p:embeddedFont>
      <p:font typeface="Lat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2A1A312-18D3-4703-83E4-31DB71BA1067}">
  <a:tblStyle styleId="{82A1A312-18D3-4703-83E4-31DB71BA106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font" Target="fonts/Poppins-regular.fntdata"/><Relationship Id="rId21" Type="http://schemas.openxmlformats.org/officeDocument/2006/relationships/slide" Target="slides/slide15.xml"/><Relationship Id="rId24" Type="http://schemas.openxmlformats.org/officeDocument/2006/relationships/font" Target="fonts/Poppins-italic.fntdata"/><Relationship Id="rId23" Type="http://schemas.openxmlformats.org/officeDocument/2006/relationships/font" Target="fonts/Poppins-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Lato-regular.fntdata"/><Relationship Id="rId25" Type="http://schemas.openxmlformats.org/officeDocument/2006/relationships/font" Target="fonts/Poppins-boldItalic.fntdata"/><Relationship Id="rId28" Type="http://schemas.openxmlformats.org/officeDocument/2006/relationships/font" Target="fonts/Lato-italic.fntdata"/><Relationship Id="rId27" Type="http://schemas.openxmlformats.org/officeDocument/2006/relationships/font" Target="fonts/Lat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Lat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f4a73cb763_5_1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f4a73cb763_5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f4a73cb763_5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f4a73cb763_5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3f4a73cb763_5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3f4a73cb763_5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f4a73cb763_5_9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f4a73cb763_5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f4a73cb763_5_6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f4a73cb763_5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f4a73cb763_6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f4a73cb763_6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g3f4a73cb763_6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7" name="Google Shape;147;g3f4a73cb763_6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f4a73cb763_6_5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f4a73cb763_6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g3f4a73cb763_8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4" name="Google Shape;174;g3f4a73cb763_8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f4a73cb763_8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1" name="Google Shape;181;g3f4a73cb763_8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5"/>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5"/>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6"/>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6"/>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7"/>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7"/>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7"/>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7"/>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0"/>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0"/>
          <p:cNvSpPr/>
          <p:nvPr>
            <p:ph idx="2" type="pic"/>
          </p:nvPr>
        </p:nvSpPr>
        <p:spPr>
          <a:xfrm>
            <a:off x="1792288" y="612775"/>
            <a:ext cx="5486400" cy="4114800"/>
          </a:xfrm>
          <a:prstGeom prst="rect">
            <a:avLst/>
          </a:prstGeom>
          <a:noFill/>
          <a:ln>
            <a:noFill/>
          </a:ln>
        </p:spPr>
      </p:sp>
      <p:sp>
        <p:nvSpPr>
          <p:cNvPr id="64" name="Google Shape;64;p10"/>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1"/>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12"/>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12"/>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png"/><Relationship Id="rId4" Type="http://schemas.openxmlformats.org/officeDocument/2006/relationships/image" Target="../media/image1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descr="image.png" id="84" name="Google Shape;84;p13"/>
          <p:cNvPicPr preferRelativeResize="0"/>
          <p:nvPr/>
        </p:nvPicPr>
        <p:blipFill rotWithShape="1">
          <a:blip r:embed="rId3">
            <a:alphaModFix/>
          </a:blip>
          <a:srcRect b="0" l="0" r="0" t="0"/>
          <a:stretch/>
        </p:blipFill>
        <p:spPr>
          <a:xfrm>
            <a:off x="0" y="0"/>
            <a:ext cx="12192000" cy="6858000"/>
          </a:xfrm>
          <a:prstGeom prst="rect">
            <a:avLst/>
          </a:prstGeom>
          <a:noFill/>
          <a:ln>
            <a:noFill/>
          </a:ln>
        </p:spPr>
      </p:pic>
      <p:sp>
        <p:nvSpPr>
          <p:cNvPr id="85" name="Google Shape;85;p13"/>
          <p:cNvSpPr txBox="1"/>
          <p:nvPr/>
        </p:nvSpPr>
        <p:spPr>
          <a:xfrm>
            <a:off x="735986" y="851137"/>
            <a:ext cx="9821100" cy="147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800">
                <a:solidFill>
                  <a:srgbClr val="FFFFFF"/>
                </a:solidFill>
                <a:latin typeface="Poppins"/>
                <a:ea typeface="Poppins"/>
                <a:cs typeface="Poppins"/>
                <a:sym typeface="Poppins"/>
              </a:rPr>
              <a:t>Sistema de Inventario Escolar CBTa 15 </a:t>
            </a:r>
            <a:endParaRPr/>
          </a:p>
        </p:txBody>
      </p:sp>
      <p:sp>
        <p:nvSpPr>
          <p:cNvPr id="86" name="Google Shape;86;p13"/>
          <p:cNvSpPr txBox="1"/>
          <p:nvPr/>
        </p:nvSpPr>
        <p:spPr>
          <a:xfrm>
            <a:off x="362100" y="2778400"/>
            <a:ext cx="8419800" cy="3512400"/>
          </a:xfrm>
          <a:prstGeom prst="rect">
            <a:avLst/>
          </a:prstGeom>
          <a:noFill/>
          <a:ln>
            <a:noFill/>
          </a:ln>
        </p:spPr>
        <p:txBody>
          <a:bodyPr anchorCtr="0" anchor="t" bIns="0" lIns="0" spcFirstLastPara="1" rIns="0" wrap="square" tIns="0">
            <a:spAutoFit/>
          </a:bodyPr>
          <a:lstStyle/>
          <a:p>
            <a:pPr indent="0" lvl="0" marL="0" rtl="0" algn="l">
              <a:lnSpc>
                <a:spcPct val="313636"/>
              </a:lnSpc>
              <a:spcBef>
                <a:spcPts val="1200"/>
              </a:spcBef>
              <a:spcAft>
                <a:spcPts val="0"/>
              </a:spcAft>
              <a:buSzPts val="1100"/>
              <a:buNone/>
            </a:pPr>
            <a:r>
              <a:rPr b="1" lang="en-US" sz="2000">
                <a:solidFill>
                  <a:schemeClr val="lt1"/>
                </a:solidFill>
              </a:rPr>
              <a:t>Docente</a:t>
            </a:r>
            <a:r>
              <a:rPr b="1" lang="en-US" sz="2000">
                <a:solidFill>
                  <a:schemeClr val="lt1"/>
                </a:solidFill>
              </a:rPr>
              <a:t>: </a:t>
            </a:r>
            <a:r>
              <a:rPr lang="en-US" sz="2000">
                <a:solidFill>
                  <a:schemeClr val="lt1"/>
                </a:solidFill>
              </a:rPr>
              <a:t>Mario Alonso Segovia Gutiérrez</a:t>
            </a:r>
            <a:endParaRPr sz="2000">
              <a:solidFill>
                <a:schemeClr val="lt1"/>
              </a:solidFill>
            </a:endParaRPr>
          </a:p>
          <a:p>
            <a:pPr indent="0" lvl="0" marL="0" rtl="0" algn="l">
              <a:lnSpc>
                <a:spcPct val="313636"/>
              </a:lnSpc>
              <a:spcBef>
                <a:spcPts val="1200"/>
              </a:spcBef>
              <a:spcAft>
                <a:spcPts val="0"/>
              </a:spcAft>
              <a:buSzPts val="1100"/>
              <a:buNone/>
            </a:pPr>
            <a:r>
              <a:rPr b="1" lang="en-US" sz="2000">
                <a:solidFill>
                  <a:schemeClr val="lt1"/>
                </a:solidFill>
              </a:rPr>
              <a:t>Materia:</a:t>
            </a:r>
            <a:r>
              <a:rPr lang="en-US" sz="2000">
                <a:solidFill>
                  <a:schemeClr val="lt1"/>
                </a:solidFill>
              </a:rPr>
              <a:t>Proyecto de una Plataforma Virtual</a:t>
            </a:r>
            <a:endParaRPr sz="2000">
              <a:solidFill>
                <a:schemeClr val="lt1"/>
              </a:solidFill>
            </a:endParaRPr>
          </a:p>
          <a:p>
            <a:pPr indent="0" lvl="0" marL="0" rtl="0" algn="l">
              <a:lnSpc>
                <a:spcPct val="313636"/>
              </a:lnSpc>
              <a:spcBef>
                <a:spcPts val="1200"/>
              </a:spcBef>
              <a:spcAft>
                <a:spcPts val="1200"/>
              </a:spcAft>
              <a:buSzPts val="1100"/>
              <a:buNone/>
            </a:pPr>
            <a:r>
              <a:rPr b="1" lang="en-US" sz="2000">
                <a:solidFill>
                  <a:schemeClr val="lt1"/>
                </a:solidFill>
              </a:rPr>
              <a:t>Alumno(s): </a:t>
            </a:r>
            <a:r>
              <a:rPr lang="en-US" sz="2000">
                <a:solidFill>
                  <a:schemeClr val="lt1"/>
                </a:solidFill>
              </a:rPr>
              <a:t>Inurreta Brito Gustavo Enrique,Carlos Alberto Castillo pinzon,Rodrigo Alegandro Barbosa Vidal y Michael Roman Alavez Colli</a:t>
            </a:r>
            <a:endParaRPr b="1" sz="2000">
              <a:solidFill>
                <a:schemeClr val="lt1"/>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90" name="Shape 90"/>
        <p:cNvGrpSpPr/>
        <p:nvPr/>
      </p:nvGrpSpPr>
      <p:grpSpPr>
        <a:xfrm>
          <a:off x="0" y="0"/>
          <a:ext cx="0" cy="0"/>
          <a:chOff x="0" y="0"/>
          <a:chExt cx="0" cy="0"/>
        </a:xfrm>
      </p:grpSpPr>
      <p:sp>
        <p:nvSpPr>
          <p:cNvPr id="91" name="Google Shape;91;p14"/>
          <p:cNvSpPr txBox="1"/>
          <p:nvPr/>
        </p:nvSpPr>
        <p:spPr>
          <a:xfrm>
            <a:off x="204100" y="408200"/>
            <a:ext cx="5191200" cy="754200"/>
          </a:xfrm>
          <a:prstGeom prst="rect">
            <a:avLst/>
          </a:prstGeom>
          <a:noFill/>
          <a:ln>
            <a:noFill/>
          </a:ln>
        </p:spPr>
        <p:txBody>
          <a:bodyPr anchorCtr="0" anchor="t" bIns="91425" lIns="91425" spcFirstLastPara="1" rIns="91425" wrap="square" tIns="91425">
            <a:spAutoFit/>
          </a:bodyPr>
          <a:lstStyle/>
          <a:p>
            <a:pPr indent="0" lvl="0" marL="0" rtl="0" algn="l">
              <a:lnSpc>
                <a:spcPct val="98000"/>
              </a:lnSpc>
              <a:spcBef>
                <a:spcPts val="8200"/>
              </a:spcBef>
              <a:spcAft>
                <a:spcPts val="8200"/>
              </a:spcAft>
              <a:buNone/>
            </a:pPr>
            <a:r>
              <a:rPr lang="en-US" sz="3700">
                <a:solidFill>
                  <a:schemeClr val="dk1"/>
                </a:solidFill>
              </a:rPr>
              <a:t>Problema que resuelve</a:t>
            </a:r>
            <a:endParaRPr sz="3700">
              <a:solidFill>
                <a:schemeClr val="dk1"/>
              </a:solidFill>
            </a:endParaRPr>
          </a:p>
        </p:txBody>
      </p:sp>
      <p:sp>
        <p:nvSpPr>
          <p:cNvPr id="92" name="Google Shape;92;p14"/>
          <p:cNvSpPr txBox="1"/>
          <p:nvPr/>
        </p:nvSpPr>
        <p:spPr>
          <a:xfrm>
            <a:off x="425200" y="1476850"/>
            <a:ext cx="47490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La institución necesita llevar un mejor control de los bienes escolares, como computadoras, proyectores, escritorios, mobiliario, herramientas y otros recursos.</a:t>
            </a:r>
            <a:endParaRPr sz="2400"/>
          </a:p>
        </p:txBody>
      </p:sp>
      <p:sp>
        <p:nvSpPr>
          <p:cNvPr id="93" name="Google Shape;93;p14"/>
          <p:cNvSpPr txBox="1"/>
          <p:nvPr/>
        </p:nvSpPr>
        <p:spPr>
          <a:xfrm>
            <a:off x="6259250" y="3878050"/>
            <a:ext cx="4749000" cy="2456700"/>
          </a:xfrm>
          <a:prstGeom prst="rect">
            <a:avLst/>
          </a:prstGeom>
          <a:noFill/>
          <a:ln>
            <a:noFill/>
          </a:ln>
        </p:spPr>
        <p:txBody>
          <a:bodyPr anchorCtr="0" anchor="t" bIns="91425" lIns="91425" spcFirstLastPara="1" rIns="91425" wrap="square" tIns="91425">
            <a:spAutoFit/>
          </a:bodyPr>
          <a:lstStyle/>
          <a:p>
            <a:pPr indent="0" lvl="0" marL="0" rtl="0" algn="ctr">
              <a:lnSpc>
                <a:spcPct val="103000"/>
              </a:lnSpc>
              <a:spcBef>
                <a:spcPts val="5000"/>
              </a:spcBef>
              <a:spcAft>
                <a:spcPts val="5000"/>
              </a:spcAft>
              <a:buNone/>
            </a:pPr>
            <a:r>
              <a:rPr lang="en-US" sz="2400">
                <a:solidFill>
                  <a:schemeClr val="dk1"/>
                </a:solidFill>
              </a:rPr>
              <a:t>Actualmente, el control manual puede provocar pérdida de información, duplicidad de registros, dificultad para saber quién tiene asignado un bien y falta de reportes actualizados.</a:t>
            </a:r>
            <a:endParaRPr sz="2400">
              <a:solidFill>
                <a:schemeClr val="dk1"/>
              </a:solidFill>
            </a:endParaRPr>
          </a:p>
        </p:txBody>
      </p:sp>
      <p:pic>
        <p:nvPicPr>
          <p:cNvPr id="94" name="Google Shape;94;p14"/>
          <p:cNvPicPr preferRelativeResize="0"/>
          <p:nvPr/>
        </p:nvPicPr>
        <p:blipFill>
          <a:blip r:embed="rId3">
            <a:alphaModFix/>
          </a:blip>
          <a:stretch>
            <a:fillRect/>
          </a:stretch>
        </p:blipFill>
        <p:spPr>
          <a:xfrm>
            <a:off x="6331300" y="650350"/>
            <a:ext cx="5191201" cy="2595600"/>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15"/>
          <p:cNvSpPr txBox="1"/>
          <p:nvPr/>
        </p:nvSpPr>
        <p:spPr>
          <a:xfrm>
            <a:off x="136075" y="595300"/>
            <a:ext cx="3745500" cy="600300"/>
          </a:xfrm>
          <a:prstGeom prst="rect">
            <a:avLst/>
          </a:prstGeom>
          <a:noFill/>
          <a:ln>
            <a:noFill/>
          </a:ln>
        </p:spPr>
        <p:txBody>
          <a:bodyPr anchorCtr="0" anchor="t" bIns="91425" lIns="91425" spcFirstLastPara="1" rIns="91425" wrap="square" tIns="91425">
            <a:spAutoFit/>
          </a:bodyPr>
          <a:lstStyle/>
          <a:p>
            <a:pPr indent="0" lvl="0" marL="0" rtl="0" algn="ctr">
              <a:lnSpc>
                <a:spcPct val="98000"/>
              </a:lnSpc>
              <a:spcBef>
                <a:spcPts val="8200"/>
              </a:spcBef>
              <a:spcAft>
                <a:spcPts val="8200"/>
              </a:spcAft>
              <a:buNone/>
            </a:pPr>
            <a:r>
              <a:rPr lang="en-US" sz="2700">
                <a:solidFill>
                  <a:schemeClr val="dk1"/>
                </a:solidFill>
              </a:rPr>
              <a:t>Objetivo general</a:t>
            </a:r>
            <a:endParaRPr sz="2700">
              <a:solidFill>
                <a:schemeClr val="dk1"/>
              </a:solidFill>
            </a:endParaRPr>
          </a:p>
        </p:txBody>
      </p:sp>
      <p:sp>
        <p:nvSpPr>
          <p:cNvPr id="100" name="Google Shape;100;p15"/>
          <p:cNvSpPr txBox="1"/>
          <p:nvPr/>
        </p:nvSpPr>
        <p:spPr>
          <a:xfrm>
            <a:off x="374200" y="1530800"/>
            <a:ext cx="53781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solidFill>
                  <a:schemeClr val="dk1"/>
                </a:solidFill>
              </a:rPr>
              <a:t>Desarrollar un sistema web que permita registrar, consultar, asignar, importar, exportar y dar seguimiento a los bienes escolares de una institución, facilitando la administración del inventario y la toma de decisiones. </a:t>
            </a:r>
            <a:endParaRPr sz="2400"/>
          </a:p>
        </p:txBody>
      </p:sp>
      <p:pic>
        <p:nvPicPr>
          <p:cNvPr id="101" name="Google Shape;101;p15"/>
          <p:cNvPicPr preferRelativeResize="0"/>
          <p:nvPr/>
        </p:nvPicPr>
        <p:blipFill>
          <a:blip r:embed="rId3">
            <a:alphaModFix/>
          </a:blip>
          <a:stretch>
            <a:fillRect/>
          </a:stretch>
        </p:blipFill>
        <p:spPr>
          <a:xfrm>
            <a:off x="6295900" y="1848050"/>
            <a:ext cx="5636449" cy="31619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16"/>
          <p:cNvSpPr txBox="1"/>
          <p:nvPr/>
        </p:nvSpPr>
        <p:spPr>
          <a:xfrm>
            <a:off x="452400" y="357175"/>
            <a:ext cx="41196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US" sz="3600">
                <a:solidFill>
                  <a:schemeClr val="dk1"/>
                </a:solidFill>
              </a:rPr>
              <a:t>Estado actual del proyecto</a:t>
            </a:r>
            <a:r>
              <a:rPr lang="en-US" sz="3600">
                <a:solidFill>
                  <a:schemeClr val="dk1"/>
                </a:solidFill>
              </a:rPr>
              <a:t> </a:t>
            </a:r>
            <a:endParaRPr sz="3600"/>
          </a:p>
        </p:txBody>
      </p:sp>
      <p:sp>
        <p:nvSpPr>
          <p:cNvPr id="107" name="Google Shape;107;p16"/>
          <p:cNvSpPr txBox="1"/>
          <p:nvPr/>
        </p:nvSpPr>
        <p:spPr>
          <a:xfrm>
            <a:off x="153100" y="1922325"/>
            <a:ext cx="6194700" cy="2401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El sistema ya cuenta con una base funcional. Actualmente permite iniciar sesión, administrar bienes, áreas, personal, asignaciones, historial de movimientos, pendientes, usuarios, reportes y códigos de barras. </a:t>
            </a:r>
            <a:endParaRPr sz="2400"/>
          </a:p>
        </p:txBody>
      </p:sp>
      <p:sp>
        <p:nvSpPr>
          <p:cNvPr id="108" name="Google Shape;108;p16"/>
          <p:cNvSpPr txBox="1"/>
          <p:nvPr/>
        </p:nvSpPr>
        <p:spPr>
          <a:xfrm>
            <a:off x="6160625" y="3963075"/>
            <a:ext cx="5881500" cy="2770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2400"/>
              <a:t>también</a:t>
            </a:r>
            <a:r>
              <a:rPr lang="en-US" sz="2400"/>
              <a:t> cuenta con importación de archivos CSV/Excel y exportación de reportes. Sin embargo, todavía existen mejoras pendientes relacionadas con validaciones, seguridad, reportes, pruebas, roles, usabilidad y control de duplicados. </a:t>
            </a:r>
            <a:endParaRPr sz="2400"/>
          </a:p>
        </p:txBody>
      </p:sp>
      <p:pic>
        <p:nvPicPr>
          <p:cNvPr id="109" name="Google Shape;109;p16"/>
          <p:cNvPicPr preferRelativeResize="0"/>
          <p:nvPr/>
        </p:nvPicPr>
        <p:blipFill>
          <a:blip r:embed="rId3">
            <a:alphaModFix/>
          </a:blip>
          <a:stretch>
            <a:fillRect/>
          </a:stretch>
        </p:blipFill>
        <p:spPr>
          <a:xfrm>
            <a:off x="6347800" y="1155925"/>
            <a:ext cx="5691800" cy="1878475"/>
          </a:xfrm>
          <a:prstGeom prst="rect">
            <a:avLst/>
          </a:prstGeom>
          <a:noFill/>
          <a:ln>
            <a:noFill/>
          </a:ln>
        </p:spPr>
      </p:pic>
      <p:pic>
        <p:nvPicPr>
          <p:cNvPr id="110" name="Google Shape;110;p16"/>
          <p:cNvPicPr preferRelativeResize="0"/>
          <p:nvPr/>
        </p:nvPicPr>
        <p:blipFill>
          <a:blip r:embed="rId4">
            <a:alphaModFix/>
          </a:blip>
          <a:stretch>
            <a:fillRect/>
          </a:stretch>
        </p:blipFill>
        <p:spPr>
          <a:xfrm>
            <a:off x="152400" y="4475925"/>
            <a:ext cx="4885649" cy="22296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17"/>
          <p:cNvSpPr txBox="1"/>
          <p:nvPr/>
        </p:nvSpPr>
        <p:spPr>
          <a:xfrm>
            <a:off x="306175" y="255125"/>
            <a:ext cx="3983400" cy="1293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sz="3600"/>
              <a:t>Tecnologías que utilizarán. </a:t>
            </a:r>
            <a:endParaRPr sz="3600"/>
          </a:p>
        </p:txBody>
      </p:sp>
      <p:sp>
        <p:nvSpPr>
          <p:cNvPr id="116" name="Google Shape;116;p17"/>
          <p:cNvSpPr txBox="1"/>
          <p:nvPr/>
        </p:nvSpPr>
        <p:spPr>
          <a:xfrm>
            <a:off x="306175" y="1462775"/>
            <a:ext cx="6007500" cy="5390400"/>
          </a:xfrm>
          <a:prstGeom prst="rect">
            <a:avLst/>
          </a:prstGeom>
          <a:noFill/>
          <a:ln>
            <a:noFill/>
          </a:ln>
        </p:spPr>
        <p:txBody>
          <a:bodyPr anchorCtr="0" anchor="t" bIns="91425" lIns="91425" spcFirstLastPara="1" rIns="91425" wrap="square" tIns="91425">
            <a:spAutoFit/>
          </a:bodyPr>
          <a:lstStyle/>
          <a:p>
            <a:pPr indent="-349250" lvl="0" marL="457200" rtl="0" algn="l">
              <a:lnSpc>
                <a:spcPct val="140000"/>
              </a:lnSpc>
              <a:spcBef>
                <a:spcPts val="4500"/>
              </a:spcBef>
              <a:spcAft>
                <a:spcPts val="0"/>
              </a:spcAft>
              <a:buClr>
                <a:schemeClr val="dk1"/>
              </a:buClr>
              <a:buSzPts val="1900"/>
              <a:buAutoNum type="arabicPeriod"/>
            </a:pPr>
            <a:r>
              <a:rPr lang="en-US" sz="1900">
                <a:solidFill>
                  <a:schemeClr val="dk1"/>
                </a:solidFill>
              </a:rPr>
              <a:t>Laravel.</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PHP.</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Blade.</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MySQL.</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HTML5.</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CSS3.</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JavaScript.</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Bootstrap.</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Migraciones de base de datos.</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Autenticación mediante roles.</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PHPUnit para pruebas funcionales.</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GitHub para el control de versiones</a:t>
            </a:r>
            <a:endParaRPr sz="1900">
              <a:solidFill>
                <a:schemeClr val="dk1"/>
              </a:solidFill>
            </a:endParaRPr>
          </a:p>
          <a:p>
            <a:pPr indent="-349250" lvl="0" marL="457200" rtl="0" algn="l">
              <a:lnSpc>
                <a:spcPct val="140000"/>
              </a:lnSpc>
              <a:spcBef>
                <a:spcPts val="0"/>
              </a:spcBef>
              <a:spcAft>
                <a:spcPts val="0"/>
              </a:spcAft>
              <a:buClr>
                <a:schemeClr val="dk1"/>
              </a:buClr>
              <a:buSzPts val="1900"/>
              <a:buAutoNum type="arabicPeriod"/>
            </a:pPr>
            <a:r>
              <a:rPr lang="en-US" sz="1900">
                <a:solidFill>
                  <a:schemeClr val="dk1"/>
                </a:solidFill>
              </a:rPr>
              <a:t>notion </a:t>
            </a:r>
            <a:endParaRPr sz="2000">
              <a:solidFill>
                <a:schemeClr val="dk1"/>
              </a:solidFill>
            </a:endParaRPr>
          </a:p>
        </p:txBody>
      </p:sp>
      <p:pic>
        <p:nvPicPr>
          <p:cNvPr id="117" name="Google Shape;117;p17"/>
          <p:cNvPicPr preferRelativeResize="0"/>
          <p:nvPr/>
        </p:nvPicPr>
        <p:blipFill>
          <a:blip r:embed="rId3">
            <a:alphaModFix/>
          </a:blip>
          <a:stretch>
            <a:fillRect/>
          </a:stretch>
        </p:blipFill>
        <p:spPr>
          <a:xfrm>
            <a:off x="5445550" y="255125"/>
            <a:ext cx="5573525" cy="2061751"/>
          </a:xfrm>
          <a:prstGeom prst="rect">
            <a:avLst/>
          </a:prstGeom>
          <a:noFill/>
          <a:ln>
            <a:noFill/>
          </a:ln>
        </p:spPr>
      </p:pic>
      <p:pic>
        <p:nvPicPr>
          <p:cNvPr id="118" name="Google Shape;118;p17"/>
          <p:cNvPicPr preferRelativeResize="0"/>
          <p:nvPr/>
        </p:nvPicPr>
        <p:blipFill>
          <a:blip r:embed="rId4">
            <a:alphaModFix/>
          </a:blip>
          <a:stretch>
            <a:fillRect/>
          </a:stretch>
        </p:blipFill>
        <p:spPr>
          <a:xfrm>
            <a:off x="6006825" y="2146125"/>
            <a:ext cx="4610150" cy="2777300"/>
          </a:xfrm>
          <a:prstGeom prst="rect">
            <a:avLst/>
          </a:prstGeom>
          <a:noFill/>
          <a:ln>
            <a:noFill/>
          </a:ln>
        </p:spPr>
      </p:pic>
      <p:pic>
        <p:nvPicPr>
          <p:cNvPr id="119" name="Google Shape;119;p17"/>
          <p:cNvPicPr preferRelativeResize="0"/>
          <p:nvPr/>
        </p:nvPicPr>
        <p:blipFill>
          <a:blip r:embed="rId5">
            <a:alphaModFix/>
          </a:blip>
          <a:stretch>
            <a:fillRect/>
          </a:stretch>
        </p:blipFill>
        <p:spPr>
          <a:xfrm>
            <a:off x="7282500" y="5223401"/>
            <a:ext cx="1629774" cy="1629774"/>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p18"/>
          <p:cNvSpPr txBox="1"/>
          <p:nvPr/>
        </p:nvSpPr>
        <p:spPr>
          <a:xfrm>
            <a:off x="3810000" y="1261050"/>
            <a:ext cx="3635700" cy="1409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2400"/>
              </a:spcBef>
              <a:spcAft>
                <a:spcPts val="600"/>
              </a:spcAft>
              <a:buNone/>
            </a:pPr>
            <a:r>
              <a:rPr b="1" lang="en-US" sz="3700">
                <a:solidFill>
                  <a:schemeClr val="dk1"/>
                </a:solidFill>
              </a:rPr>
              <a:t>Reglas de Clean Code</a:t>
            </a:r>
            <a:endParaRPr b="1" sz="3700">
              <a:solidFill>
                <a:schemeClr val="dk1"/>
              </a:solidFill>
            </a:endParaRPr>
          </a:p>
        </p:txBody>
      </p:sp>
      <p:pic>
        <p:nvPicPr>
          <p:cNvPr id="125" name="Google Shape;125;p18"/>
          <p:cNvPicPr preferRelativeResize="0"/>
          <p:nvPr/>
        </p:nvPicPr>
        <p:blipFill>
          <a:blip r:embed="rId3">
            <a:alphaModFix/>
          </a:blip>
          <a:stretch>
            <a:fillRect/>
          </a:stretch>
        </p:blipFill>
        <p:spPr>
          <a:xfrm>
            <a:off x="3117225" y="2843200"/>
            <a:ext cx="4610100" cy="340995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graphicFrame>
        <p:nvGraphicFramePr>
          <p:cNvPr id="130" name="Google Shape;130;p19"/>
          <p:cNvGraphicFramePr/>
          <p:nvPr/>
        </p:nvGraphicFramePr>
        <p:xfrm>
          <a:off x="268050" y="96625"/>
          <a:ext cx="3000000" cy="3000000"/>
        </p:xfrm>
        <a:graphic>
          <a:graphicData uri="http://schemas.openxmlformats.org/drawingml/2006/table">
            <a:tbl>
              <a:tblPr>
                <a:noFill/>
                <a:tableStyleId>{82A1A312-18D3-4703-83E4-31DB71BA1067}</a:tableStyleId>
              </a:tblPr>
              <a:tblGrid>
                <a:gridCol w="2486075"/>
                <a:gridCol w="2682800"/>
                <a:gridCol w="2376925"/>
                <a:gridCol w="3326425"/>
              </a:tblGrid>
              <a:tr h="355425">
                <a:tc>
                  <a:txBody>
                    <a:bodyPr/>
                    <a:lstStyle/>
                    <a:p>
                      <a:pPr indent="0" lvl="0" marL="0" rtl="0" algn="ctr">
                        <a:lnSpc>
                          <a:spcPct val="115000"/>
                        </a:lnSpc>
                        <a:spcBef>
                          <a:spcPts val="0"/>
                        </a:spcBef>
                        <a:spcAft>
                          <a:spcPts val="0"/>
                        </a:spcAft>
                        <a:buNone/>
                      </a:pPr>
                      <a:r>
                        <a:rPr b="1" lang="en-US" sz="1200"/>
                        <a:t>Regla de Clean Code</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¿Por qué implementarla?</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¿Qué problema evita?</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200"/>
                        <a:t>¿Cómo se aplicará?</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05575">
                <a:tc>
                  <a:txBody>
                    <a:bodyPr/>
                    <a:lstStyle/>
                    <a:p>
                      <a:pPr indent="0" lvl="0" marL="0" rtl="0" algn="l">
                        <a:spcBef>
                          <a:spcPts val="0"/>
                        </a:spcBef>
                        <a:spcAft>
                          <a:spcPts val="0"/>
                        </a:spcAft>
                        <a:buNone/>
                      </a:pPr>
                      <a:r>
                        <a:rPr b="1" lang="en-US" sz="1200"/>
                        <a:t>1. Utilizar nombres claros y descriptivos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Facilita identificar la función de variables, métodos y clases.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Confusión y dificultad para entender el código.</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Usar nombres descriptivos y evitar abreviaturas o nombres genéricos.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05575">
                <a:tc>
                  <a:txBody>
                    <a:bodyPr/>
                    <a:lstStyle/>
                    <a:p>
                      <a:pPr indent="0" lvl="0" marL="0" rtl="0" algn="l">
                        <a:spcBef>
                          <a:spcPts val="0"/>
                        </a:spcBef>
                        <a:spcAft>
                          <a:spcPts val="0"/>
                        </a:spcAft>
                        <a:buNone/>
                      </a:pPr>
                      <a:r>
                        <a:rPr b="1" lang="en-US" sz="1200"/>
                        <a:t>2. Separar responsabilidades por módulo</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Organiza mejor las funciones del sistema.</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Controladores muy grandes y difíciles de mantener.</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Un controlador por cada módulo (Bienes, Áreas, Personal, Reportes, etc.).</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67250">
                <a:tc>
                  <a:txBody>
                    <a:bodyPr/>
                    <a:lstStyle/>
                    <a:p>
                      <a:pPr indent="0" lvl="0" marL="0" rtl="0" algn="l">
                        <a:spcBef>
                          <a:spcPts val="0"/>
                        </a:spcBef>
                        <a:spcAft>
                          <a:spcPts val="0"/>
                        </a:spcAft>
                        <a:buNone/>
                      </a:pPr>
                      <a:r>
                        <a:rPr b="1" lang="en-US" sz="1200"/>
                        <a:t>3. Validar los datos antes de guardarlos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Garantiza la integridad de la información.</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Registros incorrectos, incompletos o inválidos.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Aplicar validaciones de Laravel y mostrar mensajes claros de error.</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67250">
                <a:tc>
                  <a:txBody>
                    <a:bodyPr/>
                    <a:lstStyle/>
                    <a:p>
                      <a:pPr indent="0" lvl="0" marL="0" rtl="0" algn="l">
                        <a:spcBef>
                          <a:spcPts val="0"/>
                        </a:spcBef>
                        <a:spcAft>
                          <a:spcPts val="0"/>
                        </a:spcAft>
                        <a:buNone/>
                      </a:pPr>
                      <a:r>
                        <a:rPr b="1" lang="en-US" sz="1200"/>
                        <a:t>4. Evitar la duplicación de código</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Facilita el mantenimiento del sistema.</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Repetición de lógica y mayor riesgo de errores.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Reutilizar funciones, métodos y servicios comunes.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05575">
                <a:tc>
                  <a:txBody>
                    <a:bodyPr/>
                    <a:lstStyle/>
                    <a:p>
                      <a:pPr indent="0" lvl="0" marL="0" rtl="0" algn="l">
                        <a:spcBef>
                          <a:spcPts val="0"/>
                        </a:spcBef>
                        <a:spcAft>
                          <a:spcPts val="0"/>
                        </a:spcAft>
                        <a:buNone/>
                      </a:pPr>
                      <a:r>
                        <a:rPr b="1" lang="en-US" sz="1200"/>
                        <a:t>5. Mantener funciones pequeñas y enfocadas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Hace el código más claro y fácil de probar.</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Métodos largos con múltiples responsabilidades.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Cada función realizará una sola tarea específica.</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05425">
                <a:tc>
                  <a:txBody>
                    <a:bodyPr/>
                    <a:lstStyle/>
                    <a:p>
                      <a:pPr indent="0" lvl="0" marL="0" rtl="0" algn="l">
                        <a:spcBef>
                          <a:spcPts val="0"/>
                        </a:spcBef>
                        <a:spcAft>
                          <a:spcPts val="0"/>
                        </a:spcAft>
                        <a:buNone/>
                      </a:pPr>
                      <a:r>
                        <a:rPr b="1" lang="en-US" sz="1200"/>
                        <a:t>6. Utilizar comentarios solo cuando sean necesarios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Mantiene el código limpio y entendible.</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Comentarios innecesarios o desactualizados.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Comentar únicamente procesos complejos o especiales.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667250">
                <a:tc>
                  <a:txBody>
                    <a:bodyPr/>
                    <a:lstStyle/>
                    <a:p>
                      <a:pPr indent="0" lvl="0" marL="0" rtl="0" algn="l">
                        <a:spcBef>
                          <a:spcPts val="0"/>
                        </a:spcBef>
                        <a:spcAft>
                          <a:spcPts val="0"/>
                        </a:spcAft>
                        <a:buNone/>
                      </a:pPr>
                      <a:r>
                        <a:rPr b="1" lang="en-US" sz="1200"/>
                        <a:t>7. Utilizar constantes para valores fijos</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Mejora la claridad y facilita cambios futuros.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Uso de valores mágicos en el código.</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Definir constantes o enumeraciones para estados y roles.</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905575">
                <a:tc>
                  <a:txBody>
                    <a:bodyPr/>
                    <a:lstStyle/>
                    <a:p>
                      <a:pPr indent="0" lvl="0" marL="0" rtl="0" algn="l">
                        <a:spcBef>
                          <a:spcPts val="0"/>
                        </a:spcBef>
                        <a:spcAft>
                          <a:spcPts val="0"/>
                        </a:spcAft>
                        <a:buNone/>
                      </a:pPr>
                      <a:r>
                        <a:rPr b="1" lang="en-US" sz="1200"/>
                        <a:t>8. Mantener un formato uniforme del código</a:t>
                      </a:r>
                      <a:endParaRPr b="1" sz="12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Facilita la lectura y el trabajo en equipo.</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Inconsistencias de formato y organización.</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sz="1500"/>
                        <a:t>Seguir las convenciones de Laravel/PHP (indentación, nombres y estructura).</a:t>
                      </a:r>
                      <a:endParaRPr sz="15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34" name="Shape 134"/>
        <p:cNvGrpSpPr/>
        <p:nvPr/>
      </p:nvGrpSpPr>
      <p:grpSpPr>
        <a:xfrm>
          <a:off x="0" y="0"/>
          <a:ext cx="0" cy="0"/>
          <a:chOff x="0" y="0"/>
          <a:chExt cx="0" cy="0"/>
        </a:xfrm>
      </p:grpSpPr>
      <p:sp>
        <p:nvSpPr>
          <p:cNvPr id="135" name="Google Shape;135;p20"/>
          <p:cNvSpPr txBox="1"/>
          <p:nvPr/>
        </p:nvSpPr>
        <p:spPr>
          <a:xfrm>
            <a:off x="571500" y="571500"/>
            <a:ext cx="116016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lang="en-US" sz="3000">
                <a:solidFill>
                  <a:srgbClr val="1E293B"/>
                </a:solidFill>
                <a:latin typeface="Poppins"/>
                <a:ea typeface="Poppins"/>
                <a:cs typeface="Poppins"/>
                <a:sym typeface="Poppins"/>
              </a:rPr>
              <a:t>APLICACIÓN</a:t>
            </a:r>
            <a:r>
              <a:rPr lang="en-US" sz="3000">
                <a:solidFill>
                  <a:srgbClr val="1E293B"/>
                </a:solidFill>
                <a:latin typeface="Poppins"/>
                <a:ea typeface="Poppins"/>
                <a:cs typeface="Poppins"/>
                <a:sym typeface="Poppins"/>
              </a:rPr>
              <a:t> DE LOS PRINCIPIOS SOLID</a:t>
            </a:r>
            <a:endParaRPr/>
          </a:p>
        </p:txBody>
      </p:sp>
      <p:sp>
        <p:nvSpPr>
          <p:cNvPr id="136" name="Google Shape;136;p20"/>
          <p:cNvSpPr txBox="1"/>
          <p:nvPr/>
        </p:nvSpPr>
        <p:spPr>
          <a:xfrm>
            <a:off x="571500" y="1257200"/>
            <a:ext cx="3000000" cy="109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800">
                <a:solidFill>
                  <a:schemeClr val="dk1"/>
                </a:solidFill>
                <a:latin typeface="Times New Roman"/>
                <a:ea typeface="Times New Roman"/>
                <a:cs typeface="Times New Roman"/>
                <a:sym typeface="Times New Roman"/>
              </a:rPr>
              <a:t>Principio 1. Responsabilidad Única (Single Responsibility Principle)</a:t>
            </a:r>
            <a:endParaRPr b="1" sz="1800">
              <a:solidFill>
                <a:schemeClr val="dk1"/>
              </a:solidFill>
              <a:latin typeface="Times New Roman"/>
              <a:ea typeface="Times New Roman"/>
              <a:cs typeface="Times New Roman"/>
              <a:sym typeface="Times New Roman"/>
            </a:endParaRPr>
          </a:p>
        </p:txBody>
      </p:sp>
      <p:sp>
        <p:nvSpPr>
          <p:cNvPr id="137" name="Google Shape;137;p20"/>
          <p:cNvSpPr txBox="1"/>
          <p:nvPr/>
        </p:nvSpPr>
        <p:spPr>
          <a:xfrm>
            <a:off x="571500" y="2479050"/>
            <a:ext cx="4528200" cy="1899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a:solidFill>
                  <a:schemeClr val="dk1"/>
                </a:solidFill>
                <a:latin typeface="Times New Roman"/>
                <a:ea typeface="Times New Roman"/>
                <a:cs typeface="Times New Roman"/>
                <a:sym typeface="Times New Roman"/>
              </a:rPr>
              <a:t>¿En qué consiste?</a:t>
            </a:r>
            <a:endParaRPr b="1">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a:solidFill>
                  <a:schemeClr val="dk1"/>
                </a:solidFill>
                <a:latin typeface="Times New Roman"/>
                <a:ea typeface="Times New Roman"/>
                <a:cs typeface="Times New Roman"/>
                <a:sym typeface="Times New Roman"/>
              </a:rPr>
              <a:t>El principio de Responsabilidad Única establece que una clase, módulo o componente debe tener una sola responsabilidad o un único motivo para cambiar. Esto significa que cada parte del sistema debe encargarse únicamente de una tarea específica, evitando mezclar diferentes procesos dentro de una misma clase.</a:t>
            </a:r>
            <a:endParaRPr>
              <a:solidFill>
                <a:schemeClr val="dk1"/>
              </a:solidFill>
              <a:latin typeface="Times New Roman"/>
              <a:ea typeface="Times New Roman"/>
              <a:cs typeface="Times New Roman"/>
              <a:sym typeface="Times New Roman"/>
            </a:endParaRPr>
          </a:p>
        </p:txBody>
      </p:sp>
      <p:sp>
        <p:nvSpPr>
          <p:cNvPr id="138" name="Google Shape;138;p20"/>
          <p:cNvSpPr txBox="1"/>
          <p:nvPr/>
        </p:nvSpPr>
        <p:spPr>
          <a:xfrm>
            <a:off x="571500" y="4501900"/>
            <a:ext cx="3000000" cy="128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350">
                <a:solidFill>
                  <a:schemeClr val="dk1"/>
                </a:solidFill>
                <a:latin typeface="Times New Roman"/>
                <a:ea typeface="Times New Roman"/>
                <a:cs typeface="Times New Roman"/>
                <a:sym typeface="Times New Roman"/>
              </a:rPr>
              <a:t>¿En qué módulo o parte del sistema será aplicado?</a:t>
            </a:r>
            <a:endParaRPr b="1" sz="135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sz="1200">
                <a:solidFill>
                  <a:schemeClr val="dk1"/>
                </a:solidFill>
                <a:latin typeface="Times New Roman"/>
                <a:ea typeface="Times New Roman"/>
                <a:cs typeface="Times New Roman"/>
                <a:sym typeface="Times New Roman"/>
              </a:rPr>
              <a:t>En el Sistema de Inventario Escolar este principio se aplicará principalmente en los controladores del sistema.</a:t>
            </a:r>
            <a:endParaRPr sz="1200">
              <a:solidFill>
                <a:schemeClr val="dk1"/>
              </a:solidFill>
              <a:latin typeface="Times New Roman"/>
              <a:ea typeface="Times New Roman"/>
              <a:cs typeface="Times New Roman"/>
              <a:sym typeface="Times New Roman"/>
            </a:endParaRPr>
          </a:p>
        </p:txBody>
      </p:sp>
      <p:sp>
        <p:nvSpPr>
          <p:cNvPr id="139" name="Google Shape;139;p20"/>
          <p:cNvSpPr txBox="1"/>
          <p:nvPr/>
        </p:nvSpPr>
        <p:spPr>
          <a:xfrm>
            <a:off x="5099700" y="1335475"/>
            <a:ext cx="4877400" cy="4190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US">
                <a:solidFill>
                  <a:schemeClr val="dk1"/>
                </a:solidFill>
                <a:latin typeface="Times New Roman"/>
                <a:ea typeface="Times New Roman"/>
                <a:cs typeface="Times New Roman"/>
                <a:sym typeface="Times New Roman"/>
              </a:rPr>
              <a:t>Por ejemplo:</a:t>
            </a:r>
            <a:endParaRPr>
              <a:solidFill>
                <a:schemeClr val="dk1"/>
              </a:solidFill>
              <a:latin typeface="Times New Roman"/>
              <a:ea typeface="Times New Roman"/>
              <a:cs typeface="Times New Roman"/>
              <a:sym typeface="Times New Roman"/>
            </a:endParaRPr>
          </a:p>
          <a:p>
            <a:pPr indent="-311150" lvl="0" marL="914400" rtl="0" algn="l">
              <a:lnSpc>
                <a:spcPct val="115000"/>
              </a:lnSpc>
              <a:spcBef>
                <a:spcPts val="1200"/>
              </a:spcBef>
              <a:spcAft>
                <a:spcPts val="0"/>
              </a:spcAft>
              <a:buClr>
                <a:schemeClr val="dk1"/>
              </a:buClr>
              <a:buSzPts val="1300"/>
              <a:buChar char="●"/>
            </a:pPr>
            <a:r>
              <a:rPr b="1" lang="en-US">
                <a:solidFill>
                  <a:schemeClr val="dk1"/>
                </a:solidFill>
                <a:latin typeface="Times New Roman"/>
                <a:ea typeface="Times New Roman"/>
                <a:cs typeface="Times New Roman"/>
                <a:sym typeface="Times New Roman"/>
              </a:rPr>
              <a:t>BienController</a:t>
            </a:r>
            <a:r>
              <a:rPr lang="en-US">
                <a:solidFill>
                  <a:schemeClr val="dk1"/>
                </a:solidFill>
                <a:latin typeface="Times New Roman"/>
                <a:ea typeface="Times New Roman"/>
                <a:cs typeface="Times New Roman"/>
                <a:sym typeface="Times New Roman"/>
              </a:rPr>
              <a:t> será responsable únicamente de la administración de los bienes.</a:t>
            </a:r>
            <a:endParaRPr>
              <a:solidFill>
                <a:schemeClr val="dk1"/>
              </a:solidFill>
              <a:latin typeface="Times New Roman"/>
              <a:ea typeface="Times New Roman"/>
              <a:cs typeface="Times New Roman"/>
              <a:sym typeface="Times New Roman"/>
            </a:endParaRPr>
          </a:p>
          <a:p>
            <a:pPr indent="-311150" lvl="0" marL="914400" rtl="0" algn="l">
              <a:lnSpc>
                <a:spcPct val="115000"/>
              </a:lnSpc>
              <a:spcBef>
                <a:spcPts val="0"/>
              </a:spcBef>
              <a:spcAft>
                <a:spcPts val="0"/>
              </a:spcAft>
              <a:buClr>
                <a:schemeClr val="dk1"/>
              </a:buClr>
              <a:buSzPts val="1300"/>
              <a:buChar char="●"/>
            </a:pPr>
            <a:r>
              <a:rPr b="1" lang="en-US">
                <a:solidFill>
                  <a:schemeClr val="dk1"/>
                </a:solidFill>
                <a:latin typeface="Times New Roman"/>
                <a:ea typeface="Times New Roman"/>
                <a:cs typeface="Times New Roman"/>
                <a:sym typeface="Times New Roman"/>
              </a:rPr>
              <a:t>ReportesController</a:t>
            </a:r>
            <a:r>
              <a:rPr lang="en-US">
                <a:solidFill>
                  <a:schemeClr val="dk1"/>
                </a:solidFill>
                <a:latin typeface="Times New Roman"/>
                <a:ea typeface="Times New Roman"/>
                <a:cs typeface="Times New Roman"/>
                <a:sym typeface="Times New Roman"/>
              </a:rPr>
              <a:t> será responsable exclusivamente de generar reportes y exportaciones.</a:t>
            </a:r>
            <a:endParaRPr>
              <a:solidFill>
                <a:schemeClr val="dk1"/>
              </a:solidFill>
              <a:latin typeface="Times New Roman"/>
              <a:ea typeface="Times New Roman"/>
              <a:cs typeface="Times New Roman"/>
              <a:sym typeface="Times New Roman"/>
            </a:endParaRPr>
          </a:p>
          <a:p>
            <a:pPr indent="-311150" lvl="0" marL="914400" rtl="0" algn="l">
              <a:lnSpc>
                <a:spcPct val="115000"/>
              </a:lnSpc>
              <a:spcBef>
                <a:spcPts val="0"/>
              </a:spcBef>
              <a:spcAft>
                <a:spcPts val="0"/>
              </a:spcAft>
              <a:buClr>
                <a:schemeClr val="dk1"/>
              </a:buClr>
              <a:buSzPts val="1300"/>
              <a:buChar char="●"/>
            </a:pPr>
            <a:r>
              <a:rPr b="1" lang="en-US">
                <a:solidFill>
                  <a:schemeClr val="dk1"/>
                </a:solidFill>
                <a:latin typeface="Times New Roman"/>
                <a:ea typeface="Times New Roman"/>
                <a:cs typeface="Times New Roman"/>
                <a:sym typeface="Times New Roman"/>
              </a:rPr>
              <a:t>AsignacionController</a:t>
            </a:r>
            <a:r>
              <a:rPr lang="en-US">
                <a:solidFill>
                  <a:schemeClr val="dk1"/>
                </a:solidFill>
                <a:latin typeface="Times New Roman"/>
                <a:ea typeface="Times New Roman"/>
                <a:cs typeface="Times New Roman"/>
                <a:sym typeface="Times New Roman"/>
              </a:rPr>
              <a:t> administrará únicamente las asignaciones de bienes.</a:t>
            </a:r>
            <a:endParaRPr>
              <a:solidFill>
                <a:schemeClr val="dk1"/>
              </a:solidFill>
              <a:latin typeface="Times New Roman"/>
              <a:ea typeface="Times New Roman"/>
              <a:cs typeface="Times New Roman"/>
              <a:sym typeface="Times New Roman"/>
            </a:endParaRPr>
          </a:p>
          <a:p>
            <a:pPr indent="-311150" lvl="0" marL="914400" rtl="0" algn="l">
              <a:lnSpc>
                <a:spcPct val="115000"/>
              </a:lnSpc>
              <a:spcBef>
                <a:spcPts val="0"/>
              </a:spcBef>
              <a:spcAft>
                <a:spcPts val="0"/>
              </a:spcAft>
              <a:buClr>
                <a:schemeClr val="dk1"/>
              </a:buClr>
              <a:buSzPts val="1300"/>
              <a:buChar char="●"/>
            </a:pPr>
            <a:r>
              <a:rPr b="1" lang="en-US">
                <a:solidFill>
                  <a:schemeClr val="dk1"/>
                </a:solidFill>
                <a:latin typeface="Times New Roman"/>
                <a:ea typeface="Times New Roman"/>
                <a:cs typeface="Times New Roman"/>
                <a:sym typeface="Times New Roman"/>
              </a:rPr>
              <a:t>PersonalController</a:t>
            </a:r>
            <a:r>
              <a:rPr lang="en-US">
                <a:solidFill>
                  <a:schemeClr val="dk1"/>
                </a:solidFill>
                <a:latin typeface="Times New Roman"/>
                <a:ea typeface="Times New Roman"/>
                <a:cs typeface="Times New Roman"/>
                <a:sym typeface="Times New Roman"/>
              </a:rPr>
              <a:t> administrará el personal.</a:t>
            </a:r>
            <a:endParaRPr>
              <a:solidFill>
                <a:schemeClr val="dk1"/>
              </a:solidFill>
              <a:latin typeface="Times New Roman"/>
              <a:ea typeface="Times New Roman"/>
              <a:cs typeface="Times New Roman"/>
              <a:sym typeface="Times New Roman"/>
            </a:endParaRPr>
          </a:p>
          <a:p>
            <a:pPr indent="-311150" lvl="0" marL="914400" rtl="0" algn="l">
              <a:lnSpc>
                <a:spcPct val="115000"/>
              </a:lnSpc>
              <a:spcBef>
                <a:spcPts val="0"/>
              </a:spcBef>
              <a:spcAft>
                <a:spcPts val="0"/>
              </a:spcAft>
              <a:buClr>
                <a:schemeClr val="dk1"/>
              </a:buClr>
              <a:buSzPts val="1300"/>
              <a:buChar char="●"/>
            </a:pPr>
            <a:r>
              <a:rPr b="1" lang="en-US">
                <a:solidFill>
                  <a:schemeClr val="dk1"/>
                </a:solidFill>
                <a:latin typeface="Times New Roman"/>
                <a:ea typeface="Times New Roman"/>
                <a:cs typeface="Times New Roman"/>
                <a:sym typeface="Times New Roman"/>
              </a:rPr>
              <a:t>AreaController</a:t>
            </a:r>
            <a:r>
              <a:rPr lang="en-US">
                <a:solidFill>
                  <a:schemeClr val="dk1"/>
                </a:solidFill>
                <a:latin typeface="Times New Roman"/>
                <a:ea typeface="Times New Roman"/>
                <a:cs typeface="Times New Roman"/>
                <a:sym typeface="Times New Roman"/>
              </a:rPr>
              <a:t> administrará las áreas.</a:t>
            </a:r>
            <a:endParaRPr>
              <a:solidFill>
                <a:schemeClr val="dk1"/>
              </a:solidFill>
              <a:latin typeface="Times New Roman"/>
              <a:ea typeface="Times New Roman"/>
              <a:cs typeface="Times New Roman"/>
              <a:sym typeface="Times New Roman"/>
            </a:endParaRPr>
          </a:p>
          <a:p>
            <a:pPr indent="-311150" lvl="0" marL="914400" rtl="0" algn="l">
              <a:lnSpc>
                <a:spcPct val="115000"/>
              </a:lnSpc>
              <a:spcBef>
                <a:spcPts val="0"/>
              </a:spcBef>
              <a:spcAft>
                <a:spcPts val="0"/>
              </a:spcAft>
              <a:buClr>
                <a:schemeClr val="dk1"/>
              </a:buClr>
              <a:buSzPts val="1300"/>
              <a:buChar char="●"/>
            </a:pPr>
            <a:r>
              <a:rPr b="1" lang="en-US">
                <a:solidFill>
                  <a:schemeClr val="dk1"/>
                </a:solidFill>
                <a:latin typeface="Times New Roman"/>
                <a:ea typeface="Times New Roman"/>
                <a:cs typeface="Times New Roman"/>
                <a:sym typeface="Times New Roman"/>
              </a:rPr>
              <a:t>UsuarioController</a:t>
            </a:r>
            <a:r>
              <a:rPr lang="en-US">
                <a:solidFill>
                  <a:schemeClr val="dk1"/>
                </a:solidFill>
                <a:latin typeface="Times New Roman"/>
                <a:ea typeface="Times New Roman"/>
                <a:cs typeface="Times New Roman"/>
                <a:sym typeface="Times New Roman"/>
              </a:rPr>
              <a:t> administrará los usuarios del sistema.</a:t>
            </a:r>
            <a:endParaRPr>
              <a:solidFill>
                <a:schemeClr val="dk1"/>
              </a:solidFill>
              <a:latin typeface="Times New Roman"/>
              <a:ea typeface="Times New Roman"/>
              <a:cs typeface="Times New Roman"/>
              <a:sym typeface="Times New Roman"/>
            </a:endParaRPr>
          </a:p>
          <a:p>
            <a:pPr indent="0" lvl="0" marL="0" rtl="0" algn="l">
              <a:lnSpc>
                <a:spcPct val="115000"/>
              </a:lnSpc>
              <a:spcBef>
                <a:spcPts val="1200"/>
              </a:spcBef>
              <a:spcAft>
                <a:spcPts val="0"/>
              </a:spcAft>
              <a:buNone/>
            </a:pPr>
            <a:r>
              <a:t/>
            </a:r>
            <a:endParaRPr>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a:solidFill>
                  <a:schemeClr val="dk1"/>
                </a:solidFill>
                <a:latin typeface="Times New Roman"/>
                <a:ea typeface="Times New Roman"/>
                <a:cs typeface="Times New Roman"/>
                <a:sym typeface="Times New Roman"/>
              </a:rPr>
              <a:t>De esta forma cada controlador tendrá funciones claramente definidas y será más fácil localizar cualquier modificación que deba realizarse.</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pic>
        <p:nvPicPr>
          <p:cNvPr id="144" name="Google Shape;144;p21"/>
          <p:cNvPicPr preferRelativeResize="0"/>
          <p:nvPr/>
        </p:nvPicPr>
        <p:blipFill>
          <a:blip r:embed="rId3">
            <a:alphaModFix/>
          </a:blip>
          <a:stretch>
            <a:fillRect/>
          </a:stretch>
        </p:blipFill>
        <p:spPr>
          <a:xfrm>
            <a:off x="0" y="0"/>
            <a:ext cx="12192000" cy="6858001"/>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22"/>
          <p:cNvSpPr txBox="1"/>
          <p:nvPr/>
        </p:nvSpPr>
        <p:spPr>
          <a:xfrm>
            <a:off x="281825" y="391425"/>
            <a:ext cx="6469800" cy="97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2400">
                <a:solidFill>
                  <a:schemeClr val="dk1"/>
                </a:solidFill>
                <a:latin typeface="Times New Roman"/>
                <a:ea typeface="Times New Roman"/>
                <a:cs typeface="Times New Roman"/>
                <a:sym typeface="Times New Roman"/>
              </a:rPr>
              <a:t>Principio 2. Abierto / Cerrado (Open / Closed Principle)</a:t>
            </a:r>
            <a:endParaRPr b="1" sz="2400">
              <a:solidFill>
                <a:schemeClr val="dk1"/>
              </a:solidFill>
              <a:latin typeface="Times New Roman"/>
              <a:ea typeface="Times New Roman"/>
              <a:cs typeface="Times New Roman"/>
              <a:sym typeface="Times New Roman"/>
            </a:endParaRPr>
          </a:p>
        </p:txBody>
      </p:sp>
      <p:sp>
        <p:nvSpPr>
          <p:cNvPr id="150" name="Google Shape;150;p22"/>
          <p:cNvSpPr txBox="1"/>
          <p:nvPr/>
        </p:nvSpPr>
        <p:spPr>
          <a:xfrm>
            <a:off x="281825" y="1565750"/>
            <a:ext cx="5201400" cy="1678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550">
                <a:solidFill>
                  <a:schemeClr val="dk1"/>
                </a:solidFill>
                <a:latin typeface="Times New Roman"/>
                <a:ea typeface="Times New Roman"/>
                <a:cs typeface="Times New Roman"/>
                <a:sym typeface="Times New Roman"/>
              </a:rPr>
              <a:t>¿En qué consiste?</a:t>
            </a:r>
            <a:endParaRPr b="1" sz="155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a:solidFill>
                  <a:schemeClr val="dk1"/>
                </a:solidFill>
                <a:latin typeface="Times New Roman"/>
                <a:ea typeface="Times New Roman"/>
                <a:cs typeface="Times New Roman"/>
                <a:sym typeface="Times New Roman"/>
              </a:rPr>
              <a:t>Este principio establece que una clase o módulo debe estar abierto para extender su funcionalidad, pero cerrado para modificar el código existente. Esto significa que cuando se requiera agregar una nueva característica, se deberá hacer mediante extensiones o nuevas clases sin alterar el funcionamiento de lo que ya existe.</a:t>
            </a:r>
            <a:endParaRPr>
              <a:solidFill>
                <a:schemeClr val="dk1"/>
              </a:solidFill>
              <a:latin typeface="Times New Roman"/>
              <a:ea typeface="Times New Roman"/>
              <a:cs typeface="Times New Roman"/>
              <a:sym typeface="Times New Roman"/>
            </a:endParaRPr>
          </a:p>
        </p:txBody>
      </p:sp>
      <p:sp>
        <p:nvSpPr>
          <p:cNvPr id="151" name="Google Shape;151;p22"/>
          <p:cNvSpPr txBox="1"/>
          <p:nvPr/>
        </p:nvSpPr>
        <p:spPr>
          <a:xfrm>
            <a:off x="281825" y="3439675"/>
            <a:ext cx="4919700" cy="16377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350">
                <a:solidFill>
                  <a:schemeClr val="dk1"/>
                </a:solidFill>
                <a:latin typeface="Times New Roman"/>
                <a:ea typeface="Times New Roman"/>
                <a:cs typeface="Times New Roman"/>
                <a:sym typeface="Times New Roman"/>
              </a:rPr>
              <a:t>¿En qué módulo o parte del sistema será aplicado?</a:t>
            </a:r>
            <a:endParaRPr b="1" sz="135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sz="1200">
                <a:solidFill>
                  <a:schemeClr val="dk1"/>
                </a:solidFill>
                <a:latin typeface="Times New Roman"/>
                <a:ea typeface="Times New Roman"/>
                <a:cs typeface="Times New Roman"/>
                <a:sym typeface="Times New Roman"/>
              </a:rPr>
              <a:t>Este principio se aplicará principalmente en el módulo de reportes.</a:t>
            </a:r>
            <a:endParaRPr sz="120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sz="1200">
                <a:solidFill>
                  <a:schemeClr val="dk1"/>
                </a:solidFill>
                <a:latin typeface="Times New Roman"/>
                <a:ea typeface="Times New Roman"/>
                <a:cs typeface="Times New Roman"/>
                <a:sym typeface="Times New Roman"/>
              </a:rPr>
              <a:t>Actualmente el sistema permite exportar información en los formatos:</a:t>
            </a:r>
            <a:endParaRPr sz="1200">
              <a:solidFill>
                <a:schemeClr val="dk1"/>
              </a:solidFill>
              <a:latin typeface="Times New Roman"/>
              <a:ea typeface="Times New Roman"/>
              <a:cs typeface="Times New Roman"/>
              <a:sym typeface="Times New Roman"/>
            </a:endParaRPr>
          </a:p>
          <a:p>
            <a:pPr indent="-298450" lvl="0" marL="914400" rtl="0" algn="l">
              <a:lnSpc>
                <a:spcPct val="115000"/>
              </a:lnSpc>
              <a:spcBef>
                <a:spcPts val="1200"/>
              </a:spcBef>
              <a:spcAft>
                <a:spcPts val="0"/>
              </a:spcAft>
              <a:buClr>
                <a:schemeClr val="dk1"/>
              </a:buClr>
              <a:buSzPts val="1100"/>
              <a:buChar char="●"/>
            </a:pPr>
            <a:r>
              <a:rPr lang="en-US" sz="1200">
                <a:solidFill>
                  <a:schemeClr val="dk1"/>
                </a:solidFill>
                <a:latin typeface="Times New Roman"/>
                <a:ea typeface="Times New Roman"/>
                <a:cs typeface="Times New Roman"/>
                <a:sym typeface="Times New Roman"/>
              </a:rPr>
              <a:t>CSV</a:t>
            </a:r>
            <a:endParaRPr sz="1200">
              <a:solidFill>
                <a:schemeClr val="dk1"/>
              </a:solidFill>
              <a:latin typeface="Times New Roman"/>
              <a:ea typeface="Times New Roman"/>
              <a:cs typeface="Times New Roman"/>
              <a:sym typeface="Times New Roman"/>
            </a:endParaRPr>
          </a:p>
          <a:p>
            <a:pPr indent="-298450" lvl="0" marL="914400" rtl="0" algn="l">
              <a:lnSpc>
                <a:spcPct val="115000"/>
              </a:lnSpc>
              <a:spcBef>
                <a:spcPts val="0"/>
              </a:spcBef>
              <a:spcAft>
                <a:spcPts val="0"/>
              </a:spcAft>
              <a:buClr>
                <a:schemeClr val="dk1"/>
              </a:buClr>
              <a:buSzPts val="1100"/>
              <a:buChar char="●"/>
            </a:pPr>
            <a:r>
              <a:rPr lang="en-US" sz="1200">
                <a:solidFill>
                  <a:schemeClr val="dk1"/>
                </a:solidFill>
                <a:latin typeface="Times New Roman"/>
                <a:ea typeface="Times New Roman"/>
                <a:cs typeface="Times New Roman"/>
                <a:sym typeface="Times New Roman"/>
              </a:rPr>
              <a:t>Excel</a:t>
            </a:r>
            <a:endParaRPr sz="1200">
              <a:solidFill>
                <a:schemeClr val="dk1"/>
              </a:solidFill>
              <a:latin typeface="Times New Roman"/>
              <a:ea typeface="Times New Roman"/>
              <a:cs typeface="Times New Roman"/>
              <a:sym typeface="Times New Roman"/>
            </a:endParaRPr>
          </a:p>
          <a:p>
            <a:pPr indent="-298450" lvl="0" marL="914400" rtl="0" algn="l">
              <a:lnSpc>
                <a:spcPct val="115000"/>
              </a:lnSpc>
              <a:spcBef>
                <a:spcPts val="0"/>
              </a:spcBef>
              <a:spcAft>
                <a:spcPts val="0"/>
              </a:spcAft>
              <a:buClr>
                <a:schemeClr val="dk1"/>
              </a:buClr>
              <a:buSzPts val="1100"/>
              <a:buChar char="●"/>
            </a:pPr>
            <a:r>
              <a:rPr lang="en-US" sz="1200">
                <a:solidFill>
                  <a:schemeClr val="dk1"/>
                </a:solidFill>
                <a:latin typeface="Times New Roman"/>
                <a:ea typeface="Times New Roman"/>
                <a:cs typeface="Times New Roman"/>
                <a:sym typeface="Times New Roman"/>
              </a:rPr>
              <a:t>PDF</a:t>
            </a:r>
            <a:endParaRPr sz="1200">
              <a:solidFill>
                <a:schemeClr val="dk1"/>
              </a:solidFill>
              <a:latin typeface="Times New Roman"/>
              <a:ea typeface="Times New Roman"/>
              <a:cs typeface="Times New Roman"/>
              <a:sym typeface="Times New Roman"/>
            </a:endParaRPr>
          </a:p>
        </p:txBody>
      </p:sp>
      <p:sp>
        <p:nvSpPr>
          <p:cNvPr id="152" name="Google Shape;152;p22"/>
          <p:cNvSpPr txBox="1"/>
          <p:nvPr/>
        </p:nvSpPr>
        <p:spPr>
          <a:xfrm>
            <a:off x="6109550" y="1663100"/>
            <a:ext cx="4531200" cy="15876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450">
                <a:solidFill>
                  <a:schemeClr val="dk1"/>
                </a:solidFill>
                <a:latin typeface="Times New Roman"/>
                <a:ea typeface="Times New Roman"/>
                <a:cs typeface="Times New Roman"/>
                <a:sym typeface="Times New Roman"/>
              </a:rPr>
              <a:t>¿Qué problema evitará?</a:t>
            </a:r>
            <a:endParaRPr b="1" sz="145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sz="1300">
                <a:solidFill>
                  <a:schemeClr val="dk1"/>
                </a:solidFill>
                <a:latin typeface="Times New Roman"/>
                <a:ea typeface="Times New Roman"/>
                <a:cs typeface="Times New Roman"/>
                <a:sym typeface="Times New Roman"/>
              </a:rPr>
              <a:t>Evitará que al agregar nuevas funcionalidades se modifique código que ya funciona correctamente, disminuyendo la posibilidad de introducir errores o afectar módulos existentes.</a:t>
            </a:r>
            <a:endParaRPr sz="130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sz="1300">
                <a:solidFill>
                  <a:schemeClr val="dk1"/>
                </a:solidFill>
                <a:latin typeface="Times New Roman"/>
                <a:ea typeface="Times New Roman"/>
                <a:cs typeface="Times New Roman"/>
                <a:sym typeface="Times New Roman"/>
              </a:rPr>
              <a:t>También permitirá que el sistema pueda crecer sin necesidad de reescribir funcionalidades completas.</a:t>
            </a:r>
            <a:endParaRPr sz="1300">
              <a:solidFill>
                <a:schemeClr val="dk1"/>
              </a:solidFill>
              <a:latin typeface="Times New Roman"/>
              <a:ea typeface="Times New Roman"/>
              <a:cs typeface="Times New Roman"/>
              <a:sym typeface="Times New Roman"/>
            </a:endParaRPr>
          </a:p>
        </p:txBody>
      </p:sp>
      <p:sp>
        <p:nvSpPr>
          <p:cNvPr id="153" name="Google Shape;153;p22"/>
          <p:cNvSpPr txBox="1"/>
          <p:nvPr/>
        </p:nvSpPr>
        <p:spPr>
          <a:xfrm>
            <a:off x="6109550" y="3543475"/>
            <a:ext cx="6109500" cy="2188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1450">
                <a:solidFill>
                  <a:schemeClr val="dk1"/>
                </a:solidFill>
                <a:latin typeface="Times New Roman"/>
                <a:ea typeface="Times New Roman"/>
                <a:cs typeface="Times New Roman"/>
                <a:sym typeface="Times New Roman"/>
              </a:rPr>
              <a:t>¿Qué beneficios traerá al mantenimiento del proyecto?</a:t>
            </a:r>
            <a:endParaRPr b="1" sz="145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sz="1300">
                <a:solidFill>
                  <a:schemeClr val="dk1"/>
                </a:solidFill>
                <a:latin typeface="Times New Roman"/>
                <a:ea typeface="Times New Roman"/>
                <a:cs typeface="Times New Roman"/>
                <a:sym typeface="Times New Roman"/>
              </a:rPr>
              <a:t>Entre los principales beneficios se encuentran:</a:t>
            </a:r>
            <a:endParaRPr sz="1300">
              <a:solidFill>
                <a:schemeClr val="dk1"/>
              </a:solidFill>
              <a:latin typeface="Times New Roman"/>
              <a:ea typeface="Times New Roman"/>
              <a:cs typeface="Times New Roman"/>
              <a:sym typeface="Times New Roman"/>
            </a:endParaRPr>
          </a:p>
          <a:p>
            <a:pPr indent="-304800" lvl="0" marL="914400" rtl="0" algn="l">
              <a:lnSpc>
                <a:spcPct val="115000"/>
              </a:lnSpc>
              <a:spcBef>
                <a:spcPts val="1200"/>
              </a:spcBef>
              <a:spcAft>
                <a:spcPts val="0"/>
              </a:spcAft>
              <a:buClr>
                <a:schemeClr val="dk1"/>
              </a:buClr>
              <a:buSzPts val="1200"/>
              <a:buChar char="●"/>
            </a:pPr>
            <a:r>
              <a:rPr lang="en-US" sz="1300">
                <a:solidFill>
                  <a:schemeClr val="dk1"/>
                </a:solidFill>
                <a:latin typeface="Times New Roman"/>
                <a:ea typeface="Times New Roman"/>
                <a:cs typeface="Times New Roman"/>
                <a:sym typeface="Times New Roman"/>
              </a:rPr>
              <a:t>Facilitar el crecimiento del sistema.</a:t>
            </a:r>
            <a:endParaRPr sz="1300">
              <a:solidFill>
                <a:schemeClr val="dk1"/>
              </a:solidFill>
              <a:latin typeface="Times New Roman"/>
              <a:ea typeface="Times New Roman"/>
              <a:cs typeface="Times New Roman"/>
              <a:sym typeface="Times New Roman"/>
            </a:endParaRPr>
          </a:p>
          <a:p>
            <a:pPr indent="-304800" lvl="0" marL="914400" rtl="0" algn="l">
              <a:lnSpc>
                <a:spcPct val="115000"/>
              </a:lnSpc>
              <a:spcBef>
                <a:spcPts val="0"/>
              </a:spcBef>
              <a:spcAft>
                <a:spcPts val="0"/>
              </a:spcAft>
              <a:buClr>
                <a:schemeClr val="dk1"/>
              </a:buClr>
              <a:buSzPts val="1200"/>
              <a:buChar char="●"/>
            </a:pPr>
            <a:r>
              <a:rPr lang="en-US" sz="1300">
                <a:solidFill>
                  <a:schemeClr val="dk1"/>
                </a:solidFill>
                <a:latin typeface="Times New Roman"/>
                <a:ea typeface="Times New Roman"/>
                <a:cs typeface="Times New Roman"/>
                <a:sym typeface="Times New Roman"/>
              </a:rPr>
              <a:t>Reducir el riesgo de errores.</a:t>
            </a:r>
            <a:endParaRPr sz="1300">
              <a:solidFill>
                <a:schemeClr val="dk1"/>
              </a:solidFill>
              <a:latin typeface="Times New Roman"/>
              <a:ea typeface="Times New Roman"/>
              <a:cs typeface="Times New Roman"/>
              <a:sym typeface="Times New Roman"/>
            </a:endParaRPr>
          </a:p>
          <a:p>
            <a:pPr indent="-304800" lvl="0" marL="914400" rtl="0" algn="l">
              <a:lnSpc>
                <a:spcPct val="115000"/>
              </a:lnSpc>
              <a:spcBef>
                <a:spcPts val="0"/>
              </a:spcBef>
              <a:spcAft>
                <a:spcPts val="0"/>
              </a:spcAft>
              <a:buClr>
                <a:schemeClr val="dk1"/>
              </a:buClr>
              <a:buSzPts val="1200"/>
              <a:buChar char="●"/>
            </a:pPr>
            <a:r>
              <a:rPr lang="en-US" sz="1300">
                <a:solidFill>
                  <a:schemeClr val="dk1"/>
                </a:solidFill>
                <a:latin typeface="Times New Roman"/>
                <a:ea typeface="Times New Roman"/>
                <a:cs typeface="Times New Roman"/>
                <a:sym typeface="Times New Roman"/>
              </a:rPr>
              <a:t>Permitir agregar nuevos formatos de exportación.</a:t>
            </a:r>
            <a:endParaRPr sz="1300">
              <a:solidFill>
                <a:schemeClr val="dk1"/>
              </a:solidFill>
              <a:latin typeface="Times New Roman"/>
              <a:ea typeface="Times New Roman"/>
              <a:cs typeface="Times New Roman"/>
              <a:sym typeface="Times New Roman"/>
            </a:endParaRPr>
          </a:p>
          <a:p>
            <a:pPr indent="-304800" lvl="0" marL="914400" rtl="0" algn="l">
              <a:lnSpc>
                <a:spcPct val="115000"/>
              </a:lnSpc>
              <a:spcBef>
                <a:spcPts val="0"/>
              </a:spcBef>
              <a:spcAft>
                <a:spcPts val="0"/>
              </a:spcAft>
              <a:buClr>
                <a:schemeClr val="dk1"/>
              </a:buClr>
              <a:buSzPts val="1200"/>
              <a:buChar char="●"/>
            </a:pPr>
            <a:r>
              <a:rPr lang="en-US" sz="1300">
                <a:solidFill>
                  <a:schemeClr val="dk1"/>
                </a:solidFill>
                <a:latin typeface="Times New Roman"/>
                <a:ea typeface="Times New Roman"/>
                <a:cs typeface="Times New Roman"/>
                <a:sym typeface="Times New Roman"/>
              </a:rPr>
              <a:t>Reutilizar la lógica existente.</a:t>
            </a:r>
            <a:endParaRPr sz="1300">
              <a:solidFill>
                <a:schemeClr val="dk1"/>
              </a:solidFill>
              <a:latin typeface="Times New Roman"/>
              <a:ea typeface="Times New Roman"/>
              <a:cs typeface="Times New Roman"/>
              <a:sym typeface="Times New Roman"/>
            </a:endParaRPr>
          </a:p>
          <a:p>
            <a:pPr indent="-304800" lvl="0" marL="914400" rtl="0" algn="l">
              <a:lnSpc>
                <a:spcPct val="115000"/>
              </a:lnSpc>
              <a:spcBef>
                <a:spcPts val="0"/>
              </a:spcBef>
              <a:spcAft>
                <a:spcPts val="0"/>
              </a:spcAft>
              <a:buClr>
                <a:schemeClr val="dk1"/>
              </a:buClr>
              <a:buSzPts val="1200"/>
              <a:buChar char="●"/>
            </a:pPr>
            <a:r>
              <a:rPr lang="en-US" sz="1300">
                <a:solidFill>
                  <a:schemeClr val="dk1"/>
                </a:solidFill>
                <a:latin typeface="Times New Roman"/>
                <a:ea typeface="Times New Roman"/>
                <a:cs typeface="Times New Roman"/>
                <a:sym typeface="Times New Roman"/>
              </a:rPr>
              <a:t>Mantener organizado el módulo de reportes.</a:t>
            </a:r>
            <a:endParaRPr sz="1300">
              <a:solidFill>
                <a:schemeClr val="dk1"/>
              </a:solidFill>
              <a:latin typeface="Times New Roman"/>
              <a:ea typeface="Times New Roman"/>
              <a:cs typeface="Times New Roman"/>
              <a:sym typeface="Times New Roman"/>
            </a:endParaRPr>
          </a:p>
          <a:p>
            <a:pPr indent="-304800" lvl="0" marL="914400" rtl="0" algn="l">
              <a:lnSpc>
                <a:spcPct val="115000"/>
              </a:lnSpc>
              <a:spcBef>
                <a:spcPts val="0"/>
              </a:spcBef>
              <a:spcAft>
                <a:spcPts val="0"/>
              </a:spcAft>
              <a:buClr>
                <a:schemeClr val="dk1"/>
              </a:buClr>
              <a:buSzPts val="1200"/>
              <a:buChar char="●"/>
            </a:pPr>
            <a:r>
              <a:rPr lang="en-US" sz="1300">
                <a:solidFill>
                  <a:schemeClr val="dk1"/>
                </a:solidFill>
                <a:latin typeface="Times New Roman"/>
                <a:ea typeface="Times New Roman"/>
                <a:cs typeface="Times New Roman"/>
                <a:sym typeface="Times New Roman"/>
              </a:rPr>
              <a:t>Reducir el tiempo de mantenimiento.</a:t>
            </a:r>
            <a:endParaRPr sz="1300">
              <a:solidFill>
                <a:schemeClr val="dk1"/>
              </a:solidFill>
              <a:latin typeface="Times New Roman"/>
              <a:ea typeface="Times New Roman"/>
              <a:cs typeface="Times New Roman"/>
              <a:sym typeface="Times New Roman"/>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57" name="Shape 157"/>
        <p:cNvGrpSpPr/>
        <p:nvPr/>
      </p:nvGrpSpPr>
      <p:grpSpPr>
        <a:xfrm>
          <a:off x="0" y="0"/>
          <a:ext cx="0" cy="0"/>
          <a:chOff x="0" y="0"/>
          <a:chExt cx="0" cy="0"/>
        </a:xfrm>
      </p:grpSpPr>
      <p:pic>
        <p:nvPicPr>
          <p:cNvPr id="158" name="Google Shape;158;p23"/>
          <p:cNvPicPr preferRelativeResize="0"/>
          <p:nvPr/>
        </p:nvPicPr>
        <p:blipFill>
          <a:blip r:embed="rId3">
            <a:alphaModFix/>
          </a:blip>
          <a:stretch>
            <a:fillRect/>
          </a:stretch>
        </p:blipFill>
        <p:spPr>
          <a:xfrm>
            <a:off x="-27575" y="0"/>
            <a:ext cx="12247150" cy="6762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2" name="Shape 162"/>
        <p:cNvGrpSpPr/>
        <p:nvPr/>
      </p:nvGrpSpPr>
      <p:grpSpPr>
        <a:xfrm>
          <a:off x="0" y="0"/>
          <a:ext cx="0" cy="0"/>
          <a:chOff x="0" y="0"/>
          <a:chExt cx="0" cy="0"/>
        </a:xfrm>
      </p:grpSpPr>
      <p:sp>
        <p:nvSpPr>
          <p:cNvPr id="163" name="Google Shape;163;p24"/>
          <p:cNvSpPr txBox="1"/>
          <p:nvPr/>
        </p:nvSpPr>
        <p:spPr>
          <a:xfrm>
            <a:off x="219825" y="732675"/>
            <a:ext cx="6030000" cy="991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2400">
                <a:solidFill>
                  <a:schemeClr val="dk1"/>
                </a:solidFill>
                <a:latin typeface="Times New Roman"/>
                <a:ea typeface="Times New Roman"/>
                <a:cs typeface="Times New Roman"/>
                <a:sym typeface="Times New Roman"/>
              </a:rPr>
              <a:t>PARTE 4.</a:t>
            </a:r>
            <a:endParaRPr b="1" sz="2400">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b="1" lang="en-US" sz="2400">
                <a:solidFill>
                  <a:schemeClr val="dk1"/>
                </a:solidFill>
                <a:latin typeface="Times New Roman"/>
                <a:ea typeface="Times New Roman"/>
                <a:cs typeface="Times New Roman"/>
                <a:sym typeface="Times New Roman"/>
              </a:rPr>
              <a:t>DEFINITION OF DONE</a:t>
            </a:r>
            <a:endParaRPr b="1" sz="2400">
              <a:solidFill>
                <a:schemeClr val="dk1"/>
              </a:solidFill>
              <a:latin typeface="Times New Roman"/>
              <a:ea typeface="Times New Roman"/>
              <a:cs typeface="Times New Roman"/>
              <a:sym typeface="Times New Roman"/>
            </a:endParaRPr>
          </a:p>
        </p:txBody>
      </p:sp>
      <p:sp>
        <p:nvSpPr>
          <p:cNvPr id="164" name="Google Shape;164;p24"/>
          <p:cNvSpPr txBox="1"/>
          <p:nvPr/>
        </p:nvSpPr>
        <p:spPr>
          <a:xfrm>
            <a:off x="219825" y="2283900"/>
            <a:ext cx="3827400" cy="3138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lang="en-US">
                <a:solidFill>
                  <a:schemeClr val="dk1"/>
                </a:solidFill>
                <a:latin typeface="Times New Roman"/>
                <a:ea typeface="Times New Roman"/>
                <a:cs typeface="Times New Roman"/>
                <a:sym typeface="Times New Roman"/>
              </a:rPr>
              <a:t>La </a:t>
            </a:r>
            <a:r>
              <a:rPr b="1" lang="en-US">
                <a:solidFill>
                  <a:schemeClr val="dk1"/>
                </a:solidFill>
                <a:latin typeface="Times New Roman"/>
                <a:ea typeface="Times New Roman"/>
                <a:cs typeface="Times New Roman"/>
                <a:sym typeface="Times New Roman"/>
              </a:rPr>
              <a:t>Definition of Done (DoD)</a:t>
            </a:r>
            <a:r>
              <a:rPr lang="en-US">
                <a:solidFill>
                  <a:schemeClr val="dk1"/>
                </a:solidFill>
                <a:latin typeface="Times New Roman"/>
                <a:ea typeface="Times New Roman"/>
                <a:cs typeface="Times New Roman"/>
                <a:sym typeface="Times New Roman"/>
              </a:rPr>
              <a:t> representa el conjunto de criterios mínimos que una funcionalidad debe cumplir antes de considerarse completamente terminada. Su objetivo es asegurar que todas las funcionalidades desarrolladas mantengan un nivel uniforme de calidad, funcionamiento y documentación, evitando entregar módulos incompletos o con errores.</a:t>
            </a:r>
            <a:endParaRPr>
              <a:solidFill>
                <a:schemeClr val="dk1"/>
              </a:solidFill>
              <a:latin typeface="Times New Roman"/>
              <a:ea typeface="Times New Roman"/>
              <a:cs typeface="Times New Roman"/>
              <a:sym typeface="Times New Roman"/>
            </a:endParaRPr>
          </a:p>
          <a:p>
            <a:pPr indent="0" lvl="0" marL="0" rtl="0" algn="l">
              <a:lnSpc>
                <a:spcPct val="115000"/>
              </a:lnSpc>
              <a:spcBef>
                <a:spcPts val="100"/>
              </a:spcBef>
              <a:spcAft>
                <a:spcPts val="0"/>
              </a:spcAft>
              <a:buNone/>
            </a:pPr>
            <a:r>
              <a:rPr lang="en-US">
                <a:solidFill>
                  <a:schemeClr val="dk1"/>
                </a:solidFill>
                <a:latin typeface="Times New Roman"/>
                <a:ea typeface="Times New Roman"/>
                <a:cs typeface="Times New Roman"/>
                <a:sym typeface="Times New Roman"/>
              </a:rPr>
              <a:t>En el Sistema de Inventario Escolar una funcionalidad solamente será considerada terminada cuando cumpla con todos los siguientes criterios.</a:t>
            </a:r>
            <a:endParaRPr sz="1600">
              <a:solidFill>
                <a:schemeClr val="dk1"/>
              </a:solidFill>
              <a:latin typeface="Times New Roman"/>
              <a:ea typeface="Times New Roman"/>
              <a:cs typeface="Times New Roman"/>
              <a:sym typeface="Times New Roman"/>
            </a:endParaRPr>
          </a:p>
        </p:txBody>
      </p:sp>
      <p:pic>
        <p:nvPicPr>
          <p:cNvPr id="165" name="Google Shape;165;p24"/>
          <p:cNvPicPr preferRelativeResize="0"/>
          <p:nvPr/>
        </p:nvPicPr>
        <p:blipFill>
          <a:blip r:embed="rId3">
            <a:alphaModFix/>
          </a:blip>
          <a:stretch>
            <a:fillRect/>
          </a:stretch>
        </p:blipFill>
        <p:spPr>
          <a:xfrm>
            <a:off x="4047225" y="0"/>
            <a:ext cx="8015375" cy="685799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pic>
        <p:nvPicPr>
          <p:cNvPr id="170" name="Google Shape;170;p25"/>
          <p:cNvPicPr preferRelativeResize="0"/>
          <p:nvPr/>
        </p:nvPicPr>
        <p:blipFill>
          <a:blip r:embed="rId3">
            <a:alphaModFix/>
          </a:blip>
          <a:stretch>
            <a:fillRect/>
          </a:stretch>
        </p:blipFill>
        <p:spPr>
          <a:xfrm>
            <a:off x="5723625" y="0"/>
            <a:ext cx="6468375" cy="6906601"/>
          </a:xfrm>
          <a:prstGeom prst="rect">
            <a:avLst/>
          </a:prstGeom>
          <a:noFill/>
          <a:ln>
            <a:noFill/>
          </a:ln>
        </p:spPr>
      </p:pic>
      <p:sp>
        <p:nvSpPr>
          <p:cNvPr id="171" name="Google Shape;171;p25"/>
          <p:cNvSpPr txBox="1"/>
          <p:nvPr/>
        </p:nvSpPr>
        <p:spPr>
          <a:xfrm>
            <a:off x="269575" y="654175"/>
            <a:ext cx="4604400" cy="15084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00"/>
              </a:spcBef>
              <a:spcAft>
                <a:spcPts val="0"/>
              </a:spcAft>
              <a:buNone/>
            </a:pPr>
            <a:r>
              <a:rPr b="1" lang="en-US" sz="4000">
                <a:solidFill>
                  <a:schemeClr val="dk1"/>
                </a:solidFill>
                <a:latin typeface="Times New Roman"/>
                <a:ea typeface="Times New Roman"/>
                <a:cs typeface="Times New Roman"/>
                <a:sym typeface="Times New Roman"/>
              </a:rPr>
              <a:t>Flujo de la Definition of Done</a:t>
            </a:r>
            <a:endParaRPr b="1" sz="4000">
              <a:solidFill>
                <a:schemeClr val="dk1"/>
              </a:solidFill>
              <a:latin typeface="Times New Roman"/>
              <a:ea typeface="Times New Roman"/>
              <a:cs typeface="Times New Roman"/>
              <a:sym typeface="Times New Roman"/>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sp>
        <p:nvSpPr>
          <p:cNvPr id="176" name="Google Shape;176;p26"/>
          <p:cNvSpPr txBox="1"/>
          <p:nvPr>
            <p:ph type="title"/>
          </p:nvPr>
        </p:nvSpPr>
        <p:spPr>
          <a:xfrm>
            <a:off x="457200" y="396144"/>
            <a:ext cx="8229600" cy="6105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111">
                <a:solidFill>
                  <a:srgbClr val="1E293B"/>
                </a:solidFill>
                <a:latin typeface="Poppins"/>
                <a:ea typeface="Poppins"/>
                <a:cs typeface="Poppins"/>
                <a:sym typeface="Poppins"/>
              </a:rPr>
              <a:t>Parte 5: Deuda Técnica</a:t>
            </a:r>
            <a:endParaRPr/>
          </a:p>
        </p:txBody>
      </p:sp>
      <p:sp>
        <p:nvSpPr>
          <p:cNvPr id="177" name="Google Shape;177;p26"/>
          <p:cNvSpPr txBox="1"/>
          <p:nvPr>
            <p:ph idx="1" type="body"/>
          </p:nvPr>
        </p:nvSpPr>
        <p:spPr>
          <a:xfrm>
            <a:off x="457200" y="1600200"/>
            <a:ext cx="5189400" cy="4526100"/>
          </a:xfrm>
          <a:prstGeom prst="rect">
            <a:avLst/>
          </a:prstGeom>
        </p:spPr>
        <p:txBody>
          <a:bodyPr anchorCtr="0" anchor="t" bIns="45700" lIns="91425" spcFirstLastPara="1" rIns="91425" wrap="square" tIns="45700">
            <a:normAutofit/>
          </a:bodyPr>
          <a:lstStyle/>
          <a:p>
            <a:pPr indent="0" lvl="0" marL="0" rtl="0" algn="l">
              <a:spcBef>
                <a:spcPts val="0"/>
              </a:spcBef>
              <a:spcAft>
                <a:spcPts val="0"/>
              </a:spcAft>
              <a:buClr>
                <a:schemeClr val="dk1"/>
              </a:buClr>
              <a:buFont typeface="Arial"/>
              <a:buNone/>
            </a:pPr>
            <a:r>
              <a:rPr b="1" lang="en-US" sz="2104">
                <a:solidFill>
                  <a:srgbClr val="1E293B"/>
                </a:solidFill>
                <a:latin typeface="Poppins"/>
                <a:ea typeface="Poppins"/>
                <a:cs typeface="Poppins"/>
                <a:sym typeface="Poppins"/>
              </a:rPr>
              <a:t>Riesgos Identificados</a:t>
            </a:r>
            <a:endParaRPr sz="2100">
              <a:latin typeface="Arial"/>
              <a:ea typeface="Arial"/>
              <a:cs typeface="Arial"/>
              <a:sym typeface="Arial"/>
            </a:endParaRPr>
          </a:p>
          <a:p>
            <a:pPr indent="0" lvl="0" marL="0" rtl="0" algn="l">
              <a:lnSpc>
                <a:spcPct val="150000"/>
              </a:lnSpc>
              <a:spcBef>
                <a:spcPts val="0"/>
              </a:spcBef>
              <a:spcAft>
                <a:spcPts val="0"/>
              </a:spcAft>
              <a:buNone/>
            </a:pPr>
            <a:r>
              <a:t/>
            </a:r>
            <a:endParaRPr b="1" sz="2050">
              <a:solidFill>
                <a:srgbClr val="475569"/>
              </a:solidFill>
              <a:latin typeface="Lato"/>
              <a:ea typeface="Lato"/>
              <a:cs typeface="Lato"/>
              <a:sym typeface="Lato"/>
            </a:endParaRPr>
          </a:p>
          <a:p>
            <a:pPr indent="0" lvl="0" marL="0" rtl="0" algn="l">
              <a:lnSpc>
                <a:spcPct val="150000"/>
              </a:lnSpc>
              <a:spcBef>
                <a:spcPts val="0"/>
              </a:spcBef>
              <a:spcAft>
                <a:spcPts val="0"/>
              </a:spcAft>
              <a:buNone/>
            </a:pPr>
            <a:r>
              <a:rPr b="1" lang="en-US" sz="2050">
                <a:latin typeface="Lato"/>
                <a:ea typeface="Lato"/>
                <a:cs typeface="Lato"/>
                <a:sym typeface="Lato"/>
              </a:rPr>
              <a:t>Decisiones</a:t>
            </a:r>
            <a:r>
              <a:rPr b="1" lang="en-US" sz="2050">
                <a:solidFill>
                  <a:srgbClr val="475569"/>
                </a:solidFill>
                <a:latin typeface="Lato"/>
                <a:ea typeface="Lato"/>
                <a:cs typeface="Lato"/>
                <a:sym typeface="Lato"/>
              </a:rPr>
              <a:t>:</a:t>
            </a:r>
            <a:endParaRPr b="1" sz="1100">
              <a:latin typeface="Arial"/>
              <a:ea typeface="Arial"/>
              <a:cs typeface="Arial"/>
              <a:sym typeface="Arial"/>
            </a:endParaRPr>
          </a:p>
          <a:p>
            <a:pPr indent="-298450" lvl="0" marL="457200" rtl="0" algn="l">
              <a:lnSpc>
                <a:spcPct val="115000"/>
              </a:lnSpc>
              <a:spcBef>
                <a:spcPts val="1200"/>
              </a:spcBef>
              <a:spcAft>
                <a:spcPts val="0"/>
              </a:spcAft>
              <a:buSzPts val="1100"/>
              <a:buChar char="●"/>
            </a:pPr>
            <a:r>
              <a:rPr lang="en-US" sz="1800">
                <a:latin typeface="Arial"/>
                <a:ea typeface="Arial"/>
                <a:cs typeface="Arial"/>
                <a:sym typeface="Arial"/>
              </a:rPr>
              <a:t>Escribir código desordenado o duplicado.</a:t>
            </a:r>
            <a:endParaRPr sz="18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800">
                <a:latin typeface="Arial"/>
                <a:ea typeface="Arial"/>
                <a:cs typeface="Arial"/>
                <a:sym typeface="Arial"/>
              </a:rPr>
              <a:t>No documentar ni probar los cambios.</a:t>
            </a:r>
            <a:endParaRPr sz="18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800">
                <a:latin typeface="Arial"/>
                <a:ea typeface="Arial"/>
                <a:cs typeface="Arial"/>
                <a:sym typeface="Arial"/>
              </a:rPr>
              <a:t>Usar valores fijos y omitir revisiones de código.</a:t>
            </a:r>
            <a:endParaRPr sz="18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800">
                <a:latin typeface="Arial"/>
                <a:ea typeface="Arial"/>
                <a:cs typeface="Arial"/>
                <a:sym typeface="Arial"/>
              </a:rPr>
              <a:t>Modificar la base de datos o reportes sin un proceso adecuado.</a:t>
            </a:r>
            <a:endParaRPr sz="1800">
              <a:latin typeface="Arial"/>
              <a:ea typeface="Arial"/>
              <a:cs typeface="Arial"/>
              <a:sym typeface="Arial"/>
            </a:endParaRPr>
          </a:p>
          <a:p>
            <a:pPr indent="-298450" lvl="0" marL="457200" rtl="0" algn="l">
              <a:lnSpc>
                <a:spcPct val="115000"/>
              </a:lnSpc>
              <a:spcBef>
                <a:spcPts val="0"/>
              </a:spcBef>
              <a:spcAft>
                <a:spcPts val="0"/>
              </a:spcAft>
              <a:buSzPts val="1100"/>
              <a:buChar char="●"/>
            </a:pPr>
            <a:r>
              <a:rPr lang="en-US" sz="1800">
                <a:latin typeface="Arial"/>
                <a:ea typeface="Arial"/>
                <a:cs typeface="Arial"/>
                <a:sym typeface="Arial"/>
              </a:rPr>
              <a:t>Aumentar errores y dificultar el mantenimiento del sistema.</a:t>
            </a:r>
            <a:endParaRPr sz="1800">
              <a:latin typeface="Arial"/>
              <a:ea typeface="Arial"/>
              <a:cs typeface="Arial"/>
              <a:sym typeface="Arial"/>
            </a:endParaRPr>
          </a:p>
          <a:p>
            <a:pPr indent="0" lvl="0" marL="0" rtl="0" algn="l">
              <a:lnSpc>
                <a:spcPct val="150000"/>
              </a:lnSpc>
              <a:spcBef>
                <a:spcPts val="1200"/>
              </a:spcBef>
              <a:spcAft>
                <a:spcPts val="0"/>
              </a:spcAft>
              <a:buNone/>
            </a:pPr>
            <a:r>
              <a:t/>
            </a:r>
            <a:endParaRPr sz="1800">
              <a:latin typeface="Arial"/>
              <a:ea typeface="Arial"/>
              <a:cs typeface="Arial"/>
              <a:sym typeface="Arial"/>
            </a:endParaRPr>
          </a:p>
        </p:txBody>
      </p:sp>
      <p:sp>
        <p:nvSpPr>
          <p:cNvPr id="178" name="Google Shape;178;p26"/>
          <p:cNvSpPr txBox="1"/>
          <p:nvPr>
            <p:ph idx="2" type="body"/>
          </p:nvPr>
        </p:nvSpPr>
        <p:spPr>
          <a:xfrm>
            <a:off x="5837625" y="2166850"/>
            <a:ext cx="5559600" cy="4526100"/>
          </a:xfrm>
          <a:prstGeom prst="rect">
            <a:avLst/>
          </a:prstGeom>
        </p:spPr>
        <p:txBody>
          <a:bodyPr anchorCtr="0" anchor="t" bIns="45700" lIns="91425" spcFirstLastPara="1" rIns="91425" wrap="square" tIns="45700">
            <a:noAutofit/>
          </a:bodyPr>
          <a:lstStyle/>
          <a:p>
            <a:pPr indent="0" lvl="0" marL="0" rtl="0" algn="l">
              <a:spcBef>
                <a:spcPts val="560"/>
              </a:spcBef>
              <a:spcAft>
                <a:spcPts val="0"/>
              </a:spcAft>
              <a:buNone/>
            </a:pPr>
            <a:r>
              <a:rPr b="1" lang="en-US" sz="2050">
                <a:latin typeface="Lato"/>
                <a:ea typeface="Lato"/>
                <a:cs typeface="Lato"/>
                <a:sym typeface="Lato"/>
              </a:rPr>
              <a:t>Situaciones:</a:t>
            </a:r>
            <a:endParaRPr b="1" sz="1700">
              <a:latin typeface="Arial"/>
              <a:ea typeface="Arial"/>
              <a:cs typeface="Arial"/>
              <a:sym typeface="Arial"/>
            </a:endParaRPr>
          </a:p>
          <a:p>
            <a:pPr indent="0" lvl="0" marL="0" rtl="0" algn="l">
              <a:spcBef>
                <a:spcPts val="560"/>
              </a:spcBef>
              <a:spcAft>
                <a:spcPts val="0"/>
              </a:spcAft>
              <a:buNone/>
            </a:pPr>
            <a:r>
              <a:rPr lang="en-US" sz="1500">
                <a:latin typeface="Arial"/>
                <a:ea typeface="Arial"/>
                <a:cs typeface="Arial"/>
                <a:sym typeface="Arial"/>
              </a:rPr>
              <a:t>Mala planificación y presión por las entregas.</a:t>
            </a:r>
            <a:endParaRPr sz="1500">
              <a:latin typeface="Arial"/>
              <a:ea typeface="Arial"/>
              <a:cs typeface="Arial"/>
              <a:sym typeface="Arial"/>
            </a:endParaRPr>
          </a:p>
          <a:p>
            <a:pPr indent="-323850" lvl="0" marL="457200" rtl="0" algn="l">
              <a:lnSpc>
                <a:spcPct val="115000"/>
              </a:lnSpc>
              <a:spcBef>
                <a:spcPts val="1200"/>
              </a:spcBef>
              <a:spcAft>
                <a:spcPts val="0"/>
              </a:spcAft>
              <a:buSzPts val="1500"/>
              <a:buChar char="●"/>
            </a:pPr>
            <a:r>
              <a:rPr lang="en-US" sz="1500">
                <a:latin typeface="Arial"/>
                <a:ea typeface="Arial"/>
                <a:cs typeface="Arial"/>
                <a:sym typeface="Arial"/>
              </a:rPr>
              <a:t>Falta de comunicación y buenas prácticas.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Copiar código sin comprenderlo.</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No realizar pruebas ni validaciones.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No usar control de versiones ni revisar el trabajo del equipo.</a:t>
            </a:r>
            <a:endParaRPr sz="1500">
              <a:latin typeface="Arial"/>
              <a:ea typeface="Arial"/>
              <a:cs typeface="Arial"/>
              <a:sym typeface="Arial"/>
            </a:endParaRPr>
          </a:p>
          <a:p>
            <a:pPr indent="0" lvl="0" marL="0" rtl="0" algn="l">
              <a:spcBef>
                <a:spcPts val="1200"/>
              </a:spcBef>
              <a:spcAft>
                <a:spcPts val="0"/>
              </a:spcAft>
              <a:buNone/>
            </a:pPr>
            <a:r>
              <a:rPr b="1" lang="en-US" sz="1700">
                <a:latin typeface="Arial"/>
                <a:ea typeface="Arial"/>
                <a:cs typeface="Arial"/>
                <a:sym typeface="Arial"/>
              </a:rPr>
              <a:t>Estrategias </a:t>
            </a:r>
            <a:r>
              <a:rPr b="1" lang="en-US" sz="2050">
                <a:solidFill>
                  <a:srgbClr val="475569"/>
                </a:solidFill>
                <a:latin typeface="Lato"/>
                <a:ea typeface="Lato"/>
                <a:cs typeface="Lato"/>
                <a:sym typeface="Lato"/>
              </a:rPr>
              <a:t>:</a:t>
            </a:r>
            <a:endParaRPr sz="1500">
              <a:latin typeface="Arial"/>
              <a:ea typeface="Arial"/>
              <a:cs typeface="Arial"/>
              <a:sym typeface="Arial"/>
            </a:endParaRPr>
          </a:p>
          <a:p>
            <a:pPr indent="-323850" lvl="0" marL="457200" rtl="0" algn="l">
              <a:lnSpc>
                <a:spcPct val="115000"/>
              </a:lnSpc>
              <a:spcBef>
                <a:spcPts val="1200"/>
              </a:spcBef>
              <a:spcAft>
                <a:spcPts val="0"/>
              </a:spcAft>
              <a:buSzPts val="1500"/>
              <a:buChar char="●"/>
            </a:pPr>
            <a:r>
              <a:rPr lang="en-US" sz="1500">
                <a:latin typeface="Arial"/>
                <a:ea typeface="Arial"/>
                <a:cs typeface="Arial"/>
                <a:sym typeface="Arial"/>
              </a:rPr>
              <a:t>Mantener una estructura organizada y código limpio.</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Aplicar principios </a:t>
            </a:r>
            <a:r>
              <a:rPr b="1" lang="en-US" sz="1500">
                <a:latin typeface="Arial"/>
                <a:ea typeface="Arial"/>
                <a:cs typeface="Arial"/>
                <a:sym typeface="Arial"/>
              </a:rPr>
              <a:t>Clean Code</a:t>
            </a:r>
            <a:r>
              <a:rPr lang="en-US" sz="1500">
                <a:latin typeface="Arial"/>
                <a:ea typeface="Arial"/>
                <a:cs typeface="Arial"/>
                <a:sym typeface="Arial"/>
              </a:rPr>
              <a:t> y </a:t>
            </a:r>
            <a:r>
              <a:rPr b="1" lang="en-US" sz="1500">
                <a:latin typeface="Arial"/>
                <a:ea typeface="Arial"/>
                <a:cs typeface="Arial"/>
                <a:sym typeface="Arial"/>
              </a:rPr>
              <a:t>SOLID</a:t>
            </a:r>
            <a:r>
              <a:rPr lang="en-US" sz="1500">
                <a:latin typeface="Arial"/>
                <a:ea typeface="Arial"/>
                <a:cs typeface="Arial"/>
                <a:sym typeface="Arial"/>
              </a:rPr>
              <a:t>.</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Usar </a:t>
            </a:r>
            <a:r>
              <a:rPr b="1" lang="en-US" sz="1500">
                <a:latin typeface="Arial"/>
                <a:ea typeface="Arial"/>
                <a:cs typeface="Arial"/>
                <a:sym typeface="Arial"/>
              </a:rPr>
              <a:t>Git/GitHub</a:t>
            </a:r>
            <a:r>
              <a:rPr lang="en-US" sz="1500">
                <a:latin typeface="Arial"/>
                <a:ea typeface="Arial"/>
                <a:cs typeface="Arial"/>
                <a:sym typeface="Arial"/>
              </a:rPr>
              <a:t> con ramas para controlar cambios.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Realizar revisiones y pruebas antes de integrar funcionalidades.</a:t>
            </a:r>
            <a:endParaRPr sz="1500">
              <a:latin typeface="Arial"/>
              <a:ea typeface="Arial"/>
              <a:cs typeface="Arial"/>
              <a:sym typeface="Arial"/>
            </a:endParaRPr>
          </a:p>
          <a:p>
            <a:pPr indent="-323850" lvl="0" marL="457200" rtl="0" algn="l">
              <a:lnSpc>
                <a:spcPct val="115000"/>
              </a:lnSpc>
              <a:spcBef>
                <a:spcPts val="0"/>
              </a:spcBef>
              <a:spcAft>
                <a:spcPts val="0"/>
              </a:spcAft>
              <a:buSzPts val="1500"/>
              <a:buChar char="●"/>
            </a:pPr>
            <a:r>
              <a:rPr lang="en-US" sz="1500">
                <a:latin typeface="Arial"/>
                <a:ea typeface="Arial"/>
                <a:cs typeface="Arial"/>
                <a:sym typeface="Arial"/>
              </a:rPr>
              <a:t>Documentar cambios importantes y eliminar código innecesario.</a:t>
            </a:r>
            <a:endParaRPr sz="1500">
              <a:latin typeface="Arial"/>
              <a:ea typeface="Arial"/>
              <a:cs typeface="Arial"/>
              <a:sym typeface="Arial"/>
            </a:endParaRPr>
          </a:p>
          <a:p>
            <a:pPr indent="0" lvl="0" marL="0" rtl="0" algn="l">
              <a:lnSpc>
                <a:spcPct val="115000"/>
              </a:lnSpc>
              <a:spcBef>
                <a:spcPts val="1200"/>
              </a:spcBef>
              <a:spcAft>
                <a:spcPts val="0"/>
              </a:spcAft>
              <a:buClr>
                <a:schemeClr val="dk1"/>
              </a:buClr>
              <a:buSzPts val="1100"/>
              <a:buFont typeface="Arial"/>
              <a:buNone/>
            </a:pPr>
            <a:r>
              <a:t/>
            </a:r>
            <a:endParaRPr sz="1500">
              <a:latin typeface="Arial"/>
              <a:ea typeface="Arial"/>
              <a:cs typeface="Arial"/>
              <a:sym typeface="Arial"/>
            </a:endParaRPr>
          </a:p>
          <a:p>
            <a:pPr indent="0" lvl="0" marL="0" rtl="0" algn="l">
              <a:spcBef>
                <a:spcPts val="1200"/>
              </a:spcBef>
              <a:spcAft>
                <a:spcPts val="0"/>
              </a:spcAft>
              <a:buNone/>
            </a:pPr>
            <a:r>
              <a:t/>
            </a:r>
            <a:endParaRPr sz="1500">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7"/>
          <p:cNvSpPr txBox="1"/>
          <p:nvPr>
            <p:ph type="title"/>
          </p:nvPr>
        </p:nvSpPr>
        <p:spPr>
          <a:xfrm>
            <a:off x="685788" y="3321775"/>
            <a:ext cx="7772400" cy="1362000"/>
          </a:xfrm>
          <a:prstGeom prst="rect">
            <a:avLst/>
          </a:prstGeom>
        </p:spPr>
        <p:txBody>
          <a:bodyPr anchorCtr="0" anchor="t" bIns="45700" lIns="91425" spcFirstLastPara="1" rIns="91425" wrap="square" tIns="45700">
            <a:normAutofit fontScale="90000"/>
          </a:bodyPr>
          <a:lstStyle/>
          <a:p>
            <a:pPr indent="0" lvl="0" marL="0" rtl="0" algn="l">
              <a:spcBef>
                <a:spcPts val="0"/>
              </a:spcBef>
              <a:spcAft>
                <a:spcPts val="0"/>
              </a:spcAft>
              <a:buNone/>
            </a:pPr>
            <a:r>
              <a:rPr b="0" lang="en-US" sz="3556">
                <a:solidFill>
                  <a:srgbClr val="1E293B"/>
                </a:solidFill>
                <a:latin typeface="Poppins"/>
                <a:ea typeface="Poppins"/>
                <a:cs typeface="Poppins"/>
                <a:sym typeface="Poppins"/>
              </a:rPr>
              <a:t>MVP: Funcionalidades Indispensables</a:t>
            </a:r>
            <a:endParaRPr b="0" sz="3556">
              <a:solidFill>
                <a:srgbClr val="1E293B"/>
              </a:solidFill>
              <a:latin typeface="Poppins"/>
              <a:ea typeface="Poppins"/>
              <a:cs typeface="Poppins"/>
              <a:sym typeface="Poppins"/>
            </a:endParaRPr>
          </a:p>
          <a:p>
            <a:pPr indent="0" lvl="0" marL="0" rtl="0" algn="l">
              <a:spcBef>
                <a:spcPts val="0"/>
              </a:spcBef>
              <a:spcAft>
                <a:spcPts val="0"/>
              </a:spcAft>
              <a:buNone/>
            </a:pPr>
            <a:r>
              <a:t/>
            </a:r>
            <a:endParaRPr b="0" sz="3000">
              <a:solidFill>
                <a:srgbClr val="1E293B"/>
              </a:solidFill>
              <a:latin typeface="Poppins"/>
              <a:ea typeface="Poppins"/>
              <a:cs typeface="Poppins"/>
              <a:sym typeface="Poppins"/>
            </a:endParaRPr>
          </a:p>
          <a:p>
            <a:pPr indent="0" lvl="0" marL="0" rtl="0" algn="l">
              <a:lnSpc>
                <a:spcPct val="130000"/>
              </a:lnSpc>
              <a:spcBef>
                <a:spcPts val="0"/>
              </a:spcBef>
              <a:spcAft>
                <a:spcPts val="0"/>
              </a:spcAft>
              <a:buNone/>
            </a:pPr>
            <a:r>
              <a:rPr lang="en-US" sz="2149">
                <a:solidFill>
                  <a:srgbClr val="475569"/>
                </a:solidFill>
                <a:latin typeface="Lato"/>
                <a:ea typeface="Lato"/>
                <a:cs typeface="Lato"/>
                <a:sym typeface="Lato"/>
              </a:rPr>
              <a:t>Razón:</a:t>
            </a:r>
            <a:r>
              <a:rPr b="0" lang="en-US" sz="2149">
                <a:solidFill>
                  <a:srgbClr val="475569"/>
                </a:solidFill>
                <a:latin typeface="Lato"/>
                <a:ea typeface="Lato"/>
                <a:cs typeface="Lato"/>
                <a:sym typeface="Lato"/>
              </a:rPr>
              <a:t>Priorizar el control principal del inventario escolar.</a:t>
            </a:r>
            <a:endParaRPr b="0" sz="2149">
              <a:solidFill>
                <a:srgbClr val="475569"/>
              </a:solidFill>
              <a:latin typeface="Lato"/>
              <a:ea typeface="Lato"/>
              <a:cs typeface="Lato"/>
              <a:sym typeface="Lato"/>
            </a:endParaRPr>
          </a:p>
          <a:p>
            <a:pPr indent="-291465" lvl="0" marL="457200" rtl="0" algn="l">
              <a:lnSpc>
                <a:spcPct val="115000"/>
              </a:lnSpc>
              <a:spcBef>
                <a:spcPts val="1200"/>
              </a:spcBef>
              <a:spcAft>
                <a:spcPts val="0"/>
              </a:spcAft>
              <a:buSzPct val="51193"/>
              <a:buFont typeface="Arial"/>
              <a:buChar char="●"/>
            </a:pPr>
            <a:r>
              <a:rPr b="0" lang="en-US" sz="2149">
                <a:solidFill>
                  <a:srgbClr val="475569"/>
                </a:solidFill>
                <a:latin typeface="Lato"/>
                <a:ea typeface="Lato"/>
                <a:cs typeface="Lato"/>
                <a:sym typeface="Lato"/>
              </a:rPr>
              <a:t>Incluir funciones esenciales: registro, asignación, consultas y reportes.</a:t>
            </a:r>
            <a:endParaRPr b="0" sz="2149">
              <a:solidFill>
                <a:srgbClr val="475569"/>
              </a:solidFill>
              <a:latin typeface="Lato"/>
              <a:ea typeface="Lato"/>
              <a:cs typeface="Lato"/>
              <a:sym typeface="Lato"/>
            </a:endParaRPr>
          </a:p>
          <a:p>
            <a:pPr indent="-291465" lvl="0" marL="457200" rtl="0" algn="l">
              <a:lnSpc>
                <a:spcPct val="115000"/>
              </a:lnSpc>
              <a:spcBef>
                <a:spcPts val="0"/>
              </a:spcBef>
              <a:spcAft>
                <a:spcPts val="0"/>
              </a:spcAft>
              <a:buSzPct val="51193"/>
              <a:buFont typeface="Arial"/>
              <a:buChar char="●"/>
            </a:pPr>
            <a:r>
              <a:rPr b="0" lang="en-US" sz="2149">
                <a:solidFill>
                  <a:srgbClr val="475569"/>
                </a:solidFill>
                <a:latin typeface="Lato"/>
                <a:ea typeface="Lato"/>
                <a:cs typeface="Lato"/>
                <a:sym typeface="Lato"/>
              </a:rPr>
              <a:t>Resolver el problema de organización y control de los bienes.</a:t>
            </a:r>
            <a:endParaRPr b="0" sz="2149">
              <a:solidFill>
                <a:srgbClr val="475569"/>
              </a:solidFill>
              <a:latin typeface="Lato"/>
              <a:ea typeface="Lato"/>
              <a:cs typeface="Lato"/>
              <a:sym typeface="Lato"/>
            </a:endParaRPr>
          </a:p>
          <a:p>
            <a:pPr indent="-291465" lvl="0" marL="457200" rtl="0" algn="l">
              <a:lnSpc>
                <a:spcPct val="115000"/>
              </a:lnSpc>
              <a:spcBef>
                <a:spcPts val="0"/>
              </a:spcBef>
              <a:spcAft>
                <a:spcPts val="0"/>
              </a:spcAft>
              <a:buSzPct val="51193"/>
              <a:buFont typeface="Arial"/>
              <a:buChar char="●"/>
            </a:pPr>
            <a:r>
              <a:rPr b="0" lang="en-US" sz="2149">
                <a:solidFill>
                  <a:srgbClr val="475569"/>
                </a:solidFill>
                <a:latin typeface="Lato"/>
                <a:ea typeface="Lato"/>
                <a:cs typeface="Lato"/>
                <a:sym typeface="Lato"/>
              </a:rPr>
              <a:t>Dejar las funciones avanzadas para versiones posteriores.</a:t>
            </a:r>
            <a:endParaRPr b="0" sz="2149">
              <a:solidFill>
                <a:srgbClr val="475569"/>
              </a:solidFill>
              <a:latin typeface="Lato"/>
              <a:ea typeface="Lato"/>
              <a:cs typeface="Lato"/>
              <a:sym typeface="Lato"/>
            </a:endParaRPr>
          </a:p>
          <a:p>
            <a:pPr indent="0" lvl="0" marL="0" rtl="0" algn="l">
              <a:lnSpc>
                <a:spcPct val="130000"/>
              </a:lnSpc>
              <a:spcBef>
                <a:spcPts val="1200"/>
              </a:spcBef>
              <a:spcAft>
                <a:spcPts val="0"/>
              </a:spcAft>
              <a:buClr>
                <a:schemeClr val="dk1"/>
              </a:buClr>
              <a:buSzPct val="47353"/>
              <a:buFont typeface="Arial"/>
              <a:buNone/>
            </a:pPr>
            <a:r>
              <a:t/>
            </a:r>
            <a:endParaRPr b="0" sz="2149">
              <a:solidFill>
                <a:srgbClr val="475569"/>
              </a:solidFill>
              <a:latin typeface="Lato"/>
              <a:ea typeface="Lato"/>
              <a:cs typeface="Lato"/>
              <a:sym typeface="Lato"/>
            </a:endParaRPr>
          </a:p>
          <a:p>
            <a:pPr indent="0" lvl="0" marL="0" rtl="0" algn="l">
              <a:spcBef>
                <a:spcPts val="0"/>
              </a:spcBef>
              <a:spcAft>
                <a:spcPts val="0"/>
              </a:spcAft>
              <a:buNone/>
            </a:pPr>
            <a:r>
              <a:t/>
            </a:r>
            <a:endParaRPr/>
          </a:p>
        </p:txBody>
      </p:sp>
      <p:sp>
        <p:nvSpPr>
          <p:cNvPr id="184" name="Google Shape;184;p27"/>
          <p:cNvSpPr txBox="1"/>
          <p:nvPr>
            <p:ph idx="1" type="body"/>
          </p:nvPr>
        </p:nvSpPr>
        <p:spPr>
          <a:xfrm>
            <a:off x="722325" y="391050"/>
            <a:ext cx="5086200" cy="2538000"/>
          </a:xfrm>
          <a:prstGeom prst="rect">
            <a:avLst/>
          </a:prstGeom>
        </p:spPr>
        <p:txBody>
          <a:bodyPr anchorCtr="0" anchor="b" bIns="45700" lIns="91425" spcFirstLastPara="1" rIns="91425" wrap="square" tIns="45700">
            <a:noAutofit/>
          </a:bodyPr>
          <a:lstStyle/>
          <a:p>
            <a:pPr indent="0" lvl="0" marL="0" rtl="0" algn="l">
              <a:spcBef>
                <a:spcPts val="0"/>
              </a:spcBef>
              <a:spcAft>
                <a:spcPts val="0"/>
              </a:spcAft>
              <a:buNone/>
            </a:pPr>
            <a:r>
              <a:rPr b="1" lang="en-US" sz="2204">
                <a:solidFill>
                  <a:srgbClr val="1E293B"/>
                </a:solidFill>
                <a:latin typeface="Poppins"/>
                <a:ea typeface="Poppins"/>
                <a:cs typeface="Poppins"/>
                <a:sym typeface="Poppins"/>
              </a:rPr>
              <a:t>Funciones Core</a:t>
            </a:r>
            <a:endParaRPr b="1" sz="2204">
              <a:solidFill>
                <a:srgbClr val="1E293B"/>
              </a:solidFill>
              <a:latin typeface="Poppins"/>
              <a:ea typeface="Poppins"/>
              <a:cs typeface="Poppins"/>
              <a:sym typeface="Poppins"/>
            </a:endParaRPr>
          </a:p>
          <a:p>
            <a:pPr indent="0" lvl="0" marL="0" rtl="0" algn="l">
              <a:spcBef>
                <a:spcPts val="0"/>
              </a:spcBef>
              <a:spcAft>
                <a:spcPts val="0"/>
              </a:spcAft>
              <a:buClr>
                <a:schemeClr val="dk1"/>
              </a:buClr>
              <a:buFont typeface="Arial"/>
              <a:buNone/>
            </a:pPr>
            <a:r>
              <a:t/>
            </a:r>
            <a:endParaRPr b="1" sz="2204">
              <a:solidFill>
                <a:srgbClr val="1E293B"/>
              </a:solidFill>
              <a:latin typeface="Poppins"/>
              <a:ea typeface="Poppins"/>
              <a:cs typeface="Poppins"/>
              <a:sym typeface="Poppins"/>
            </a:endParaRPr>
          </a:p>
          <a:p>
            <a:pPr indent="-365125" lvl="0" marL="457200" rtl="0" algn="l">
              <a:lnSpc>
                <a:spcPct val="150000"/>
              </a:lnSpc>
              <a:spcBef>
                <a:spcPts val="0"/>
              </a:spcBef>
              <a:spcAft>
                <a:spcPts val="0"/>
              </a:spcAft>
              <a:buClr>
                <a:srgbClr val="475569"/>
              </a:buClr>
              <a:buSzPts val="2150"/>
              <a:buFont typeface="Lato"/>
              <a:buChar char="●"/>
            </a:pPr>
            <a:r>
              <a:rPr lang="en-US" sz="2150">
                <a:solidFill>
                  <a:srgbClr val="475569"/>
                </a:solidFill>
                <a:latin typeface="Lato"/>
                <a:ea typeface="Lato"/>
                <a:cs typeface="Lato"/>
                <a:sym typeface="Lato"/>
              </a:rPr>
              <a:t>Autenticación de usuario.</a:t>
            </a:r>
            <a:endParaRPr sz="2200">
              <a:solidFill>
                <a:schemeClr val="dk1"/>
              </a:solidFill>
              <a:latin typeface="Arial"/>
              <a:ea typeface="Arial"/>
              <a:cs typeface="Arial"/>
              <a:sym typeface="Arial"/>
            </a:endParaRPr>
          </a:p>
          <a:p>
            <a:pPr indent="-365125" lvl="0" marL="457200" rtl="0" algn="l">
              <a:lnSpc>
                <a:spcPct val="150000"/>
              </a:lnSpc>
              <a:spcBef>
                <a:spcPts val="0"/>
              </a:spcBef>
              <a:spcAft>
                <a:spcPts val="0"/>
              </a:spcAft>
              <a:buClr>
                <a:srgbClr val="475569"/>
              </a:buClr>
              <a:buSzPts val="2150"/>
              <a:buFont typeface="Lato"/>
              <a:buChar char="●"/>
            </a:pPr>
            <a:r>
              <a:rPr lang="en-US" sz="2150">
                <a:solidFill>
                  <a:srgbClr val="475569"/>
                </a:solidFill>
                <a:latin typeface="Lato"/>
                <a:ea typeface="Lato"/>
                <a:cs typeface="Lato"/>
                <a:sym typeface="Lato"/>
              </a:rPr>
              <a:t>CRUD completo de bienes.</a:t>
            </a:r>
            <a:endParaRPr sz="2200">
              <a:solidFill>
                <a:schemeClr val="dk1"/>
              </a:solidFill>
              <a:latin typeface="Arial"/>
              <a:ea typeface="Arial"/>
              <a:cs typeface="Arial"/>
              <a:sym typeface="Arial"/>
            </a:endParaRPr>
          </a:p>
          <a:p>
            <a:pPr indent="-365125" lvl="0" marL="457200" rtl="0" algn="l">
              <a:lnSpc>
                <a:spcPct val="150000"/>
              </a:lnSpc>
              <a:spcBef>
                <a:spcPts val="0"/>
              </a:spcBef>
              <a:spcAft>
                <a:spcPts val="0"/>
              </a:spcAft>
              <a:buClr>
                <a:srgbClr val="475569"/>
              </a:buClr>
              <a:buSzPts val="2150"/>
              <a:buFont typeface="Lato"/>
              <a:buChar char="●"/>
            </a:pPr>
            <a:r>
              <a:rPr lang="en-US" sz="2150">
                <a:solidFill>
                  <a:srgbClr val="475569"/>
                </a:solidFill>
                <a:latin typeface="Lato"/>
                <a:ea typeface="Lato"/>
                <a:cs typeface="Lato"/>
                <a:sym typeface="Lato"/>
              </a:rPr>
              <a:t>Reporte básico en PDF.</a:t>
            </a:r>
            <a:endParaRPr sz="2800"/>
          </a:p>
        </p:txBody>
      </p:sp>
      <p:sp>
        <p:nvSpPr>
          <p:cNvPr id="185" name="Google Shape;185;p27"/>
          <p:cNvSpPr txBox="1"/>
          <p:nvPr>
            <p:ph idx="1" type="body"/>
          </p:nvPr>
        </p:nvSpPr>
        <p:spPr>
          <a:xfrm>
            <a:off x="5623850" y="289325"/>
            <a:ext cx="6459300" cy="2884200"/>
          </a:xfrm>
          <a:prstGeom prst="rect">
            <a:avLst/>
          </a:prstGeom>
        </p:spPr>
        <p:txBody>
          <a:bodyPr anchorCtr="0" anchor="b" bIns="45700" lIns="91425" spcFirstLastPara="1" rIns="91425" wrap="square" tIns="45700">
            <a:noAutofit/>
          </a:bodyPr>
          <a:lstStyle/>
          <a:p>
            <a:pPr indent="0" lvl="0" marL="0" rtl="0" algn="l">
              <a:lnSpc>
                <a:spcPct val="80000"/>
              </a:lnSpc>
              <a:spcBef>
                <a:spcPts val="0"/>
              </a:spcBef>
              <a:spcAft>
                <a:spcPts val="0"/>
              </a:spcAft>
              <a:buSzPts val="1018"/>
              <a:buNone/>
            </a:pPr>
            <a:r>
              <a:rPr b="1" lang="en-US" sz="2199">
                <a:solidFill>
                  <a:srgbClr val="1E293B"/>
                </a:solidFill>
                <a:latin typeface="Poppins"/>
                <a:ea typeface="Poppins"/>
                <a:cs typeface="Poppins"/>
                <a:sym typeface="Poppins"/>
              </a:rPr>
              <a:t>Futuras Iteraciones</a:t>
            </a:r>
            <a:endParaRPr b="1" sz="2199">
              <a:solidFill>
                <a:srgbClr val="1E293B"/>
              </a:solidFill>
              <a:latin typeface="Poppins"/>
              <a:ea typeface="Poppins"/>
              <a:cs typeface="Poppins"/>
              <a:sym typeface="Poppins"/>
            </a:endParaRPr>
          </a:p>
          <a:p>
            <a:pPr indent="0" lvl="0" marL="0" rtl="0" algn="l">
              <a:lnSpc>
                <a:spcPct val="80000"/>
              </a:lnSpc>
              <a:spcBef>
                <a:spcPts val="0"/>
              </a:spcBef>
              <a:spcAft>
                <a:spcPts val="0"/>
              </a:spcAft>
              <a:buClr>
                <a:schemeClr val="dk1"/>
              </a:buClr>
              <a:buSzPts val="1018"/>
              <a:buFont typeface="Arial"/>
              <a:buNone/>
            </a:pPr>
            <a:r>
              <a:t/>
            </a:r>
            <a:endParaRPr b="1" sz="2199">
              <a:solidFill>
                <a:srgbClr val="1E293B"/>
              </a:solidFill>
              <a:latin typeface="Poppins"/>
              <a:ea typeface="Poppins"/>
              <a:cs typeface="Poppins"/>
              <a:sym typeface="Poppins"/>
            </a:endParaRPr>
          </a:p>
          <a:p>
            <a:pPr indent="-365046" lvl="0" marL="457200" rtl="0" algn="l">
              <a:lnSpc>
                <a:spcPct val="130000"/>
              </a:lnSpc>
              <a:spcBef>
                <a:spcPts val="0"/>
              </a:spcBef>
              <a:spcAft>
                <a:spcPts val="0"/>
              </a:spcAft>
              <a:buClr>
                <a:srgbClr val="475569"/>
              </a:buClr>
              <a:buSzPts val="2149"/>
              <a:buFont typeface="Lato"/>
              <a:buChar char="●"/>
            </a:pPr>
            <a:r>
              <a:rPr lang="en-US" sz="2149">
                <a:solidFill>
                  <a:srgbClr val="475569"/>
                </a:solidFill>
                <a:latin typeface="Lato"/>
                <a:ea typeface="Lato"/>
                <a:cs typeface="Lato"/>
                <a:sym typeface="Lato"/>
              </a:rPr>
              <a:t>Generación de códigos de barras.</a:t>
            </a:r>
            <a:endParaRPr sz="2149">
              <a:solidFill>
                <a:srgbClr val="475569"/>
              </a:solidFill>
              <a:latin typeface="Lato"/>
              <a:ea typeface="Lato"/>
              <a:cs typeface="Lato"/>
              <a:sym typeface="Lato"/>
            </a:endParaRPr>
          </a:p>
          <a:p>
            <a:pPr indent="-365046" lvl="0" marL="457200" rtl="0" algn="l">
              <a:lnSpc>
                <a:spcPct val="130000"/>
              </a:lnSpc>
              <a:spcBef>
                <a:spcPts val="0"/>
              </a:spcBef>
              <a:spcAft>
                <a:spcPts val="0"/>
              </a:spcAft>
              <a:buClr>
                <a:srgbClr val="475569"/>
              </a:buClr>
              <a:buSzPts val="2149"/>
              <a:buFont typeface="Lato"/>
              <a:buChar char="●"/>
            </a:pPr>
            <a:r>
              <a:rPr lang="en-US" sz="2149">
                <a:solidFill>
                  <a:srgbClr val="475569"/>
                </a:solidFill>
                <a:latin typeface="Lato"/>
                <a:ea typeface="Lato"/>
                <a:cs typeface="Lato"/>
                <a:sym typeface="Lato"/>
              </a:rPr>
              <a:t>Riesgos Identificados</a:t>
            </a:r>
            <a:endParaRPr sz="2149">
              <a:solidFill>
                <a:srgbClr val="475569"/>
              </a:solidFill>
              <a:latin typeface="Lato"/>
              <a:ea typeface="Lato"/>
              <a:cs typeface="Lato"/>
              <a:sym typeface="Lato"/>
            </a:endParaRPr>
          </a:p>
          <a:p>
            <a:pPr indent="-365046" lvl="0" marL="457200" rtl="0" algn="l">
              <a:lnSpc>
                <a:spcPct val="130000"/>
              </a:lnSpc>
              <a:spcBef>
                <a:spcPts val="0"/>
              </a:spcBef>
              <a:spcAft>
                <a:spcPts val="0"/>
              </a:spcAft>
              <a:buClr>
                <a:srgbClr val="475569"/>
              </a:buClr>
              <a:buSzPts val="2149"/>
              <a:buFont typeface="Lato"/>
              <a:buChar char="●"/>
            </a:pPr>
            <a:r>
              <a:rPr lang="en-US" sz="2149">
                <a:solidFill>
                  <a:srgbClr val="475569"/>
                </a:solidFill>
                <a:latin typeface="Lato"/>
                <a:ea typeface="Lato"/>
                <a:cs typeface="Lato"/>
                <a:sym typeface="Lato"/>
              </a:rPr>
              <a:t>Gráficos predictivos de uso.</a:t>
            </a:r>
            <a:endParaRPr sz="2195">
              <a:solidFill>
                <a:schemeClr val="dk1"/>
              </a:solidFill>
              <a:latin typeface="Arial"/>
              <a:ea typeface="Arial"/>
              <a:cs typeface="Arial"/>
              <a:sym typeface="Arial"/>
            </a:endParaRPr>
          </a:p>
          <a:p>
            <a:pPr indent="-365046" lvl="0" marL="457200" rtl="0" algn="l">
              <a:lnSpc>
                <a:spcPct val="130000"/>
              </a:lnSpc>
              <a:spcBef>
                <a:spcPts val="0"/>
              </a:spcBef>
              <a:spcAft>
                <a:spcPts val="0"/>
              </a:spcAft>
              <a:buClr>
                <a:srgbClr val="475569"/>
              </a:buClr>
              <a:buSzPts val="2149"/>
              <a:buFont typeface="Lato"/>
              <a:buChar char="●"/>
            </a:pPr>
            <a:r>
              <a:rPr lang="en-US" sz="2149">
                <a:solidFill>
                  <a:srgbClr val="475569"/>
                </a:solidFill>
                <a:latin typeface="Lato"/>
                <a:ea typeface="Lato"/>
                <a:cs typeface="Lato"/>
                <a:sym typeface="Lato"/>
              </a:rPr>
              <a:t>Dashboard avanzado para admin.</a:t>
            </a:r>
            <a:endParaRPr sz="2195">
              <a:solidFill>
                <a:schemeClr val="dk1"/>
              </a:solidFill>
              <a:latin typeface="Arial"/>
              <a:ea typeface="Arial"/>
              <a:cs typeface="Arial"/>
              <a:sym typeface="Arial"/>
            </a:endParaRPr>
          </a:p>
          <a:p>
            <a:pPr indent="0" lvl="0" marL="0" rtl="0" algn="l">
              <a:lnSpc>
                <a:spcPct val="130000"/>
              </a:lnSpc>
              <a:spcBef>
                <a:spcPts val="0"/>
              </a:spcBef>
              <a:spcAft>
                <a:spcPts val="0"/>
              </a:spcAft>
              <a:buSzPts val="1018"/>
              <a:buNone/>
            </a:pPr>
            <a:r>
              <a:t/>
            </a:r>
            <a:endParaRPr b="1" sz="2199">
              <a:solidFill>
                <a:srgbClr val="1E293B"/>
              </a:solidFill>
              <a:latin typeface="Poppins"/>
              <a:ea typeface="Poppins"/>
              <a:cs typeface="Poppins"/>
              <a:sym typeface="Poppins"/>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